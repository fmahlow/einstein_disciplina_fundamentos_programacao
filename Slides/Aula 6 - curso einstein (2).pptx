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10287000" cx="18288000"/>
  <p:notesSz cx="10287000" cy="18288000"/>
  <p:embeddedFontLst>
    <p:embeddedFont>
      <p:font typeface="Source Serif 4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SourceSerif4-bold.fntdata"/><Relationship Id="rId12" Type="http://schemas.openxmlformats.org/officeDocument/2006/relationships/slide" Target="slides/slide8.xml"/><Relationship Id="rId34" Type="http://schemas.openxmlformats.org/officeDocument/2006/relationships/font" Target="fonts/SourceSerif4-regular.fntdata"/><Relationship Id="rId15" Type="http://schemas.openxmlformats.org/officeDocument/2006/relationships/slide" Target="slides/slide11.xml"/><Relationship Id="rId37" Type="http://schemas.openxmlformats.org/officeDocument/2006/relationships/font" Target="fonts/SourceSerif4-boldItalic.fntdata"/><Relationship Id="rId14" Type="http://schemas.openxmlformats.org/officeDocument/2006/relationships/slide" Target="slides/slide10.xml"/><Relationship Id="rId36" Type="http://schemas.openxmlformats.org/officeDocument/2006/relationships/font" Target="fonts/SourceSerif4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a aula 6 retomando o fechamento da aula anterior.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Recapitular a Aula 5 com três exercícios curtos antes do conteúdo novo.</a:t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Retoma limpeza de texto e mapa explícito.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Diferenciar ausência original de falha de conversão: notna() &amp; isna().</a:t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31/02 não existe: vira NaT. Gancho para as operações com datas de hoje.</a:t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percurso da aula.</a:t>
            </a:r>
            <a:endParaRPr/>
          </a:p>
        </p:txBody>
      </p:sp>
      <p:sp>
        <p:nvSpPr>
          <p:cNvPr id="100" name="Google Shape;1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base chega preparada: o foco agora é operação analítica.</a:t>
            </a:r>
            <a:endParaRPr/>
          </a:p>
        </p:txBody>
      </p:sp>
      <p:sp>
        <p:nvSpPr>
          <p:cNvPr id="128" name="Google Shape;1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Informar as datas na leitura e conferir a entrada antes de calcular.</a:t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Retomar a Aula 3: o for continua válido.</a:t>
            </a:r>
            <a:endParaRPr/>
          </a:p>
        </p:txBody>
      </p:sp>
      <p:sp>
        <p:nvSpPr>
          <p:cNvPr id="192" name="Google Shape;1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Boa prática ao substituir uma implementação por outra.</a:t>
            </a:r>
            <a:endParaRPr/>
          </a:p>
        </p:txBody>
      </p:sp>
      <p:sp>
        <p:nvSpPr>
          <p:cNvPr id="209" name="Google Shape;20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Operação vetorizada com datas; idade_calculada também valida a coluna idade.</a:t>
            </a:r>
            <a:endParaRPr/>
          </a:p>
        </p:txBody>
      </p:sp>
      <p:sp>
        <p:nvSpPr>
          <p:cNvPr id="237" name="Google Shape;23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Divergência não deve ser corrigida automaticamente: entender a regra que gerou cada variável.</a:t>
            </a:r>
            <a:endParaRPr/>
          </a:p>
        </p:txBody>
      </p:sp>
      <p:sp>
        <p:nvSpPr>
          <p:cNvPr id="258" name="Google Shape;25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limite de 7 dias é didático.</a:t>
            </a:r>
            <a:endParaRPr/>
          </a:p>
        </p:txBody>
      </p:sp>
      <p:sp>
        <p:nvSpPr>
          <p:cNvPr id="286" name="Google Shape;28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primeira condição verdadeira define a categoria.</a:t>
            </a:r>
            <a:endParaRPr/>
          </a:p>
        </p:txBody>
      </p:sp>
      <p:sp>
        <p:nvSpPr>
          <p:cNvPr id="308" name="Google Shape;30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 para discutir: um score com pesos 1, 10 e 5 sem justificativa não ganha significado por ter sido calculado.</a:t>
            </a:r>
            <a:endParaRPr/>
          </a:p>
        </p:txBody>
      </p:sp>
      <p:sp>
        <p:nvSpPr>
          <p:cNvPr id="329" name="Google Shape;32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unidade do resultado muda: de paciente para serviço.</a:t>
            </a:r>
            <a:endParaRPr/>
          </a:p>
        </p:txBody>
      </p:sp>
      <p:sp>
        <p:nvSpPr>
          <p:cNvPr id="347" name="Google Shape;34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Mesmo uma base preparada pode ter ausentes.</a:t>
            </a:r>
            <a:endParaRPr/>
          </a:p>
        </p:txBody>
      </p:sp>
      <p:sp>
        <p:nvSpPr>
          <p:cNvPr id="369" name="Google Shape;36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média de 0/1 é proporção; o indicador é descritivo, não causal.</a:t>
            </a:r>
            <a:endParaRPr/>
          </a:p>
        </p:txBody>
      </p:sp>
      <p:sp>
        <p:nvSpPr>
          <p:cNvPr id="390" name="Google Shape;39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Revisão rápida antes da prática.</a:t>
            </a:r>
            <a:endParaRPr/>
          </a:p>
        </p:txBody>
      </p:sp>
      <p:sp>
        <p:nvSpPr>
          <p:cNvPr id="429" name="Google Shape;42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Exercício de 8 a 10 minutos.</a:t>
            </a:r>
            <a:endParaRPr/>
          </a:p>
        </p:txBody>
      </p:sp>
      <p:sp>
        <p:nvSpPr>
          <p:cNvPr id="503" name="Google Shape;50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Frase de transição para a Aula 7.</a:t>
            </a:r>
            <a:endParaRPr/>
          </a:p>
        </p:txBody>
      </p:sp>
      <p:sp>
        <p:nvSpPr>
          <p:cNvPr id="523" name="Google Shape;52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39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9039" y="1994743"/>
            <a:ext cx="647700" cy="647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7456289" y="1964382"/>
            <a:ext cx="4359499" cy="7465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7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Mestrado e Doutorado Stricto Sensu em Ciências da Saúde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632130" y="2958554"/>
            <a:ext cx="9023591" cy="1830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4200"/>
              <a:buFont typeface="Source Serif 4"/>
              <a:buNone/>
            </a:pPr>
            <a:r>
              <a:rPr b="1" i="0" lang="en-US" sz="4200" u="none" cap="none" strike="noStrike">
                <a:solidFill>
                  <a:srgbClr val="80B7D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Pandas III e NumPy: operações vetorizadas, variáveis derivadas e agregações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300350" y="4960293"/>
            <a:ext cx="2636074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27/08 a 03/12/2026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988052" y="4960293"/>
            <a:ext cx="15909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48903" y="4960293"/>
            <a:ext cx="153331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19h às 21h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883973" y="4960293"/>
            <a:ext cx="15909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081855" y="4960293"/>
            <a:ext cx="2918639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Ao vivo — Via Zoom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686800" y="5612755"/>
            <a:ext cx="914400" cy="28575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198958" y="5927080"/>
            <a:ext cx="3889936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80B7D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DOCENTES RESPONSÁVEIS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" name="Google Shape;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9488" y="6528941"/>
            <a:ext cx="1257300" cy="125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4474399" y="7938641"/>
            <a:ext cx="2687479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Prof. Felipe Fanchini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4657" y="6528941"/>
            <a:ext cx="1257300" cy="125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7779335" y="7938641"/>
            <a:ext cx="2587943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Prof. Felipe Mahlow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70519" y="6528941"/>
            <a:ext cx="1257300" cy="125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>
            <a:off x="10977667" y="7938641"/>
            <a:ext cx="2843004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Prof. Giovanni Franco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8677126" y="3333452"/>
            <a:ext cx="933748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2848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8250"/>
              <a:buFont typeface="Source Serif 4"/>
              <a:buNone/>
            </a:pPr>
            <a:r>
              <a:rPr b="0" i="0" lang="en-US" sz="825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↺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270116" y="4628852"/>
            <a:ext cx="7747620" cy="7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2391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800"/>
              <a:buFont typeface="Source Serif 4"/>
              <a:buNone/>
            </a:pPr>
            <a:r>
              <a:rPr b="1" i="0" lang="en-US" sz="48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Revisão da aula anterior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884045" y="5597277"/>
            <a:ext cx="14519910" cy="1032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531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Antes de iniciarmos o conteúdo de hoje, vamos recapitular com exercícios alguns conceitos fundamentais apresentados na última aula.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1270918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7324" y="9747945"/>
            <a:ext cx="549176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3761184" y="2401044"/>
            <a:ext cx="10765631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200"/>
              <a:buFont typeface="Source Serif 4"/>
              <a:buNone/>
            </a:pPr>
            <a:r>
              <a:rPr b="1" i="0" lang="en-US" sz="42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Exercício 1 — Padronizando categorias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860724" y="3207990"/>
            <a:ext cx="4566553" cy="510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400"/>
              <a:buFont typeface="Source Serif 4"/>
              <a:buNone/>
            </a:pPr>
            <a:r>
              <a:rPr b="0" i="0" lang="en-US" sz="24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Considere a seguinte coluna: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2321421" y="3966121"/>
            <a:ext cx="13645158" cy="2047875"/>
          </a:xfrm>
          <a:prstGeom prst="roundRect">
            <a:avLst>
              <a:gd fmla="val 6512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2778621" y="4347121"/>
            <a:ext cx="13140113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df_rev = pd.DataFrame({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"servico": [" Cardiologia", "CARDIOLOGIA", "neurologia ", "Ortopedia"]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589723" y="6394996"/>
            <a:ext cx="15108555" cy="9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95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550"/>
              <a:buFont typeface="Source Serif 4"/>
              <a:buNone/>
            </a:pPr>
            <a:r>
              <a:rPr b="0" i="0" lang="en-US" sz="25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Use str.strip(), str.lower() e um mapa com map() para chegar a três categorias. 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1270918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7324" y="9747945"/>
            <a:ext cx="549176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3608442" y="2401044"/>
            <a:ext cx="11071116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200"/>
              <a:buFont typeface="Source Serif 4"/>
              <a:buNone/>
            </a:pPr>
            <a:r>
              <a:rPr b="1" i="0" lang="en-US" sz="42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Exercício 2 — Convertendo e conferindo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860724" y="3207990"/>
            <a:ext cx="4566553" cy="510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400"/>
              <a:buFont typeface="Source Serif 4"/>
              <a:buNone/>
            </a:pPr>
            <a:r>
              <a:rPr b="0" i="0" lang="en-US" sz="24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Considere a seguinte coluna: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901952" y="3966121"/>
            <a:ext cx="8484096" cy="2047875"/>
          </a:xfrm>
          <a:prstGeom prst="roundRect">
            <a:avLst>
              <a:gd fmla="val 6512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5359152" y="4347121"/>
            <a:ext cx="782421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df_rev = pd.DataFrame({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"idade": ["68", "cinquenta", "71", None]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589723" y="6394996"/>
            <a:ext cx="15108555" cy="9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95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550"/>
              <a:buFont typeface="Source Serif 4"/>
              <a:buNone/>
            </a:pPr>
            <a:r>
              <a:rPr b="0" i="0" lang="en-US" sz="25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Converta idade com to_numeric(errors="coerce") </a:t>
            </a:r>
            <a:r>
              <a:rPr lang="en-US" sz="2550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 verifique as linhas em que a conversão falhou.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1270918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7324" y="9747945"/>
            <a:ext cx="549176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6465369" y="2630835"/>
            <a:ext cx="5357113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200"/>
              <a:buFont typeface="Source Serif 4"/>
              <a:buNone/>
            </a:pPr>
            <a:r>
              <a:rPr b="1" i="0" lang="en-US" sz="42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Exercício 3 — Datas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6860724" y="3437781"/>
            <a:ext cx="4566553" cy="510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400"/>
              <a:buFont typeface="Source Serif 4"/>
              <a:buNone/>
            </a:pPr>
            <a:r>
              <a:rPr b="0" i="0" lang="en-US" sz="24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Considere a seguinte coluna: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3611612" y="4195911"/>
            <a:ext cx="11064627" cy="2047875"/>
          </a:xfrm>
          <a:prstGeom prst="roundRect">
            <a:avLst>
              <a:gd fmla="val 6512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068812" y="4576911"/>
            <a:ext cx="10482166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df_rev = pd.DataFrame({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"data_alta": ["05/04/2026", "07/04/2026", "31/02/2026"]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879171" y="6624786"/>
            <a:ext cx="14529509" cy="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957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550"/>
              <a:buFont typeface="Source Serif 4"/>
              <a:buNone/>
            </a:pPr>
            <a:r>
              <a:rPr b="0" i="0" lang="en-US" sz="25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Converta com to_datetime(dayfirst=True, errors="coerce"). Qual data falhou e por quê?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4" name="Google Shape;84;p7"/>
          <p:cNvSpPr/>
          <p:nvPr/>
        </p:nvSpPr>
        <p:spPr>
          <a:xfrm>
            <a:off x="1270918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7324" y="9747945"/>
            <a:ext cx="549176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1884045" y="3559076"/>
            <a:ext cx="14519910" cy="21182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4545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200"/>
              <a:buFont typeface="Source Serif 4"/>
              <a:buNone/>
            </a:pPr>
            <a:r>
              <a:rPr b="1" i="0" lang="en-US" sz="42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Operar sobre colunas inteiras, criar variáveis com definição clara e resumir grupos sem perder o significado.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621493" y="5982146"/>
            <a:ext cx="9044866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5B6B7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Ideia central da aula · Toda variável derivada precisa de uma definição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" name="Google Shape;95;p8"/>
          <p:cNvSpPr/>
          <p:nvPr/>
        </p:nvSpPr>
        <p:spPr>
          <a:xfrm>
            <a:off x="1270918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7324" y="9747945"/>
            <a:ext cx="549176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1219200" y="1066800"/>
            <a:ext cx="457703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Roteiro da aula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1219200" y="2143125"/>
            <a:ext cx="5092601" cy="1732508"/>
          </a:xfrm>
          <a:prstGeom prst="roundRect">
            <a:avLst>
              <a:gd fmla="val 6597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1609725" y="2495550"/>
            <a:ext cx="4742706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609725" y="3012728"/>
            <a:ext cx="4742706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69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850"/>
              <a:buFont typeface="Source Serif 4"/>
              <a:buNone/>
            </a:pPr>
            <a:r>
              <a:rPr b="1" i="0" lang="en-US" sz="285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Ler e conferir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6597551" y="2143125"/>
            <a:ext cx="5092750" cy="1732508"/>
          </a:xfrm>
          <a:prstGeom prst="roundRect">
            <a:avLst>
              <a:gd fmla="val 6597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6988076" y="2495550"/>
            <a:ext cx="474287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6988076" y="3012728"/>
            <a:ext cx="474287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69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850"/>
              <a:buFont typeface="Source Serif 4"/>
              <a:buNone/>
            </a:pPr>
            <a:r>
              <a:rPr b="1" i="0" lang="en-US" sz="285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Operar sobre colunas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11976050" y="2143125"/>
            <a:ext cx="5092750" cy="1732508"/>
          </a:xfrm>
          <a:prstGeom prst="roundRect">
            <a:avLst>
              <a:gd fmla="val 6597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12366575" y="2495550"/>
            <a:ext cx="474287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2366575" y="3012728"/>
            <a:ext cx="474287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69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850"/>
              <a:buFont typeface="Source Serif 4"/>
              <a:buNone/>
            </a:pPr>
            <a:r>
              <a:rPr b="1" i="0" lang="en-US" sz="285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Criar variáveis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219200" y="4161383"/>
            <a:ext cx="5092601" cy="2166789"/>
          </a:xfrm>
          <a:prstGeom prst="roundRect">
            <a:avLst>
              <a:gd fmla="val 5275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1609725" y="4513808"/>
            <a:ext cx="4742706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1609725" y="5030986"/>
            <a:ext cx="4440897" cy="906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69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850"/>
              <a:buFont typeface="Source Serif 4"/>
              <a:buNone/>
            </a:pPr>
            <a:r>
              <a:rPr b="1" i="0" lang="en-US" sz="285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Classificar com condições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6597551" y="4161383"/>
            <a:ext cx="5092750" cy="2166789"/>
          </a:xfrm>
          <a:prstGeom prst="roundRect">
            <a:avLst>
              <a:gd fmla="val 5275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6988076" y="4513808"/>
            <a:ext cx="474287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6988076" y="5030986"/>
            <a:ext cx="474287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69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850"/>
              <a:buFont typeface="Source Serif 4"/>
              <a:buNone/>
            </a:pPr>
            <a:r>
              <a:rPr b="1" i="0" lang="en-US" sz="285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Resumir grupos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11976050" y="4161383"/>
            <a:ext cx="5092750" cy="2166789"/>
          </a:xfrm>
          <a:prstGeom prst="roundRect">
            <a:avLst>
              <a:gd fmla="val 5275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12366575" y="4513808"/>
            <a:ext cx="474287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12366575" y="5030986"/>
            <a:ext cx="474287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69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850"/>
              <a:buFont typeface="Source Serif 4"/>
              <a:buNone/>
            </a:pPr>
            <a:r>
              <a:rPr b="1" i="0" lang="en-US" sz="285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Resumo e prática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3" name="Google Shape;123;p9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7324" y="9747945"/>
            <a:ext cx="549176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/>
          <p:nvPr/>
        </p:nvSpPr>
        <p:spPr>
          <a:xfrm>
            <a:off x="1219200" y="1066800"/>
            <a:ext cx="1015498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base da aula já chega preparada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1219200" y="1990725"/>
            <a:ext cx="16089630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4A5A69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4A5A6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pacientes_aula6_limpo.csv · id_paciente · data_nascimento · idade · data_admissao · data_alta · tempo_internacao_dias · internacoes_anteriores · servico · readmissao_30d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219200" y="3145036"/>
            <a:ext cx="5092601" cy="2102644"/>
          </a:xfrm>
          <a:prstGeom prst="roundRect">
            <a:avLst>
              <a:gd fmla="val 5436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1571625" y="3459361"/>
            <a:ext cx="4826526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ORIGEM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1571625" y="3829645"/>
            <a:ext cx="4519383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base limpa e padronizada na Aula 5.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6597551" y="3145036"/>
            <a:ext cx="5092750" cy="2102644"/>
          </a:xfrm>
          <a:prstGeom prst="roundRect">
            <a:avLst>
              <a:gd fmla="val 5436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6949976" y="3459361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949976" y="3829645"/>
            <a:ext cx="4519537" cy="11418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Duas datas extras: data_nascimento e data_admissao.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1976050" y="3145036"/>
            <a:ext cx="5092750" cy="2102644"/>
          </a:xfrm>
          <a:prstGeom prst="roundRect">
            <a:avLst>
              <a:gd fmla="val 5436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12328475" y="3459361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12328475" y="3829645"/>
            <a:ext cx="4519537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Três colunas que serão lidas como data.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1219200" y="5533430"/>
            <a:ext cx="5092601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1571625" y="5847755"/>
            <a:ext cx="4826526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NUMÉRICAS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1571625" y="6218039"/>
            <a:ext cx="4519383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idade, tempo_internacao_dias e internacoes_anteriores.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6597551" y="5533430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6949976" y="5847755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CATEGORIA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949976" y="6218039"/>
            <a:ext cx="4519537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servico, já com grafia padronizada.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1976050" y="5533430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12328475" y="5847755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BINÁRIA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12328475" y="6218039"/>
            <a:ext cx="4519537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readmissao_30d codificada como 0 e 1.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2" name="Google Shape;152;p10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7324" y="9747945"/>
            <a:ext cx="549176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45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/>
          <p:nvPr/>
        </p:nvSpPr>
        <p:spPr>
          <a:xfrm>
            <a:off x="1219200" y="3099495"/>
            <a:ext cx="2144941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17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0"/>
              <a:buFont typeface="Source Serif 4"/>
              <a:buNone/>
            </a:pPr>
            <a:r>
              <a:rPr b="1" i="0" lang="en-US" sz="1350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1219200" y="5004495"/>
            <a:ext cx="4899214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8CFE0"/>
              </a:buClr>
              <a:buSzPts val="5400"/>
              <a:buFont typeface="Source Serif 4"/>
              <a:buNone/>
            </a:pPr>
            <a:r>
              <a:rPr b="1" i="0" lang="en-US" sz="5400" u="none" cap="none" strike="noStrike">
                <a:solidFill>
                  <a:srgbClr val="B8CFE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Ler e conferir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>
            <a:off x="1219200" y="1066800"/>
            <a:ext cx="966844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read_csv(parse_dates): ler datas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1219200" y="2143125"/>
            <a:ext cx="15849600" cy="4119562"/>
          </a:xfrm>
          <a:prstGeom prst="roundRect">
            <a:avLst>
              <a:gd fmla="val 3237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1638300" y="2466975"/>
            <a:ext cx="15486888" cy="3509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"pacientes_aula6_limpo.csv",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parse_dates=["data_nascimento", "data_admissao", "data_alta"]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print(df.shape)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print(df.dtypes)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1219200" y="6719888"/>
            <a:ext cx="5092601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1571625" y="7034213"/>
            <a:ext cx="4826526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PARSE_DATES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1571625" y="7404497"/>
            <a:ext cx="4519383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Indica quais colunas devem virar data já na leitura.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6597551" y="6719888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6949976" y="7034213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SHAPE · DTYPES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6949976" y="7404497"/>
            <a:ext cx="4519537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Confirmam número de linhas, colunas e tipos.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11976050" y="6719888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"/>
          <p:cNvSpPr/>
          <p:nvPr/>
        </p:nvSpPr>
        <p:spPr>
          <a:xfrm>
            <a:off x="12328475" y="7034213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POR QUÊ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12328475" y="7404497"/>
            <a:ext cx="4519537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Calcular sobre tipos errados gera resultados errados sem aviso.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0" name="Google Shape;180;p12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4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1219200" y="3099495"/>
            <a:ext cx="2144941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17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0"/>
              <a:buFont typeface="Source Serif 4"/>
              <a:buNone/>
            </a:pPr>
            <a:r>
              <a:rPr b="1" i="0" lang="en-US" sz="1350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219200" y="5004495"/>
            <a:ext cx="7724373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8CFE0"/>
              </a:buClr>
              <a:buSzPts val="5400"/>
              <a:buFont typeface="Source Serif 4"/>
              <a:buNone/>
            </a:pPr>
            <a:r>
              <a:rPr b="1" i="0" lang="en-US" sz="5400" u="none" cap="none" strike="noStrike">
                <a:solidFill>
                  <a:srgbClr val="B8CFE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Operar sobre colunas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/>
          <p:nvPr/>
        </p:nvSpPr>
        <p:spPr>
          <a:xfrm>
            <a:off x="1219200" y="1066800"/>
            <a:ext cx="818603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Laço e operação vetorizada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1219200" y="2143125"/>
            <a:ext cx="852868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 LAÇO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1219200" y="2630686"/>
            <a:ext cx="7753350" cy="2576513"/>
          </a:xfrm>
          <a:prstGeom prst="roundRect">
            <a:avLst>
              <a:gd fmla="val 5176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1600200" y="2954536"/>
            <a:ext cx="7223950" cy="1966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horas_loop = []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for dias in df["tempo_internacao_dias"]: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horas_loop.append(dias * 24)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df["horas_loop"] = horas_loop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9315450" y="2143125"/>
            <a:ext cx="852868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VETORIZADA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9315450" y="2630686"/>
            <a:ext cx="7753350" cy="2576513"/>
          </a:xfrm>
          <a:prstGeom prst="roundRect">
            <a:avLst>
              <a:gd fmla="val 5176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>
            <a:off x="9696450" y="2954536"/>
            <a:ext cx="7223950" cy="1966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df["tempo_internacao_horas"] = (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df["tempo_internacao_dias"] * 24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1219200" y="5626298"/>
            <a:ext cx="12842304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18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400"/>
              <a:buFont typeface="Source Serif 4"/>
              <a:buNone/>
            </a:pPr>
            <a:r>
              <a:rPr b="1" i="0" lang="en-US" sz="24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Mesmo resultado: a versão vetorizada opera sobre a coluna inteira de uma vez.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04" name="Google Shape;204;p14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/>
          <p:nvPr/>
        </p:nvSpPr>
        <p:spPr>
          <a:xfrm>
            <a:off x="1219200" y="1066800"/>
            <a:ext cx="882696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np.allclose(): conferir a troca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1219200" y="2143125"/>
            <a:ext cx="15849600" cy="3048000"/>
          </a:xfrm>
          <a:prstGeom prst="roundRect">
            <a:avLst>
              <a:gd fmla="val 4375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1676400" y="2524125"/>
            <a:ext cx="15410688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np.allclose(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df["horas_loop"],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df["tempo_internacao_horas"],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equal_nan=True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1219200" y="5648325"/>
            <a:ext cx="5092601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1571625" y="5962650"/>
            <a:ext cx="4826526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ALLCLOSE()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1571625" y="6332934"/>
            <a:ext cx="4519383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Devolve True se os valores forem iguais, com tolerância numérica.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6597551" y="5648325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6949976" y="5962650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EQUAL_NAN=TRUE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6949976" y="6332934"/>
            <a:ext cx="4519537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Considera iguais dois valores ausentes na mesma posição.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11976050" y="5648325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12328475" y="5962650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QUANDO USAR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12328475" y="6332934"/>
            <a:ext cx="4519537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Sempre que substituir um cálculo por outro.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5" name="Google Shape;225;p15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4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/>
          <p:nvPr/>
        </p:nvSpPr>
        <p:spPr>
          <a:xfrm>
            <a:off x="1219200" y="3099495"/>
            <a:ext cx="2144941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17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0"/>
              <a:buFont typeface="Source Serif 4"/>
              <a:buNone/>
            </a:pPr>
            <a:r>
              <a:rPr b="1" i="0" lang="en-US" sz="1350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1219200" y="5004495"/>
            <a:ext cx="5292611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8CFE0"/>
              </a:buClr>
              <a:buSzPts val="5400"/>
              <a:buFont typeface="Source Serif 4"/>
              <a:buNone/>
            </a:pPr>
            <a:r>
              <a:rPr b="1" i="0" lang="en-US" sz="5400" u="none" cap="none" strike="noStrike">
                <a:solidFill>
                  <a:srgbClr val="B8CFE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Criar variáveis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/>
          <p:nvPr/>
        </p:nvSpPr>
        <p:spPr>
          <a:xfrm>
            <a:off x="1219200" y="1066800"/>
            <a:ext cx="940895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.dt.days: idade a partir de datas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1219200" y="2143125"/>
            <a:ext cx="15849600" cy="1419225"/>
          </a:xfrm>
          <a:prstGeom prst="roundRect">
            <a:avLst>
              <a:gd fmla="val 9396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1638300" y="2466975"/>
            <a:ext cx="15486888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idade_dias = (df["data_admissao"] - df["data_nascimento"]).dt.days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df["idade_calculada"] = np.floor(idade_dias / 365.25).astype("Int64")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1219200" y="4019550"/>
            <a:ext cx="5092601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1571625" y="4333875"/>
            <a:ext cx="4826526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SUBTRAÇÃO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1571625" y="4704159"/>
            <a:ext cx="4519383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Duas datas produzem uma duração.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6597551" y="4019550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6949976" y="4333875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.DT.DAYS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6949976" y="4704159"/>
            <a:ext cx="4826690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Extrai a duração em dias.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11976050" y="4019550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12328475" y="4333875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"INT64"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2328475" y="4704159"/>
            <a:ext cx="4519537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Inteiro que aceita ausentes. astype(int) falharia com NaN.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3" name="Google Shape;253;p17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/>
          <p:nvPr/>
        </p:nvSpPr>
        <p:spPr>
          <a:xfrm>
            <a:off x="1219200" y="1066800"/>
            <a:ext cx="1199526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Comparar o informado com o calculado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1219200" y="2143125"/>
            <a:ext cx="15849600" cy="2190750"/>
          </a:xfrm>
          <a:prstGeom prst="roundRect">
            <a:avLst>
              <a:gd fmla="val 6087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1638300" y="2466975"/>
            <a:ext cx="15486888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df["tempo_calculado"] = (df["data_alta"] - df["data_admissao"]).dt.days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df["diferenca_tempo"] = df["tempo_internacao_dias"] - df["tempo_calculado"]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df.loc[df["diferenca_tempo"] != 0, ["id_paciente", "diferenca_tempo"]]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1219200" y="4791075"/>
            <a:ext cx="4795540" cy="995363"/>
          </a:xfrm>
          <a:prstGeom prst="roundRect">
            <a:avLst>
              <a:gd fmla="val 11483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1533525" y="5067300"/>
            <a:ext cx="4310756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tempo informado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6262390" y="4964013"/>
            <a:ext cx="312241" cy="687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3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3300"/>
              <a:buFont typeface="Source Serif 4"/>
              <a:buNone/>
            </a:pPr>
            <a:r>
              <a:rPr b="1" i="0" lang="en-US" sz="33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6746081" y="4791075"/>
            <a:ext cx="4795689" cy="995363"/>
          </a:xfrm>
          <a:prstGeom prst="roundRect">
            <a:avLst>
              <a:gd fmla="val 11483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7060406" y="5067300"/>
            <a:ext cx="4310909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tempo calculado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11789420" y="4964013"/>
            <a:ext cx="312241" cy="687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3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3300"/>
              <a:buFont typeface="Source Serif 4"/>
              <a:buNone/>
            </a:pPr>
            <a:r>
              <a:rPr b="1" i="0" lang="en-US" sz="33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=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12273111" y="4791075"/>
            <a:ext cx="4795689" cy="995363"/>
          </a:xfrm>
          <a:prstGeom prst="roundRect">
            <a:avLst>
              <a:gd fmla="val 11483" name="adj"/>
            </a:avLst>
          </a:prstGeom>
          <a:solidFill>
            <a:srgbClr val="0F2D45"/>
          </a:solidFill>
          <a:ln cap="flat" cmpd="sng" w="9525">
            <a:solidFill>
              <a:srgbClr val="0F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12587436" y="5067300"/>
            <a:ext cx="4310909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divergência a investigar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1219200" y="6167438"/>
            <a:ext cx="14233193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4A5A69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4A5A6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Antes de corrigir, entender a regra de cada coluna: arredondamento, horas parciais ou outra definição.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74" name="Google Shape;274;p18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45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/>
          <p:nvPr/>
        </p:nvSpPr>
        <p:spPr>
          <a:xfrm>
            <a:off x="1219200" y="3099495"/>
            <a:ext cx="2144941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17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0"/>
              <a:buFont typeface="Source Serif 4"/>
              <a:buNone/>
            </a:pPr>
            <a:r>
              <a:rPr b="1" i="0" lang="en-US" sz="1350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1219200" y="5004495"/>
            <a:ext cx="9344293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8CFE0"/>
              </a:buClr>
              <a:buSzPts val="5400"/>
              <a:buFont typeface="Source Serif 4"/>
              <a:buNone/>
            </a:pPr>
            <a:r>
              <a:rPr b="1" i="0" lang="en-US" sz="5400" u="none" cap="none" strike="noStrike">
                <a:solidFill>
                  <a:srgbClr val="B8CFE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Classificar com condições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/>
          <p:nvPr/>
        </p:nvSpPr>
        <p:spPr>
          <a:xfrm>
            <a:off x="1219200" y="1066800"/>
            <a:ext cx="837037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np.where(): duas categorias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1219200" y="2143125"/>
            <a:ext cx="15849600" cy="2133600"/>
          </a:xfrm>
          <a:prstGeom prst="roundRect">
            <a:avLst>
              <a:gd fmla="val 6250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1676400" y="2524125"/>
            <a:ext cx="15410688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df["internacao_prolongada"] = np.where(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df["tempo_internacao_dias"] &gt; 7, "sim", "nao"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1219200" y="4733925"/>
            <a:ext cx="5092601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1571625" y="5048250"/>
            <a:ext cx="4826526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CONDIÇÃO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1571625" y="5418534"/>
            <a:ext cx="4519383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Avaliada em cada linha, de uma só vez.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6597551" y="4733925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6949976" y="5048250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VERDADEIRA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6949976" y="5418534"/>
            <a:ext cx="4826690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Recebe o primeiro valor: "sim".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11976050" y="4733925"/>
            <a:ext cx="5092750" cy="1734741"/>
          </a:xfrm>
          <a:prstGeom prst="roundRect">
            <a:avLst>
              <a:gd fmla="val 6589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12328475" y="5048250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FALSA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12328475" y="5418534"/>
            <a:ext cx="4826690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Recebe o segundo valor: "nao".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1219200" y="6887766"/>
            <a:ext cx="11482358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18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400"/>
              <a:buFont typeface="Source Serif 4"/>
              <a:buNone/>
            </a:pPr>
            <a:r>
              <a:rPr b="1" i="0" lang="en-US" sz="24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Limiares em saúde vêm de protocolo, literatura ou desenho do estudo.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03" name="Google Shape;303;p20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/>
          <p:nvPr/>
        </p:nvSpPr>
        <p:spPr>
          <a:xfrm>
            <a:off x="1219200" y="1066800"/>
            <a:ext cx="8683392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np.select(): várias categorias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1219200" y="2143125"/>
            <a:ext cx="10583912" cy="4143375"/>
          </a:xfrm>
          <a:prstGeom prst="roundRect">
            <a:avLst>
              <a:gd fmla="val 3218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1543050" y="2428875"/>
            <a:ext cx="10253729" cy="3609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condicoes = [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df["internacoes_anteriores"] == 0,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df["internacoes_anteriores"].between(1, 2),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df["internacoes_anteriores"] &gt;=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categorias = ["nenhuma", "1 a 2", "3 ou mais"]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df["historico"] = np.select(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condicoes, categorias, default="nao classificado"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12146012" y="2600325"/>
            <a:ext cx="4922639" cy="1582341"/>
          </a:xfrm>
          <a:prstGeom prst="roundRect">
            <a:avLst>
              <a:gd fmla="val 7223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12441287" y="2838450"/>
            <a:ext cx="4765298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CONDICOES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12441287" y="3208734"/>
            <a:ext cx="4462052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Lista de testes, avaliados em ordem.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12146012" y="4373166"/>
            <a:ext cx="4922639" cy="1214438"/>
          </a:xfrm>
          <a:prstGeom prst="roundRect">
            <a:avLst>
              <a:gd fmla="val 9412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12441287" y="4611291"/>
            <a:ext cx="4765298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CATEGORIAS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12441287" y="4981575"/>
            <a:ext cx="4765298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 rótulo para cada condição.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12146012" y="5778103"/>
            <a:ext cx="4922639" cy="1582341"/>
          </a:xfrm>
          <a:prstGeom prst="roundRect">
            <a:avLst>
              <a:gd fmla="val 7223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12441287" y="6016228"/>
            <a:ext cx="4765298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DEFAULT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12441287" y="6386513"/>
            <a:ext cx="4462052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Mostra o que ficou sem classificação.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24" name="Google Shape;324;p21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5" name="Google Shape;3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/>
          <p:nvPr/>
        </p:nvSpPr>
        <p:spPr>
          <a:xfrm>
            <a:off x="1884045" y="3559076"/>
            <a:ext cx="14519910" cy="21182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4545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200"/>
              <a:buFont typeface="Source Serif 4"/>
              <a:buNone/>
            </a:pPr>
            <a:r>
              <a:rPr b="1" i="0" lang="en-US" sz="42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Variáveis derivadas precisam de significado, definição e propósito. Uma fórmula sem justificativa não vira indicador.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8291073" y="5982146"/>
            <a:ext cx="1705704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5B6B7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 lembrar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5" name="Google Shape;335;p22"/>
          <p:cNvSpPr/>
          <p:nvPr/>
        </p:nvSpPr>
        <p:spPr>
          <a:xfrm>
            <a:off x="1270918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45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/>
          <p:nvPr/>
        </p:nvSpPr>
        <p:spPr>
          <a:xfrm>
            <a:off x="1219200" y="3099495"/>
            <a:ext cx="2144941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17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0"/>
              <a:buFont typeface="Source Serif 4"/>
              <a:buNone/>
            </a:pPr>
            <a:r>
              <a:rPr b="1" i="0" lang="en-US" sz="1350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1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1219200" y="5004495"/>
            <a:ext cx="5803389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8CFE0"/>
              </a:buClr>
              <a:buSzPts val="5400"/>
              <a:buFont typeface="Source Serif 4"/>
              <a:buNone/>
            </a:pPr>
            <a:r>
              <a:rPr b="1" i="0" lang="en-US" sz="5400" u="none" cap="none" strike="noStrike">
                <a:solidFill>
                  <a:srgbClr val="B8CFE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Resumir grupos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/>
          <p:nvPr/>
        </p:nvSpPr>
        <p:spPr>
          <a:xfrm>
            <a:off x="1219200" y="1066800"/>
            <a:ext cx="1186806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groupby() e mean(): resumir por grupo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1219200" y="2143125"/>
            <a:ext cx="15849600" cy="1219200"/>
          </a:xfrm>
          <a:prstGeom prst="roundRect">
            <a:avLst>
              <a:gd fmla="val 10938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"/>
          <p:cNvSpPr/>
          <p:nvPr/>
        </p:nvSpPr>
        <p:spPr>
          <a:xfrm>
            <a:off x="1676400" y="2524125"/>
            <a:ext cx="1541068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df.groupby("servico")["tempo_internacao_dias"].mean()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1219200" y="3819525"/>
            <a:ext cx="5092601" cy="1366838"/>
          </a:xfrm>
          <a:prstGeom prst="roundRect">
            <a:avLst>
              <a:gd fmla="val 8362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"/>
          <p:cNvSpPr/>
          <p:nvPr/>
        </p:nvSpPr>
        <p:spPr>
          <a:xfrm>
            <a:off x="1571625" y="4133850"/>
            <a:ext cx="4826526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GROUPBY("SERVICO")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1571625" y="4504134"/>
            <a:ext cx="4826526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Separa os registros por serviço.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6597551" y="3819525"/>
            <a:ext cx="5092750" cy="1366838"/>
          </a:xfrm>
          <a:prstGeom prst="roundRect">
            <a:avLst>
              <a:gd fmla="val 8362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6949976" y="4133850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["TEMPO_INTERNACAO_DIAS"]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6949976" y="4504134"/>
            <a:ext cx="4826690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Escolhe a variável resumida.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11976050" y="3819525"/>
            <a:ext cx="5092750" cy="1366838"/>
          </a:xfrm>
          <a:prstGeom prst="roundRect">
            <a:avLst>
              <a:gd fmla="val 8362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12328475" y="4133850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MEAN()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12328475" y="4504134"/>
            <a:ext cx="4826690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Calcula a média em cada grupo.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1219200" y="5605463"/>
            <a:ext cx="9334470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18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400"/>
              <a:buFont typeface="Source Serif 4"/>
              <a:buNone/>
            </a:pPr>
            <a:r>
              <a:rPr b="1" i="0" lang="en-US" sz="24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resultado tem uma linha por serviço, não por paciente.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4" name="Google Shape;364;p24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5" name="Google Shape;3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"/>
          <p:cNvSpPr/>
          <p:nvPr/>
        </p:nvSpPr>
        <p:spPr>
          <a:xfrm>
            <a:off x="1219200" y="1066800"/>
            <a:ext cx="682691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size() e count(): contar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1219200" y="2143125"/>
            <a:ext cx="15849600" cy="1676400"/>
          </a:xfrm>
          <a:prstGeom prst="roundRect">
            <a:avLst>
              <a:gd fmla="val 7955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/>
          <p:nvPr/>
        </p:nvSpPr>
        <p:spPr>
          <a:xfrm>
            <a:off x="1676400" y="2524125"/>
            <a:ext cx="15410688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df.groupby("servico").size()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df.groupby("servico")["tempo_internacao_dias"].count()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1219200" y="4276725"/>
            <a:ext cx="5092601" cy="2102644"/>
          </a:xfrm>
          <a:prstGeom prst="roundRect">
            <a:avLst>
              <a:gd fmla="val 5436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1571625" y="4591050"/>
            <a:ext cx="4826526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SIZE()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1571625" y="4961334"/>
            <a:ext cx="4826526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Conta as linhas de cada grupo.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6597551" y="4276725"/>
            <a:ext cx="5092750" cy="2102644"/>
          </a:xfrm>
          <a:prstGeom prst="roundRect">
            <a:avLst>
              <a:gd fmla="val 5436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6949976" y="4591050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COUNT()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6949976" y="4961334"/>
            <a:ext cx="4519537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Conta só os valores não ausentes da coluna.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11976050" y="4276725"/>
            <a:ext cx="5092750" cy="2102644"/>
          </a:xfrm>
          <a:prstGeom prst="roundRect">
            <a:avLst>
              <a:gd fmla="val 5436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5"/>
          <p:cNvSpPr/>
          <p:nvPr/>
        </p:nvSpPr>
        <p:spPr>
          <a:xfrm>
            <a:off x="12328475" y="4591050"/>
            <a:ext cx="482669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ATENÇÃO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12328475" y="4961334"/>
            <a:ext cx="4519537" cy="11418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 forem diferentes, a média usa menos pacientes do que o grupo tem.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5" name="Google Shape;385;p25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6"/>
          <p:cNvSpPr/>
          <p:nvPr/>
        </p:nvSpPr>
        <p:spPr>
          <a:xfrm>
            <a:off x="1219200" y="1066800"/>
            <a:ext cx="1104721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agg(): várias medidas em uma tabela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1219200" y="2143125"/>
            <a:ext cx="10583912" cy="3429000"/>
          </a:xfrm>
          <a:prstGeom prst="roundRect">
            <a:avLst>
              <a:gd fmla="val 3889" name="adj"/>
            </a:avLst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1543050" y="2428875"/>
            <a:ext cx="10253729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indicadores = df.groupby("servico").agg(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n_pacientes=("id_paciente", "size"),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tempo_medio=("tempo_internacao_dias", "mean"),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tempo_mediano=("tempo_internacao_dias", "median"),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    readmissao_prop=("readmissao_30d", "mean")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).reset_index()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E3EDF5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E3EDF5"/>
                </a:solidFill>
                <a:latin typeface="Courier New"/>
                <a:ea typeface="Courier New"/>
                <a:cs typeface="Courier New"/>
                <a:sym typeface="Courier New"/>
              </a:rPr>
              <a:t>indicadores.round(2)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12146012" y="2600325"/>
            <a:ext cx="4922639" cy="1582341"/>
          </a:xfrm>
          <a:prstGeom prst="roundRect">
            <a:avLst>
              <a:gd fmla="val 7223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12441287" y="2838450"/>
            <a:ext cx="4765298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NOME=(COLUNA, FUNÇÃO)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12441287" y="3208734"/>
            <a:ext cx="4462052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Deixa explícito como cada indicador foi calculado.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12146012" y="4373166"/>
            <a:ext cx="4922639" cy="1582341"/>
          </a:xfrm>
          <a:prstGeom prst="roundRect">
            <a:avLst>
              <a:gd fmla="val 7223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6"/>
          <p:cNvSpPr/>
          <p:nvPr/>
        </p:nvSpPr>
        <p:spPr>
          <a:xfrm>
            <a:off x="12441287" y="4611291"/>
            <a:ext cx="4765298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MEAN() DE 0/1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12441287" y="4981575"/>
            <a:ext cx="4462052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É a proporção de readmissões no grupo.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12146012" y="6146006"/>
            <a:ext cx="4922639" cy="1582341"/>
          </a:xfrm>
          <a:prstGeom prst="roundRect">
            <a:avLst>
              <a:gd fmla="val 7223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12441287" y="6384131"/>
            <a:ext cx="4765298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ROUND(2)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12441287" y="6754416"/>
            <a:ext cx="4462052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68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Arredonda só a apresentação, não os dados.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6" name="Google Shape;406;p26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7" name="Google Shape;4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"/>
          <p:cNvSpPr/>
          <p:nvPr/>
        </p:nvSpPr>
        <p:spPr>
          <a:xfrm>
            <a:off x="1884045" y="3905696"/>
            <a:ext cx="14519910" cy="142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4545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200"/>
              <a:buFont typeface="Source Serif 4"/>
              <a:buNone/>
            </a:pPr>
            <a:r>
              <a:rPr b="1" i="0" lang="en-US" sz="42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 resumo facilita comparar grupos, mas esconde a variação entre os pacientes de cada grupo.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6952573" y="5635377"/>
            <a:ext cx="4382706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5B6B7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 lembrar · Ponte para a Aula 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17" name="Google Shape;417;p27"/>
          <p:cNvSpPr/>
          <p:nvPr/>
        </p:nvSpPr>
        <p:spPr>
          <a:xfrm>
            <a:off x="1270918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45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8"/>
          <p:cNvSpPr/>
          <p:nvPr/>
        </p:nvSpPr>
        <p:spPr>
          <a:xfrm>
            <a:off x="1219200" y="3099495"/>
            <a:ext cx="2144941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3171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3500"/>
              <a:buFont typeface="Source Serif 4"/>
              <a:buNone/>
            </a:pPr>
            <a:r>
              <a:rPr b="1" i="0" lang="en-US" sz="1350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1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1219200" y="5004495"/>
            <a:ext cx="6212666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8CFE0"/>
              </a:buClr>
              <a:buSzPts val="5400"/>
              <a:buFont typeface="Source Serif 4"/>
              <a:buNone/>
            </a:pPr>
            <a:r>
              <a:rPr b="1" i="0" lang="en-US" sz="5400" u="none" cap="none" strike="noStrike">
                <a:solidFill>
                  <a:srgbClr val="B8CFE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Resumo e prática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9"/>
          <p:cNvSpPr/>
          <p:nvPr/>
        </p:nvSpPr>
        <p:spPr>
          <a:xfrm>
            <a:off x="1219200" y="1066800"/>
            <a:ext cx="558352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 funções da aula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1219200" y="2143125"/>
            <a:ext cx="7290792" cy="650528"/>
          </a:xfrm>
          <a:prstGeom prst="rect">
            <a:avLst/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9"/>
          <p:cNvSpPr/>
          <p:nvPr/>
        </p:nvSpPr>
        <p:spPr>
          <a:xfrm>
            <a:off x="1485900" y="2276475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Função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9"/>
          <p:cNvSpPr/>
          <p:nvPr/>
        </p:nvSpPr>
        <p:spPr>
          <a:xfrm>
            <a:off x="8509992" y="2143125"/>
            <a:ext cx="8558808" cy="650528"/>
          </a:xfrm>
          <a:prstGeom prst="rect">
            <a:avLst/>
          </a:prstGeom>
          <a:solidFill>
            <a:srgbClr val="0F2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9"/>
          <p:cNvSpPr/>
          <p:nvPr/>
        </p:nvSpPr>
        <p:spPr>
          <a:xfrm>
            <a:off x="8776692" y="2276475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 quê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9"/>
          <p:cNvSpPr/>
          <p:nvPr/>
        </p:nvSpPr>
        <p:spPr>
          <a:xfrm>
            <a:off x="1219200" y="2793653"/>
            <a:ext cx="7290792" cy="5981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9"/>
          <p:cNvSpPr/>
          <p:nvPr/>
        </p:nvSpPr>
        <p:spPr>
          <a:xfrm>
            <a:off x="1219200" y="3382268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9"/>
          <p:cNvSpPr/>
          <p:nvPr/>
        </p:nvSpPr>
        <p:spPr>
          <a:xfrm>
            <a:off x="1485900" y="2898428"/>
            <a:ext cx="6976116" cy="417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read_csv(parse_dates) · dtypes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8509992" y="2793653"/>
            <a:ext cx="8558808" cy="59814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9"/>
          <p:cNvSpPr/>
          <p:nvPr/>
        </p:nvSpPr>
        <p:spPr>
          <a:xfrm>
            <a:off x="8509992" y="3382268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9"/>
          <p:cNvSpPr/>
          <p:nvPr/>
        </p:nvSpPr>
        <p:spPr>
          <a:xfrm>
            <a:off x="8776692" y="2898428"/>
            <a:ext cx="8282172" cy="417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Ler datas e conferir os tipos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1219200" y="3391793"/>
            <a:ext cx="7290792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9"/>
          <p:cNvSpPr/>
          <p:nvPr/>
        </p:nvSpPr>
        <p:spPr>
          <a:xfrm>
            <a:off x="1219200" y="3985171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9"/>
          <p:cNvSpPr/>
          <p:nvPr/>
        </p:nvSpPr>
        <p:spPr>
          <a:xfrm>
            <a:off x="1485900" y="3496568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to_numpy()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8509992" y="3391793"/>
            <a:ext cx="8558808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9"/>
          <p:cNvSpPr/>
          <p:nvPr/>
        </p:nvSpPr>
        <p:spPr>
          <a:xfrm>
            <a:off x="8509992" y="3985171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9"/>
          <p:cNvSpPr/>
          <p:nvPr/>
        </p:nvSpPr>
        <p:spPr>
          <a:xfrm>
            <a:off x="8776692" y="3496568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Passar de Series para array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9"/>
          <p:cNvSpPr/>
          <p:nvPr/>
        </p:nvSpPr>
        <p:spPr>
          <a:xfrm>
            <a:off x="1219200" y="3994696"/>
            <a:ext cx="7290792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9"/>
          <p:cNvSpPr/>
          <p:nvPr/>
        </p:nvSpPr>
        <p:spPr>
          <a:xfrm>
            <a:off x="1219200" y="4588073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9"/>
          <p:cNvSpPr/>
          <p:nvPr/>
        </p:nvSpPr>
        <p:spPr>
          <a:xfrm>
            <a:off x="1485900" y="4099471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* · + · 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9"/>
          <p:cNvSpPr/>
          <p:nvPr/>
        </p:nvSpPr>
        <p:spPr>
          <a:xfrm>
            <a:off x="8509992" y="3994696"/>
            <a:ext cx="8558808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9"/>
          <p:cNvSpPr/>
          <p:nvPr/>
        </p:nvSpPr>
        <p:spPr>
          <a:xfrm>
            <a:off x="8509992" y="4588073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8776692" y="4099471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Operar sobre colunas inteiras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/>
          <p:nvPr/>
        </p:nvSpPr>
        <p:spPr>
          <a:xfrm>
            <a:off x="1219200" y="4597598"/>
            <a:ext cx="7290792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9"/>
          <p:cNvSpPr/>
          <p:nvPr/>
        </p:nvSpPr>
        <p:spPr>
          <a:xfrm>
            <a:off x="1219200" y="5190976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9"/>
          <p:cNvSpPr/>
          <p:nvPr/>
        </p:nvSpPr>
        <p:spPr>
          <a:xfrm>
            <a:off x="1485900" y="4702373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np.allclose()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8509992" y="4597598"/>
            <a:ext cx="8558808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9"/>
          <p:cNvSpPr/>
          <p:nvPr/>
        </p:nvSpPr>
        <p:spPr>
          <a:xfrm>
            <a:off x="8509992" y="5190976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9"/>
          <p:cNvSpPr/>
          <p:nvPr/>
        </p:nvSpPr>
        <p:spPr>
          <a:xfrm>
            <a:off x="8776692" y="4702373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Conferir se dois cálculos coincidem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1219200" y="5200501"/>
            <a:ext cx="7290792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1219200" y="5793879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1485900" y="5305276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.dt.days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8509992" y="5200501"/>
            <a:ext cx="8558808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9"/>
          <p:cNvSpPr/>
          <p:nvPr/>
        </p:nvSpPr>
        <p:spPr>
          <a:xfrm>
            <a:off x="8509992" y="5793879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8776692" y="5305276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Medir duração entre datas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1219200" y="5803404"/>
            <a:ext cx="7290792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1219200" y="6396782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1485900" y="5908179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np.where()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8509992" y="5803404"/>
            <a:ext cx="8558808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9"/>
          <p:cNvSpPr/>
          <p:nvPr/>
        </p:nvSpPr>
        <p:spPr>
          <a:xfrm>
            <a:off x="8509992" y="6396782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8776692" y="5908179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Criar duas categorias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1219200" y="6406307"/>
            <a:ext cx="7290792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1219200" y="6999684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9"/>
          <p:cNvSpPr/>
          <p:nvPr/>
        </p:nvSpPr>
        <p:spPr>
          <a:xfrm>
            <a:off x="1485900" y="6511082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np.select()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8509992" y="6406307"/>
            <a:ext cx="8558808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8509992" y="6999684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9"/>
          <p:cNvSpPr/>
          <p:nvPr/>
        </p:nvSpPr>
        <p:spPr>
          <a:xfrm>
            <a:off x="8776692" y="6511082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Criar várias categorias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/>
          <p:nvPr/>
        </p:nvSpPr>
        <p:spPr>
          <a:xfrm>
            <a:off x="1219200" y="7009209"/>
            <a:ext cx="7290792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9"/>
          <p:cNvSpPr/>
          <p:nvPr/>
        </p:nvSpPr>
        <p:spPr>
          <a:xfrm>
            <a:off x="1219200" y="7602587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9"/>
          <p:cNvSpPr/>
          <p:nvPr/>
        </p:nvSpPr>
        <p:spPr>
          <a:xfrm>
            <a:off x="1485900" y="7113984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groupby() · mean()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8509992" y="7009209"/>
            <a:ext cx="8558808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9"/>
          <p:cNvSpPr/>
          <p:nvPr/>
        </p:nvSpPr>
        <p:spPr>
          <a:xfrm>
            <a:off x="8509992" y="7602587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9"/>
          <p:cNvSpPr/>
          <p:nvPr/>
        </p:nvSpPr>
        <p:spPr>
          <a:xfrm>
            <a:off x="8776692" y="7113984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Resumir por grupo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1219200" y="7612112"/>
            <a:ext cx="7290792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9"/>
          <p:cNvSpPr/>
          <p:nvPr/>
        </p:nvSpPr>
        <p:spPr>
          <a:xfrm>
            <a:off x="1219200" y="8205490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9"/>
          <p:cNvSpPr/>
          <p:nvPr/>
        </p:nvSpPr>
        <p:spPr>
          <a:xfrm>
            <a:off x="1485900" y="7716887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size() · count()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9"/>
          <p:cNvSpPr/>
          <p:nvPr/>
        </p:nvSpPr>
        <p:spPr>
          <a:xfrm>
            <a:off x="8509992" y="7612112"/>
            <a:ext cx="8558808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9"/>
          <p:cNvSpPr/>
          <p:nvPr/>
        </p:nvSpPr>
        <p:spPr>
          <a:xfrm>
            <a:off x="8509992" y="8205490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9"/>
          <p:cNvSpPr/>
          <p:nvPr/>
        </p:nvSpPr>
        <p:spPr>
          <a:xfrm>
            <a:off x="8776692" y="7716887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Contar linhas e valores presentes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/>
          <p:nvPr/>
        </p:nvSpPr>
        <p:spPr>
          <a:xfrm>
            <a:off x="1219200" y="8215015"/>
            <a:ext cx="7290792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9"/>
          <p:cNvSpPr/>
          <p:nvPr/>
        </p:nvSpPr>
        <p:spPr>
          <a:xfrm>
            <a:off x="1219200" y="8808393"/>
            <a:ext cx="7290792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9"/>
          <p:cNvSpPr/>
          <p:nvPr/>
        </p:nvSpPr>
        <p:spPr>
          <a:xfrm>
            <a:off x="1485900" y="8319790"/>
            <a:ext cx="6976116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F2D45"/>
                </a:solidFill>
                <a:latin typeface="Courier New"/>
                <a:ea typeface="Courier New"/>
                <a:cs typeface="Courier New"/>
                <a:sym typeface="Courier New"/>
              </a:rPr>
              <a:t>agg() · round()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9"/>
          <p:cNvSpPr/>
          <p:nvPr/>
        </p:nvSpPr>
        <p:spPr>
          <a:xfrm>
            <a:off x="8509992" y="8215015"/>
            <a:ext cx="8558808" cy="602903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9"/>
          <p:cNvSpPr/>
          <p:nvPr/>
        </p:nvSpPr>
        <p:spPr>
          <a:xfrm>
            <a:off x="8509992" y="8808393"/>
            <a:ext cx="8558808" cy="9525"/>
          </a:xfrm>
          <a:prstGeom prst="rect">
            <a:avLst/>
          </a:prstGeom>
          <a:solidFill>
            <a:srgbClr val="C3CB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9"/>
          <p:cNvSpPr/>
          <p:nvPr/>
        </p:nvSpPr>
        <p:spPr>
          <a:xfrm>
            <a:off x="8776692" y="8319790"/>
            <a:ext cx="8282172" cy="421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Montar a tabela de indicadores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9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7" name="Google Shape;4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98" name="Google Shape;498;p29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9" name="Google Shape;49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A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0"/>
          <p:cNvSpPr/>
          <p:nvPr/>
        </p:nvSpPr>
        <p:spPr>
          <a:xfrm>
            <a:off x="1219200" y="1066800"/>
            <a:ext cx="809992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146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Prática: calcular e conferir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0"/>
          <p:cNvSpPr/>
          <p:nvPr/>
        </p:nvSpPr>
        <p:spPr>
          <a:xfrm>
            <a:off x="1219200" y="2143125"/>
            <a:ext cx="5092601" cy="2489299"/>
          </a:xfrm>
          <a:prstGeom prst="roundRect">
            <a:avLst>
              <a:gd fmla="val 4592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0"/>
          <p:cNvSpPr/>
          <p:nvPr/>
        </p:nvSpPr>
        <p:spPr>
          <a:xfrm>
            <a:off x="1609725" y="2533650"/>
            <a:ext cx="4742706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0"/>
          <p:cNvSpPr/>
          <p:nvPr/>
        </p:nvSpPr>
        <p:spPr>
          <a:xfrm>
            <a:off x="1609725" y="2903934"/>
            <a:ext cx="4440897" cy="12998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6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400"/>
              <a:buFont typeface="Source Serif 4"/>
              <a:buNone/>
            </a:pPr>
            <a:r>
              <a:rPr b="0" i="0" lang="en-US" sz="24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Crie</a:t>
            </a:r>
            <a:r>
              <a:rPr lang="en-US" sz="2400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b="0" i="0" lang="en-US" sz="24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tempo_internacao_</a:t>
            </a:r>
            <a:r>
              <a:rPr lang="en-US" sz="2400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minutos </a:t>
            </a:r>
            <a:r>
              <a:rPr b="0" i="0" lang="en-US" sz="24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sem laço e confira com np.allclose().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6597551" y="2143125"/>
            <a:ext cx="5092750" cy="2489299"/>
          </a:xfrm>
          <a:prstGeom prst="roundRect">
            <a:avLst>
              <a:gd fmla="val 4592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0"/>
          <p:cNvSpPr/>
          <p:nvPr/>
        </p:nvSpPr>
        <p:spPr>
          <a:xfrm>
            <a:off x="6988076" y="2533650"/>
            <a:ext cx="474287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6988076" y="2903934"/>
            <a:ext cx="4441051" cy="12998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6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400"/>
              <a:buFont typeface="Source Serif 4"/>
              <a:buNone/>
            </a:pPr>
            <a:r>
              <a:rPr b="0" i="0" lang="en-US" sz="24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Crie teve_internacao_previa com np.where(), usando internacoes_anteriores &gt; 0.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0"/>
          <p:cNvSpPr/>
          <p:nvPr/>
        </p:nvSpPr>
        <p:spPr>
          <a:xfrm>
            <a:off x="11976050" y="2143125"/>
            <a:ext cx="5092750" cy="2489299"/>
          </a:xfrm>
          <a:prstGeom prst="roundRect">
            <a:avLst>
              <a:gd fmla="val 4592" name="adj"/>
            </a:avLst>
          </a:prstGeom>
          <a:solidFill>
            <a:srgbClr val="FBFCFD"/>
          </a:solidFill>
          <a:ln cap="flat" cmpd="sng" w="9525">
            <a:solidFill>
              <a:srgbClr val="D5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0"/>
          <p:cNvSpPr/>
          <p:nvPr/>
        </p:nvSpPr>
        <p:spPr>
          <a:xfrm>
            <a:off x="12366575" y="2533650"/>
            <a:ext cx="4742870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1B6A9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1B6A9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12366575" y="2903934"/>
            <a:ext cx="4441051" cy="12998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64"/>
              </a:lnSpc>
              <a:spcBef>
                <a:spcPts val="0"/>
              </a:spcBef>
              <a:spcAft>
                <a:spcPts val="0"/>
              </a:spcAft>
              <a:buClr>
                <a:srgbClr val="2B3A48"/>
              </a:buClr>
              <a:buSzPts val="2400"/>
              <a:buFont typeface="Source Serif 4"/>
              <a:buNone/>
            </a:pPr>
            <a:r>
              <a:rPr b="0" i="0" lang="en-US" sz="2400" u="none" cap="none" strike="noStrike">
                <a:solidFill>
                  <a:srgbClr val="2B3A4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Use agg() para agrupar por serviço e obter número de pacientes e tempo médio por serviço.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1219200" y="5051524"/>
            <a:ext cx="10008959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182"/>
              </a:lnSpc>
              <a:spcBef>
                <a:spcPts val="0"/>
              </a:spcBef>
              <a:spcAft>
                <a:spcPts val="0"/>
              </a:spcAft>
              <a:buClr>
                <a:srgbClr val="0F2D45"/>
              </a:buClr>
              <a:buSzPts val="2400"/>
              <a:buFont typeface="Source Serif 4"/>
              <a:buNone/>
            </a:pPr>
            <a:r>
              <a:rPr b="1" i="0" lang="en-US" sz="2400" u="none" cap="none" strike="noStrike">
                <a:solidFill>
                  <a:srgbClr val="0F2D4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Mesmo padrão nas três: calcular, depois conferir o resultado.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0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9677400"/>
            <a:ext cx="495300" cy="49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18" name="Google Shape;518;p30"/>
          <p:cNvSpPr/>
          <p:nvPr/>
        </p:nvSpPr>
        <p:spPr>
          <a:xfrm>
            <a:off x="1543050" y="9747945"/>
            <a:ext cx="5986909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9" name="Google Shape;51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6327" y="9747945"/>
            <a:ext cx="670173" cy="354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45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"/>
          <p:cNvSpPr/>
          <p:nvPr/>
        </p:nvSpPr>
        <p:spPr>
          <a:xfrm>
            <a:off x="1219200" y="2978646"/>
            <a:ext cx="2760166" cy="451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11"/>
              </a:lnSpc>
              <a:spcBef>
                <a:spcPts val="0"/>
              </a:spcBef>
              <a:spcAft>
                <a:spcPts val="0"/>
              </a:spcAft>
              <a:buClr>
                <a:srgbClr val="8FBCD8"/>
              </a:buClr>
              <a:buSzPts val="2100"/>
              <a:buFont typeface="Source Serif 4"/>
              <a:buNone/>
            </a:pPr>
            <a:r>
              <a:rPr b="1" i="0" lang="en-US" sz="2100" u="none" cap="none" strike="noStrike">
                <a:solidFill>
                  <a:srgbClr val="8FBCD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PRÓXIMA AULA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/>
          <p:nvPr/>
        </p:nvSpPr>
        <p:spPr>
          <a:xfrm>
            <a:off x="1219200" y="3658642"/>
            <a:ext cx="15765036" cy="960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667"/>
              </a:lnSpc>
              <a:spcBef>
                <a:spcPts val="0"/>
              </a:spcBef>
              <a:spcAft>
                <a:spcPts val="0"/>
              </a:spcAft>
              <a:buClr>
                <a:srgbClr val="F3F7FA"/>
              </a:buClr>
              <a:buSzPts val="6600"/>
              <a:buFont typeface="Source Serif 4"/>
              <a:buNone/>
            </a:pPr>
            <a:r>
              <a:rPr b="1" i="0" lang="en-US" sz="6600" u="none" cap="none" strike="noStrike">
                <a:solidFill>
                  <a:srgbClr val="F3F7F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7: distribuições e variabilidade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1"/>
          <p:cNvSpPr/>
          <p:nvPr/>
        </p:nvSpPr>
        <p:spPr>
          <a:xfrm>
            <a:off x="1219200" y="4885432"/>
            <a:ext cx="14127480" cy="1032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31"/>
              </a:lnSpc>
              <a:spcBef>
                <a:spcPts val="0"/>
              </a:spcBef>
              <a:spcAft>
                <a:spcPts val="0"/>
              </a:spcAft>
              <a:buClr>
                <a:srgbClr val="B8CFE0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B8CFE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Uma média ou uma proporção representa sozinha os dados? Vamos olhar a distribuição completa de cada variável.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