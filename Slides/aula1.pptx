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a disciplina: apresentar o programa, o período, o formato e os docentes.</a:t>
            </a:r>
            <a:endParaRPr/>
          </a:p>
        </p:txBody>
      </p:sp>
      <p:sp>
        <p:nvSpPr>
          <p:cNvPr id="61" name="Google Shape;6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percurso da aula em cinco blocos.</a:t>
            </a:r>
            <a:endParaRPr/>
          </a:p>
        </p:txBody>
      </p:sp>
      <p:sp>
        <p:nvSpPr>
          <p:cNvPr id="86" name="Google Shape;8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central da aula. Ler com calma.</a:t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Anunciar o conteúdo da aula.</a:t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 à turma e ouvir algumas respostas antes de seguir.</a:t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encadeamento das aulas e reforçar que as etapas anteriores seguem sendo usadas.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caso-guia. Nesta aula não se constrói modelo algum.</a:t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que o mesmo caso reaparece em todas as etapas do curso.</a:t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Construir a distinção com o exemplo da frequência cardíaca.</a:t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Enfatizar que a qualidade do resultado depende da qualidade dos dados.</a:t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Definir ciência de dados e situar o foco da disciplina nas etapas anteriores à modelagem.</a:t>
            </a:r>
            <a:endParaRPr/>
          </a:p>
        </p:txBody>
      </p:sp>
      <p:sp>
        <p:nvSpPr>
          <p:cNvPr id="245" name="Google Shape;2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Separar os três termos com clareza; eles não são sinônimos.</a:t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Ponto importante: o modelo não é o objetivo.</a:t>
            </a:r>
            <a:endParaRPr/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Distinguir os dois usos e fechar com os fundamentos comuns.</a:t>
            </a:r>
            <a:endParaRPr/>
          </a:p>
        </p:txBody>
      </p:sp>
      <p:sp>
        <p:nvSpPr>
          <p:cNvPr id="282" name="Google Shape;2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Percorrer as dez etapas e insistir que o processo não é linear.</a:t>
            </a:r>
            <a:endParaRPr/>
          </a:p>
        </p:txBody>
      </p:sp>
      <p:sp>
        <p:nvSpPr>
          <p:cNvPr id="300" name="Google Shape;3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para enfatizar o caráter iterativo.</a:t>
            </a:r>
            <a:endParaRPr/>
          </a:p>
        </p:txBody>
      </p:sp>
      <p:sp>
        <p:nvSpPr>
          <p:cNvPr id="328" name="Google Shape;3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Listar os tipos de dados e dar exemplos concretos de cada um.</a:t>
            </a:r>
            <a:endParaRPr/>
          </a:p>
        </p:txBody>
      </p:sp>
      <p:sp>
        <p:nvSpPr>
          <p:cNvPr id="343" name="Google Shape;3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Exemplos de aplicação, sem entrar em algoritmos.</a:t>
            </a:r>
            <a:endParaRPr/>
          </a:p>
        </p:txBody>
      </p:sp>
      <p:sp>
        <p:nvSpPr>
          <p:cNvPr id="360" name="Google Shape;36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transformação da pergunta ampla em pergunta analítica.</a:t>
            </a:r>
            <a:endParaRPr/>
          </a:p>
        </p:txBody>
      </p:sp>
      <p:sp>
        <p:nvSpPr>
          <p:cNvPr id="377" name="Google Shape;37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85aa6ebf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85aa6ebf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transformação da pergunta ampla em pergunta analítica.</a:t>
            </a:r>
            <a:endParaRPr/>
          </a:p>
        </p:txBody>
      </p:sp>
      <p:sp>
        <p:nvSpPr>
          <p:cNvPr id="386" name="Google Shape;386;g3f85aa6ebf9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Destacar cada elemento que foi definido na segunda pergunta.</a:t>
            </a:r>
            <a:endParaRPr/>
          </a:p>
        </p:txBody>
      </p:sp>
      <p:sp>
        <p:nvSpPr>
          <p:cNvPr id="398" name="Google Shape;39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famílias de problemas: dados, desenho e leitura.</a:t>
            </a:r>
            <a:endParaRPr/>
          </a:p>
        </p:txBody>
      </p:sp>
      <p:sp>
        <p:nvSpPr>
          <p:cNvPr id="420" name="Google Shape;42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Ponto a enfatizar antes do bloco de ferramentas.</a:t>
            </a:r>
            <a:endParaRPr/>
          </a:p>
        </p:txBody>
      </p:sp>
      <p:sp>
        <p:nvSpPr>
          <p:cNvPr id="433" name="Google Shape;43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ferramenta entra quando resolve um problema concreto.</a:t>
            </a:r>
            <a:endParaRPr/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Conduzir a turma passo a passo até criar o notebook.</a:t>
            </a:r>
            <a:endParaRPr/>
          </a:p>
        </p:txBody>
      </p:sp>
      <p:sp>
        <p:nvSpPr>
          <p:cNvPr id="469" name="Google Shape;46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Executar junto com a turma e mostrar a saída.</a:t>
            </a:r>
            <a:endParaRPr/>
          </a:p>
        </p:txBody>
      </p:sp>
      <p:sp>
        <p:nvSpPr>
          <p:cNvPr id="487" name="Google Shape;48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explicar tipos agora; apenas mostrar que a informação clínica pode ser representada.</a:t>
            </a:r>
            <a:endParaRPr/>
          </a:p>
        </p:txBody>
      </p:sp>
      <p:sp>
        <p:nvSpPr>
          <p:cNvPr id="500" name="Google Shape;50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Formar pequenos grupos e deixar que escolham o tema.</a:t>
            </a:r>
            <a:endParaRPr/>
          </a:p>
        </p:txBody>
      </p:sp>
      <p:sp>
        <p:nvSpPr>
          <p:cNvPr id="510" name="Google Shape;51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sete perguntas que estruturam a atividade.</a:t>
            </a:r>
            <a:endParaRPr/>
          </a:p>
        </p:txBody>
      </p:sp>
      <p:sp>
        <p:nvSpPr>
          <p:cNvPr id="530" name="Google Shape;53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Pergunta-chave para circular entre os grupos.</a:t>
            </a:r>
            <a:endParaRPr/>
          </a:p>
        </p:txBody>
      </p:sp>
      <p:sp>
        <p:nvSpPr>
          <p:cNvPr id="551" name="Google Shape;55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Definir o formato da entrega da atividade.</a:t>
            </a:r>
            <a:endParaRPr/>
          </a:p>
        </p:txBody>
      </p:sp>
      <p:sp>
        <p:nvSpPr>
          <p:cNvPr id="559" name="Google Shape;55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ideias para levar da aula.</a:t>
            </a:r>
            <a:endParaRPr/>
          </a:p>
        </p:txBody>
      </p:sp>
      <p:sp>
        <p:nvSpPr>
          <p:cNvPr id="581" name="Google Shape;58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encerramento da aula.</a:t>
            </a:r>
            <a:endParaRPr/>
          </a:p>
        </p:txBody>
      </p:sp>
      <p:sp>
        <p:nvSpPr>
          <p:cNvPr id="603" name="Google Shape;60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85aa6ebf9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f85aa6ebf9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encerramento da aula.</a:t>
            </a:r>
            <a:endParaRPr/>
          </a:p>
        </p:txBody>
      </p:sp>
      <p:sp>
        <p:nvSpPr>
          <p:cNvPr id="612" name="Google Shape;612;g3f85aa6ebf9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3EFF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9563154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282119" y="9784058"/>
            <a:ext cx="647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3" title="einsteinlogo.png"/>
          <p:cNvPicPr preferRelativeResize="0"/>
          <p:nvPr/>
        </p:nvPicPr>
        <p:blipFill rotWithShape="1">
          <a:blip r:embed="rId2">
            <a:alphaModFix/>
          </a:blip>
          <a:srcRect b="21526" l="0" r="0" t="0"/>
          <a:stretch/>
        </p:blipFill>
        <p:spPr>
          <a:xfrm>
            <a:off x="784975" y="9657075"/>
            <a:ext cx="761848" cy="53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36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5805072" y="1644950"/>
            <a:ext cx="7687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Mestrado e Doutorado Stricto Sensu em Ciências da Saúde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632172" y="2920829"/>
            <a:ext cx="90234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7172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Introdução à Fundamentos de Programação, Dados e Estatística para Inteligência Artificial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300500" y="5280422"/>
            <a:ext cx="2636044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27/08 a 03/12/2026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9880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248846" y="5280422"/>
            <a:ext cx="1533376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19h às 21h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8838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0081684" y="5280422"/>
            <a:ext cx="2918519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vivo — Via Zoom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686827" y="5932695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198972" y="6246858"/>
            <a:ext cx="3889921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DOCENTES RESPONSÁVEIS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9866" y="7302374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994835" y="8711912"/>
            <a:ext cx="2687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Fanchini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5007" y="7302374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9299685" y="8711912"/>
            <a:ext cx="2588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Mahlow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90911" y="7302374"/>
            <a:ext cx="1257300" cy="125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12498042" y="8711912"/>
            <a:ext cx="2843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Giovanni Franco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4" title="einstein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303" y="1472890"/>
            <a:ext cx="832541" cy="7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2689985" y="8711912"/>
            <a:ext cx="2687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lang="en-US" sz="1950">
                <a:solidFill>
                  <a:srgbClr val="FFFFFF"/>
                </a:solidFill>
              </a:rPr>
              <a:t>Edson Amaro Jr.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14"/>
          <p:cNvGrpSpPr/>
          <p:nvPr/>
        </p:nvGrpSpPr>
        <p:grpSpPr>
          <a:xfrm>
            <a:off x="3405016" y="7302374"/>
            <a:ext cx="1257300" cy="1257300"/>
            <a:chOff x="1737716" y="7001199"/>
            <a:chExt cx="1257300" cy="1257300"/>
          </a:xfrm>
        </p:grpSpPr>
        <p:pic>
          <p:nvPicPr>
            <p:cNvPr descr="preencoded.png" id="81" name="Google Shape;8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37716" y="7001199"/>
              <a:ext cx="1257300" cy="12573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2" name="Google Shape;82;p1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821175" y="7099925"/>
              <a:ext cx="1076325" cy="1076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7021173" y="1398036"/>
            <a:ext cx="4245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Roteiro da aula</a:t>
            </a:r>
            <a:endParaRPr i="0" sz="46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241234" y="3648454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917964" y="3546710"/>
            <a:ext cx="236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disciplina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241219" y="4524645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17964" y="4422900"/>
            <a:ext cx="77154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Conceitos (dado, informa</a:t>
            </a:r>
            <a:r>
              <a:rPr lang="en-US" sz="3000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ção, conhecimento)</a:t>
            </a: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241232" y="5400837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917961" y="5299093"/>
            <a:ext cx="34911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ciclo do projeto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5241227" y="6277029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917952" y="6175285"/>
            <a:ext cx="57111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Dados e aplicações em saúde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241231" y="7153220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5917964" y="7051477"/>
            <a:ext cx="4359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Ferramentas e prática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8904711" y="2297500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320706" y="3002269"/>
            <a:ext cx="9646587" cy="38421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ciência de dados não começa no algoritmo. Ela começa na formulação correta do problema, na compreensão do dado disponível e na construção de uma análise que possa ser interpretada, verificada e reproduzida.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4981500" y="2390050"/>
            <a:ext cx="83250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será tratado hoje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400462" y="3606105"/>
            <a:ext cx="4343346" cy="1983744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705154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137567" y="3872778"/>
            <a:ext cx="3400595" cy="1488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Dado, informação, ciência de dados, aprendizado de máquina e 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972327" y="3606105"/>
            <a:ext cx="4343346" cy="1983744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277019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709432" y="38727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ciclo de um projeto orientado por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1544192" y="3606105"/>
            <a:ext cx="4343346" cy="1983744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1848883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2281297" y="38727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Tipos de dados em saúde e exemplos de aplicação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2400462" y="58183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2705154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137567" y="60850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Limitações, riscos e cuidados na interpretação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972327" y="58183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7277019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709432" y="60850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As ferramentas do curso e o primeiro notebook no Colab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11544192" y="58183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1848883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2281297" y="60850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caso-guia e uma atividade de formulação de problema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6928307" y="3516275"/>
            <a:ext cx="44313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</a:rPr>
              <a:t>01</a:t>
            </a:r>
            <a:endParaRPr i="0" sz="12600" u="none" cap="none" strike="noStrike">
              <a:solidFill>
                <a:schemeClr val="lt1"/>
              </a:solidFill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122500" y="5287875"/>
            <a:ext cx="60429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disciplina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Quando vocês ouvem a expressão inteligência artificial em saúde, que tipo de problema imaginam que está sendo resolvido?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2590875" y="2457975"/>
            <a:ext cx="13106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 as 15 aulas se conectam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828942" y="3674025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028014" y="3864525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Representar problemas em Python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524615" y="3674025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723687" y="3864525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Organizar e manipular bases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11220287" y="3674025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1419360" y="3864525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Explorar padrões e hipóteses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828942" y="5310458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028014" y="5500958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Visualizar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524615" y="5310458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7723687" y="5500958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Quantificar com estatística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1220287" y="5310458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11419360" y="5500958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Métricas, validação, ética e reprodutibilidade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2464100" y="1275175"/>
            <a:ext cx="133599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Caso-guia: readmissão em 30 dias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3731750" y="2491250"/>
            <a:ext cx="108243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6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base de pacientes após uma internação: quais características estão associadas à readmissão em até 30 dias após a alta?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711494" y="4194653"/>
            <a:ext cx="4754387" cy="33389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Idade e sexo registrado na 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Tempo de internação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Internações anteriores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Comorbidades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Serviço responsável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Resultados laboratoriais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Desfecho: readmissão em 30 dias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3722800" y="2328750"/>
            <a:ext cx="10842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mesmo caso, aula 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2000250" y="4275832"/>
            <a:ext cx="253752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2266950" y="3735315"/>
            <a:ext cx="2080320" cy="388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4537769" y="4275832"/>
            <a:ext cx="1174998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4804469" y="3735315"/>
            <a:ext cx="11569080" cy="3881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O QUE FAREMOS COM O CASO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2000250" y="5078827"/>
            <a:ext cx="253752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2266950" y="4474991"/>
            <a:ext cx="208032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Aulas 2–3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537769" y="5078827"/>
            <a:ext cx="117499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4804469" y="4474991"/>
            <a:ext cx="1156908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Representar idade, categorias e listas; automatizar tarefas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2000250" y="5881823"/>
            <a:ext cx="253752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2266950" y="5277987"/>
            <a:ext cx="208032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Aulas 4–6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537769" y="5881823"/>
            <a:ext cx="117499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4804469" y="5277987"/>
            <a:ext cx="1156908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Montar a tabela com pandas, tratar ausentes, sumarizar grupos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2000250" y="6684818"/>
            <a:ext cx="253752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2266950" y="6080982"/>
            <a:ext cx="208032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Aulas 7–11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537769" y="6684818"/>
            <a:ext cx="117499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4804469" y="6080982"/>
            <a:ext cx="1156908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Explorar distribuições e outliers; visualizar e comunicar padrões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2000250" y="7487813"/>
            <a:ext cx="253752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2266950" y="6883977"/>
            <a:ext cx="208032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Aulas 12–15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537769" y="7487813"/>
            <a:ext cx="117499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4804469" y="6883977"/>
            <a:ext cx="11569080" cy="451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6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Quantificar relações, interpretar métricas, documentar, discutir ética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/>
          <p:nvPr/>
        </p:nvSpPr>
        <p:spPr>
          <a:xfrm>
            <a:off x="6294436" y="3516275"/>
            <a:ext cx="56991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5434158" y="5287875"/>
            <a:ext cx="7419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Conceitos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/>
          <p:nvPr/>
        </p:nvSpPr>
        <p:spPr>
          <a:xfrm>
            <a:off x="4439719" y="2919424"/>
            <a:ext cx="9408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Dado, informação, conhecimento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2262242" y="4760335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DADO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2668826" y="5149600"/>
            <a:ext cx="36921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registro isolado: a frequência cardíaca de um paciente é 118 bpm.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6891338" y="4760335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INFORMAÇÃO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7335925" y="5149600"/>
            <a:ext cx="36162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valor comparado ao histórico, à condição clínica e a outros sinais.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11520433" y="4760335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CONHECIMENTO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12175074" y="5149600"/>
            <a:ext cx="31962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informação no contexto clínico, apoiando uma decisão.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/>
          <p:nvPr/>
        </p:nvSpPr>
        <p:spPr>
          <a:xfrm>
            <a:off x="2708600" y="2752650"/>
            <a:ext cx="128709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um dado não diz sozinho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240046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3137574" y="4235375"/>
            <a:ext cx="30825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dado sem contexto pode ser pouco informativo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6972327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7709432" y="42353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Dados têm erros, ruído, ausências e vieses de coleta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1154419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12281300" y="4235375"/>
            <a:ext cx="3082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interpretação depende de como o dado foi obtido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6972327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7277019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7709432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resultado vale o que valem 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/>
          <p:nvPr/>
        </p:nvSpPr>
        <p:spPr>
          <a:xfrm>
            <a:off x="2717650" y="2741275"/>
            <a:ext cx="12852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é ciência de dados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4992129" y="4401065"/>
            <a:ext cx="8303700" cy="2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6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processo interdisciplinar de obtenção, organização, exploração, análise, modelagem e comunicação de informações a partir de dados.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/>
          <p:nvPr/>
        </p:nvSpPr>
        <p:spPr>
          <a:xfrm>
            <a:off x="2119975" y="3355000"/>
            <a:ext cx="14048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Três termos que não são sinônimos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2262242" y="4571053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CIÊNCIA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2405593" y="4960306"/>
            <a:ext cx="4218622" cy="117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Extrair informação de dados: programação, estatística, visualização e domínio.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6891338" y="4571053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7034689" y="4960306"/>
            <a:ext cx="4218622" cy="1552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Métodos que aprendem padrões de exemplos: classificação, regressão, agrupamento, previsão.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11520433" y="4571053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11663784" y="4960306"/>
            <a:ext cx="4218622" cy="1552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Sistemas que percebem, decidem, geram ou preveem. O aprendizado de máquina é uma abordagem.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>
            <a:off x="1612753" y="3159625"/>
            <a:ext cx="150624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Nem todo problema precisa de um modelo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2400462" y="5048926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2705154" y="53329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3137567" y="5315599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Nem toda análise de dados utiliza inteligência artificial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6972327" y="5048926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7277019" y="53329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709432" y="5315599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bom gráfico pode responder melhor que um algoritmo sofisticado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11544192" y="5048926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"/>
          <p:cNvSpPr/>
          <p:nvPr/>
        </p:nvSpPr>
        <p:spPr>
          <a:xfrm>
            <a:off x="11848883" y="53329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12281297" y="5315599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modelo só serve com pergunta, dados e avaliação bem definidos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/>
          <p:nvPr/>
        </p:nvSpPr>
        <p:spPr>
          <a:xfrm>
            <a:off x="5317948" y="3204134"/>
            <a:ext cx="7651966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IA preditiva e IA generativa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2656521" y="4927295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PREDITIVA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4002125" y="5316550"/>
            <a:ext cx="38259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Estima classe, valor ou probabilidade: risco, exames, eventos, desfechos.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9114444" y="4927295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GENERATIVA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10407099" y="5316550"/>
            <a:ext cx="39318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Produz conteúdo novo a partir de padrões: texto, imagem, áudio, dados sintéticos.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/>
          <p:nvPr/>
        </p:nvSpPr>
        <p:spPr>
          <a:xfrm>
            <a:off x="5035743" y="3516275"/>
            <a:ext cx="8216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3994475" y="5287875"/>
            <a:ext cx="10299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ciclo do projeto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/>
          <p:nvPr/>
        </p:nvSpPr>
        <p:spPr>
          <a:xfrm>
            <a:off x="4148741" y="2002279"/>
            <a:ext cx="9990381" cy="17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ciclo de um projeto orientado por dados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2502876" y="4190400"/>
            <a:ext cx="105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2052976" y="4723755"/>
            <a:ext cx="19596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Problema real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823699" y="4190410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816545" y="4723755"/>
            <a:ext cx="2543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Pergunta analítica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8877381" y="4190410"/>
            <a:ext cx="53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7881646" y="4723755"/>
            <a:ext cx="2524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Dados disponíveis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11935798" y="4190410"/>
            <a:ext cx="5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10841682" y="4723755"/>
            <a:ext cx="27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Preparação dos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4990428" y="4190410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13897258" y="4723755"/>
            <a:ext cx="27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Exploração e visualização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2767040" y="5819401"/>
            <a:ext cx="5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1674952" y="6352747"/>
            <a:ext cx="27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Análise estatística ou modelagem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5829381" y="5819401"/>
            <a:ext cx="5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410220" y="6352747"/>
            <a:ext cx="1356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8879005" y="5819401"/>
            <a:ext cx="52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8190018" y="6352747"/>
            <a:ext cx="1907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11932552" y="5819401"/>
            <a:ext cx="5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11247090" y="6352747"/>
            <a:ext cx="19047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Comunicação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14576955" y="5819400"/>
            <a:ext cx="135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13897258" y="6352747"/>
            <a:ext cx="27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Decisão ou nova pergunta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348578" y="7682918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processo não é linear: explorar os dados costuma reformular a pergunta.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projeto de dados é iterativo: entender os dados pode mudar a pergunta, e entender melhor a pergunta pode mudar quais dados são necessários.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332" name="Google Shape;3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/>
          <p:nvPr/>
        </p:nvSpPr>
        <p:spPr>
          <a:xfrm>
            <a:off x="7000757" y="3516275"/>
            <a:ext cx="4286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5107796" y="5287863"/>
            <a:ext cx="8072408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Dados e aplicações em saúde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/>
          <p:nvPr/>
        </p:nvSpPr>
        <p:spPr>
          <a:xfrm>
            <a:off x="2989176" y="2415475"/>
            <a:ext cx="123096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Tipos de dados encontrados em saúde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2262242" y="430478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TABULARES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2614500" y="4694050"/>
            <a:ext cx="38007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Idade, sexo, sinais vitais, exames, diagnósticos, desfechos, indicadores.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6891338" y="430478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SÉRIES TEMPORAIS E SINAIS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7034689" y="4694039"/>
            <a:ext cx="4218622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ECG, EEG, fotopletismografia, monitorização contínua.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11520433" y="4304786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11663784" y="4694039"/>
            <a:ext cx="4218622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Radiografia, tomografia, ressonância, histopatologia.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4576790" y="6267828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5043125" y="6657075"/>
            <a:ext cx="35727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Prontuários, laudos, anotações assistenciais.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9205885" y="6267828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MOLECULARES E ÔMICOS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9737374" y="6657075"/>
            <a:ext cx="34425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Genômica, transcriptômica e proteômica.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"/>
          <p:cNvSpPr/>
          <p:nvPr/>
        </p:nvSpPr>
        <p:spPr>
          <a:xfrm>
            <a:off x="2301100" y="2434825"/>
            <a:ext cx="13685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Exemplos de aplicações em saúde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2262242" y="4139889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PREDIÇÃO DE RISCO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2405593" y="4529142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Probabilidade de readmissão, deterioração ou complicação.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6891338" y="4139889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APOIO À DECISÃO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7034689" y="4529142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Organizar o que a equipe precisa para priorizar e avaliar.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11520433" y="4139889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ANÁLISE DE EXAMES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11663784" y="4529142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Classificar padrões em imagens, sinais ou resultados laboratoriais.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4576790" y="6102932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ANÁLISE DE PRONTUÁRIOS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5160826" y="6492175"/>
            <a:ext cx="33372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Achar o que importa em grandes volumes de texto clínico.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9349236" y="6102932"/>
            <a:ext cx="4218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MONITORAMENTO ASSISTENCIAL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9664925" y="6516300"/>
            <a:ext cx="35871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Permanência, ocupação, eventos adversos e desempenho no tempo.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/>
          <p:nvPr/>
        </p:nvSpPr>
        <p:spPr>
          <a:xfrm>
            <a:off x="2735750" y="1878200"/>
            <a:ext cx="12816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Do problema à pergunta analisável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7771521" y="3483662"/>
            <a:ext cx="2744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PERGUNTA AMPLA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3641176" y="4028500"/>
            <a:ext cx="11005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95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850"/>
              <a:buFont typeface="Arial"/>
              <a:buNone/>
            </a:pPr>
            <a:r>
              <a:rPr b="0" i="1" lang="en-US" sz="28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“Quais pacientes têm maior risco de voltar ao hospital após a alta?”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/>
          <p:nvPr/>
        </p:nvSpPr>
        <p:spPr>
          <a:xfrm>
            <a:off x="2735750" y="1878200"/>
            <a:ext cx="12816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Do problema à pergunta analisável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7771521" y="3483662"/>
            <a:ext cx="2744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PERGUNTA AMPLA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3641176" y="4028500"/>
            <a:ext cx="110055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95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850"/>
              <a:buFont typeface="Arial"/>
              <a:buNone/>
            </a:pPr>
            <a:r>
              <a:rPr b="0" i="1" lang="en-US" sz="28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“Quais pacientes têm maior risco de voltar ao hospital após a alta?”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/>
          <p:nvPr/>
        </p:nvSpPr>
        <p:spPr>
          <a:xfrm>
            <a:off x="8995632" y="4794160"/>
            <a:ext cx="296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814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7475197" y="5486616"/>
            <a:ext cx="3337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PERGUNTA ANALÍTICA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4375197" y="6031463"/>
            <a:ext cx="9537600" cy="1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95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850"/>
              <a:buFont typeface="Arial"/>
              <a:buNone/>
            </a:pPr>
            <a:r>
              <a:rPr b="0" i="1" lang="en-US" sz="28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“Entre pacientes adultos que receberam alta de determinada unidade, quais características disponíveis no momento da alta estão associadas à readmissão hospitalar em até 30 dias?”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4" name="Google Shape;3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/>
          <p:nvPr/>
        </p:nvSpPr>
        <p:spPr>
          <a:xfrm>
            <a:off x="1603927" y="2933950"/>
            <a:ext cx="15080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mudou na segunda pergunta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240046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8"/>
          <p:cNvSpPr/>
          <p:nvPr/>
        </p:nvSpPr>
        <p:spPr>
          <a:xfrm>
            <a:off x="2705154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3137567" y="4416678"/>
            <a:ext cx="3383161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população foi definida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6972327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/>
          <p:nvPr/>
        </p:nvSpPr>
        <p:spPr>
          <a:xfrm>
            <a:off x="7277019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7709432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momento de observação foi definido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1154419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8"/>
          <p:cNvSpPr/>
          <p:nvPr/>
        </p:nvSpPr>
        <p:spPr>
          <a:xfrm>
            <a:off x="11848883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8"/>
          <p:cNvSpPr/>
          <p:nvPr/>
        </p:nvSpPr>
        <p:spPr>
          <a:xfrm>
            <a:off x="12281297" y="4416678"/>
            <a:ext cx="3196977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desfecho foi definido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8"/>
          <p:cNvSpPr/>
          <p:nvPr/>
        </p:nvSpPr>
        <p:spPr>
          <a:xfrm>
            <a:off x="4686327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4991019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5423432" y="59037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horizonte temporal foi definido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9258191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8"/>
          <p:cNvSpPr/>
          <p:nvPr/>
        </p:nvSpPr>
        <p:spPr>
          <a:xfrm>
            <a:off x="9562883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9995297" y="59037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origem das variáveis começou a ser delimitada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9"/>
          <p:cNvSpPr/>
          <p:nvPr/>
        </p:nvSpPr>
        <p:spPr>
          <a:xfrm>
            <a:off x="2690354" y="3064775"/>
            <a:ext cx="12907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Limitações e erros comuns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9"/>
          <p:cNvSpPr/>
          <p:nvPr/>
        </p:nvSpPr>
        <p:spPr>
          <a:xfrm>
            <a:off x="1485929" y="473361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NOS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9"/>
          <p:cNvSpPr/>
          <p:nvPr/>
        </p:nvSpPr>
        <p:spPr>
          <a:xfrm>
            <a:off x="1759520" y="5131916"/>
            <a:ext cx="3958200" cy="13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Muitos valores faltantes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Erro de digitação ou medição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Duplicidade de registros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9"/>
          <p:cNvSpPr/>
          <p:nvPr/>
        </p:nvSpPr>
        <p:spPr>
          <a:xfrm>
            <a:off x="6592301" y="473361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NO DESENHO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6130449" y="5131925"/>
            <a:ext cx="54291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Definições divergentes entre categorias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Amostra que não representa a população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Vazamento entre treino e teste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12296571" y="473361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NA LEITURA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11972275" y="5131925"/>
            <a:ext cx="51540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Métrica inadequada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Associação confundida com causalidade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9778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Conclusão que extrapola 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Muitas falhas atribuídas ao algoritmo são, na verdade, falhas na formulação do problema, na preparação dos dados ou na avaliação.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437" name="Google Shape;43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/>
          <p:nvPr/>
        </p:nvSpPr>
        <p:spPr>
          <a:xfrm>
            <a:off x="6131488" y="3516275"/>
            <a:ext cx="60249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6056401" y="5287863"/>
            <a:ext cx="6175198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Ferramentas e prática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/>
          <p:nvPr/>
        </p:nvSpPr>
        <p:spPr>
          <a:xfrm>
            <a:off x="3831354" y="1813000"/>
            <a:ext cx="10625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Ferramentas do curso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2081133" y="340033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GOOGLE COLAB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2224484" y="3789586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Ambiente dos notebooks, no navegador.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6891338" y="340033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6891338" y="3789586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linguagem principal do curso.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11701542" y="340033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11844893" y="3789586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Operações numéricas e vetorizadas.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2081133" y="498481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2224484" y="5374064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Leitura, limpeza e análise de dados tabulares.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2"/>
          <p:cNvSpPr/>
          <p:nvPr/>
        </p:nvSpPr>
        <p:spPr>
          <a:xfrm>
            <a:off x="6891338" y="498481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MATPLOTLIB E SEABORN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6891338" y="5374064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Gráficos e comunicação visual.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11701542" y="498481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SCIPY E SCIKIT-LEARN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11844893" y="5374064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Testes de hipótese, inferência, métricas e validação.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6891338" y="6569290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GIT E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2"/>
          <p:cNvSpPr/>
          <p:nvPr/>
        </p:nvSpPr>
        <p:spPr>
          <a:xfrm>
            <a:off x="7034689" y="6958543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Versionamento e reprodutibilidade.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/>
          <p:nvPr/>
        </p:nvSpPr>
        <p:spPr>
          <a:xfrm>
            <a:off x="1848204" y="2600700"/>
            <a:ext cx="14591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Primeiro contato com o Colab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3"/>
          <p:cNvSpPr/>
          <p:nvPr/>
        </p:nvSpPr>
        <p:spPr>
          <a:xfrm>
            <a:off x="3828942" y="410712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>
            <a:off x="4028014" y="429762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Abrir o navegador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3"/>
          <p:cNvSpPr/>
          <p:nvPr/>
        </p:nvSpPr>
        <p:spPr>
          <a:xfrm>
            <a:off x="7524615" y="410712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3"/>
          <p:cNvSpPr/>
          <p:nvPr/>
        </p:nvSpPr>
        <p:spPr>
          <a:xfrm>
            <a:off x="7723687" y="429762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Acessar o Google Colab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3"/>
          <p:cNvSpPr/>
          <p:nvPr/>
        </p:nvSpPr>
        <p:spPr>
          <a:xfrm>
            <a:off x="11220287" y="410712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11419360" y="429762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 novo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5676846" y="5407615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"/>
          <p:cNvSpPr/>
          <p:nvPr/>
        </p:nvSpPr>
        <p:spPr>
          <a:xfrm>
            <a:off x="5875918" y="5598115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Renomea</a:t>
            </a:r>
            <a:r>
              <a:rPr lang="en-US" sz="2100">
                <a:solidFill>
                  <a:srgbClr val="002D46"/>
                </a:solidFill>
              </a:rPr>
              <a:t>r arquivo </a:t>
            </a:r>
            <a:endParaRPr sz="2100">
              <a:solidFill>
                <a:srgbClr val="002D46"/>
              </a:solidFill>
            </a:endParaRPr>
          </a:p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002D46"/>
                </a:solidFill>
              </a:rPr>
              <a:t>(</a:t>
            </a: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 notebook_aula_01)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9372519" y="5407615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3"/>
          <p:cNvSpPr/>
          <p:nvPr/>
        </p:nvSpPr>
        <p:spPr>
          <a:xfrm>
            <a:off x="9571591" y="5598115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Executar a primeira célula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4945275" y="7247238"/>
            <a:ext cx="83976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notebook mistura código, resultado e texto. Cada célula roda separadamente e em ordem.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3" name="Google Shape;48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/>
          <p:nvPr/>
        </p:nvSpPr>
        <p:spPr>
          <a:xfrm>
            <a:off x="6699955" y="2262864"/>
            <a:ext cx="4887955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primeira célula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4"/>
          <p:cNvSpPr/>
          <p:nvPr/>
        </p:nvSpPr>
        <p:spPr>
          <a:xfrm>
            <a:off x="7687277" y="3478925"/>
            <a:ext cx="291331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CÉLULA DE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4"/>
          <p:cNvSpPr/>
          <p:nvPr/>
        </p:nvSpPr>
        <p:spPr>
          <a:xfrm>
            <a:off x="2476500" y="3966540"/>
            <a:ext cx="13335000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4"/>
          <p:cNvSpPr/>
          <p:nvPr/>
        </p:nvSpPr>
        <p:spPr>
          <a:xfrm>
            <a:off x="2857500" y="4252290"/>
            <a:ext cx="12973050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print("Bem-vindos à disciplina de Fundamentos de Programação, Dados e Estatística para IA")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4"/>
          <p:cNvSpPr/>
          <p:nvPr/>
        </p:nvSpPr>
        <p:spPr>
          <a:xfrm>
            <a:off x="8695134" y="5684693"/>
            <a:ext cx="897596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4"/>
          <p:cNvSpPr/>
          <p:nvPr/>
        </p:nvSpPr>
        <p:spPr>
          <a:xfrm>
            <a:off x="2476500" y="6172308"/>
            <a:ext cx="13335000" cy="1394384"/>
          </a:xfrm>
          <a:prstGeom prst="roundRect">
            <a:avLst>
              <a:gd fmla="val 1366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4"/>
          <p:cNvSpPr/>
          <p:nvPr/>
        </p:nvSpPr>
        <p:spPr>
          <a:xfrm>
            <a:off x="2857500" y="6458058"/>
            <a:ext cx="12973050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Bem-vindos à disciplina de Fundamentos de Programação, Dados e Estatística para 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6" name="Google Shape;4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/>
          <p:nvPr/>
        </p:nvSpPr>
        <p:spPr>
          <a:xfrm>
            <a:off x="2237578" y="2001050"/>
            <a:ext cx="13812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registro simples de paciente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7687277" y="3217123"/>
            <a:ext cx="291331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CÉLULA DE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6982339" y="3704738"/>
            <a:ext cx="4323186" cy="3451595"/>
          </a:xfrm>
          <a:prstGeom prst="roundRect">
            <a:avLst>
              <a:gd fmla="val 55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5"/>
          <p:cNvSpPr/>
          <p:nvPr/>
        </p:nvSpPr>
        <p:spPr>
          <a:xfrm>
            <a:off x="7363339" y="3990488"/>
            <a:ext cx="3690882" cy="291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tempo_internacao = 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readmissao_30d = False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print(tempo_internacao)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print(readmissao_30d)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/>
          <p:nvPr/>
        </p:nvSpPr>
        <p:spPr>
          <a:xfrm>
            <a:off x="2156078" y="2118375"/>
            <a:ext cx="13975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Atividade: escolha um problema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3828942" y="3651351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6"/>
          <p:cNvSpPr/>
          <p:nvPr/>
        </p:nvSpPr>
        <p:spPr>
          <a:xfrm>
            <a:off x="4028014" y="3841851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Readmissão hospitalar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7524615" y="3651351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6"/>
          <p:cNvSpPr/>
          <p:nvPr/>
        </p:nvSpPr>
        <p:spPr>
          <a:xfrm>
            <a:off x="7723687" y="3841851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Tempo de permanência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11220287" y="3651351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6"/>
          <p:cNvSpPr/>
          <p:nvPr/>
        </p:nvSpPr>
        <p:spPr>
          <a:xfrm>
            <a:off x="11419360" y="3841851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Risco de complicação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6"/>
          <p:cNvSpPr/>
          <p:nvPr/>
        </p:nvSpPr>
        <p:spPr>
          <a:xfrm>
            <a:off x="3828942" y="4951839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6"/>
          <p:cNvSpPr/>
          <p:nvPr/>
        </p:nvSpPr>
        <p:spPr>
          <a:xfrm>
            <a:off x="4028014" y="5142339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Controle de pressão arterial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7524615" y="4951839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6"/>
          <p:cNvSpPr/>
          <p:nvPr/>
        </p:nvSpPr>
        <p:spPr>
          <a:xfrm>
            <a:off x="7723687" y="5142339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Adesão a tratamento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6"/>
          <p:cNvSpPr/>
          <p:nvPr/>
        </p:nvSpPr>
        <p:spPr>
          <a:xfrm>
            <a:off x="11220287" y="4951839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6"/>
          <p:cNvSpPr/>
          <p:nvPr/>
        </p:nvSpPr>
        <p:spPr>
          <a:xfrm>
            <a:off x="11419360" y="5142339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Tempo de espera no PA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4348528" y="6887796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201F1D"/>
                </a:solidFill>
              </a:rPr>
              <a:t>Transforme uma situação problema em uma pergunta analítica simples e identifique quais dados seriam necessários para começar a investigá-la.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7"/>
          <p:cNvSpPr/>
          <p:nvPr/>
        </p:nvSpPr>
        <p:spPr>
          <a:xfrm>
            <a:off x="2445878" y="2356225"/>
            <a:ext cx="13396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</a:t>
            </a:r>
            <a:r>
              <a:rPr b="1" lang="en-US" sz="4650">
                <a:solidFill>
                  <a:srgbClr val="201E1D"/>
                </a:solidFill>
              </a:rPr>
              <a:t>você</a:t>
            </a: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deve responder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3277452" y="4177325"/>
            <a:ext cx="104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2164468" y="4710677"/>
            <a:ext cx="32721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é o problema real?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7098073" y="4177331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5744024" y="4710677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pergunta analítica poderia ser feita?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10658447" y="4177331"/>
            <a:ext cx="53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7"/>
          <p:cNvSpPr/>
          <p:nvPr/>
        </p:nvSpPr>
        <p:spPr>
          <a:xfrm>
            <a:off x="9306293" y="4710677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seria a população de interesse?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7"/>
          <p:cNvSpPr/>
          <p:nvPr/>
        </p:nvSpPr>
        <p:spPr>
          <a:xfrm>
            <a:off x="14223692" y="4177331"/>
            <a:ext cx="5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7"/>
          <p:cNvSpPr/>
          <p:nvPr/>
        </p:nvSpPr>
        <p:spPr>
          <a:xfrm>
            <a:off x="12868562" y="4710677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seria o principal desfecho?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5317006" y="6096097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3962957" y="6629443"/>
            <a:ext cx="3237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Quais cinco variáveis ajudariam a analisar o problema?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7"/>
          <p:cNvSpPr/>
          <p:nvPr/>
        </p:nvSpPr>
        <p:spPr>
          <a:xfrm>
            <a:off x="8878328" y="6096097"/>
            <a:ext cx="5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7525226" y="6629443"/>
            <a:ext cx="3237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Que problema de qualidade de dados poderia aparecer?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12447226" y="6096097"/>
            <a:ext cx="5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7"/>
          <p:cNvSpPr/>
          <p:nvPr/>
        </p:nvSpPr>
        <p:spPr>
          <a:xfrm>
            <a:off x="11087495" y="6629443"/>
            <a:ext cx="32376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resultado seria útil para um profissional de saúde ou gestor?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7" name="Google Shape;5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8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8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Antes de escolher o algoritmo, nós já sabemos exatamente o que queremos responder e que informação temos disponível?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555" name="Google Shape;5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9"/>
          <p:cNvSpPr/>
          <p:nvPr/>
        </p:nvSpPr>
        <p:spPr>
          <a:xfrm>
            <a:off x="4012548" y="2933950"/>
            <a:ext cx="10263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deve ser </a:t>
            </a:r>
            <a:r>
              <a:rPr b="1" lang="en-US" sz="4650">
                <a:solidFill>
                  <a:srgbClr val="201E1D"/>
                </a:solidFill>
              </a:rPr>
              <a:t>pensado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240046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9"/>
          <p:cNvSpPr/>
          <p:nvPr/>
        </p:nvSpPr>
        <p:spPr>
          <a:xfrm>
            <a:off x="2705154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313756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Problema escolhido e pergunta analítica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9"/>
          <p:cNvSpPr/>
          <p:nvPr/>
        </p:nvSpPr>
        <p:spPr>
          <a:xfrm>
            <a:off x="6972327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7277019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9"/>
          <p:cNvSpPr/>
          <p:nvPr/>
        </p:nvSpPr>
        <p:spPr>
          <a:xfrm>
            <a:off x="7709432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População de interesse e desfecho principal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9"/>
          <p:cNvSpPr/>
          <p:nvPr/>
        </p:nvSpPr>
        <p:spPr>
          <a:xfrm>
            <a:off x="1154419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9"/>
          <p:cNvSpPr/>
          <p:nvPr/>
        </p:nvSpPr>
        <p:spPr>
          <a:xfrm>
            <a:off x="11848883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1228129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Cinco variáveis relevantes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9"/>
          <p:cNvSpPr/>
          <p:nvPr/>
        </p:nvSpPr>
        <p:spPr>
          <a:xfrm>
            <a:off x="4686327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9"/>
          <p:cNvSpPr/>
          <p:nvPr/>
        </p:nvSpPr>
        <p:spPr>
          <a:xfrm>
            <a:off x="4991019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5423426" y="5903750"/>
            <a:ext cx="31062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possível limitação dos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9258191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9"/>
          <p:cNvSpPr/>
          <p:nvPr/>
        </p:nvSpPr>
        <p:spPr>
          <a:xfrm>
            <a:off x="9562883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9995300" y="5903750"/>
            <a:ext cx="28443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frase sobre o uso do resultado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0"/>
          <p:cNvSpPr/>
          <p:nvPr/>
        </p:nvSpPr>
        <p:spPr>
          <a:xfrm>
            <a:off x="7199688" y="2390044"/>
            <a:ext cx="3888624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Para encerrar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2400462" y="36061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0"/>
          <p:cNvSpPr/>
          <p:nvPr/>
        </p:nvSpPr>
        <p:spPr>
          <a:xfrm>
            <a:off x="2705154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0"/>
          <p:cNvSpPr/>
          <p:nvPr/>
        </p:nvSpPr>
        <p:spPr>
          <a:xfrm>
            <a:off x="3137567" y="38727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Ciência de dados começa com uma pergunta bem formulada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50"/>
          <p:cNvSpPr/>
          <p:nvPr/>
        </p:nvSpPr>
        <p:spPr>
          <a:xfrm>
            <a:off x="6972327" y="36061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0"/>
          <p:cNvSpPr/>
          <p:nvPr/>
        </p:nvSpPr>
        <p:spPr>
          <a:xfrm>
            <a:off x="7277019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0"/>
          <p:cNvSpPr/>
          <p:nvPr/>
        </p:nvSpPr>
        <p:spPr>
          <a:xfrm>
            <a:off x="7709432" y="38727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Algoritmo não corrige problema mal definido nem dado ruim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50"/>
          <p:cNvSpPr/>
          <p:nvPr/>
        </p:nvSpPr>
        <p:spPr>
          <a:xfrm>
            <a:off x="11544192" y="36061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0"/>
          <p:cNvSpPr/>
          <p:nvPr/>
        </p:nvSpPr>
        <p:spPr>
          <a:xfrm>
            <a:off x="11848883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0"/>
          <p:cNvSpPr/>
          <p:nvPr/>
        </p:nvSpPr>
        <p:spPr>
          <a:xfrm>
            <a:off x="12281297" y="38727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Dados precisam ser compreendidos antes de serem modelados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0"/>
          <p:cNvSpPr/>
          <p:nvPr/>
        </p:nvSpPr>
        <p:spPr>
          <a:xfrm>
            <a:off x="4686327" y="5455768"/>
            <a:ext cx="4343346" cy="1983744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0"/>
          <p:cNvSpPr/>
          <p:nvPr/>
        </p:nvSpPr>
        <p:spPr>
          <a:xfrm>
            <a:off x="4991019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0"/>
          <p:cNvSpPr/>
          <p:nvPr/>
        </p:nvSpPr>
        <p:spPr>
          <a:xfrm>
            <a:off x="5423432" y="57224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Programação, estatística e visualização são ferramentas integradas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0"/>
          <p:cNvSpPr/>
          <p:nvPr/>
        </p:nvSpPr>
        <p:spPr>
          <a:xfrm>
            <a:off x="9258191" y="5455768"/>
            <a:ext cx="4343346" cy="1983744"/>
          </a:xfrm>
          <a:prstGeom prst="roundRect">
            <a:avLst>
              <a:gd fmla="val 960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0"/>
          <p:cNvSpPr/>
          <p:nvPr/>
        </p:nvSpPr>
        <p:spPr>
          <a:xfrm>
            <a:off x="9562883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0"/>
          <p:cNvSpPr/>
          <p:nvPr/>
        </p:nvSpPr>
        <p:spPr>
          <a:xfrm>
            <a:off x="9995297" y="5722441"/>
            <a:ext cx="3400595" cy="14884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Em saúde, interpretação e responsabilidade valem tanto quanto desempenho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9" name="Google Shape;59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1"/>
          <p:cNvSpPr/>
          <p:nvPr/>
        </p:nvSpPr>
        <p:spPr>
          <a:xfrm>
            <a:off x="7941766" y="2464864"/>
            <a:ext cx="2404467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ABDD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BDD4"/>
                </a:solidFill>
                <a:latin typeface="Arial"/>
                <a:ea typeface="Arial"/>
                <a:cs typeface="Arial"/>
                <a:sym typeface="Arial"/>
              </a:rPr>
              <a:t>PRÓXIMA AULA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1"/>
          <p:cNvSpPr/>
          <p:nvPr/>
        </p:nvSpPr>
        <p:spPr>
          <a:xfrm>
            <a:off x="4255003" y="3104825"/>
            <a:ext cx="9777859" cy="1107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6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Aula 2: a linguagem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1"/>
          <p:cNvSpPr/>
          <p:nvPr/>
        </p:nvSpPr>
        <p:spPr>
          <a:xfrm>
            <a:off x="8686827" y="4384070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1"/>
          <p:cNvSpPr/>
          <p:nvPr/>
        </p:nvSpPr>
        <p:spPr>
          <a:xfrm>
            <a:off x="4992129" y="5165385"/>
            <a:ext cx="8303700" cy="3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“Hoje nós definimos o tipo de problema que queremos resolver com dados. Na próxima aula começaremos a aprender a linguagem que permitirá representar esses dados e transformar nossas perguntas em instruções executáveis.”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2"/>
          <p:cNvSpPr/>
          <p:nvPr/>
        </p:nvSpPr>
        <p:spPr>
          <a:xfrm>
            <a:off x="4255003" y="4489625"/>
            <a:ext cx="97779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6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lang="en-US" sz="7800">
                <a:solidFill>
                  <a:srgbClr val="FFFFFF"/>
                </a:solidFill>
              </a:rPr>
              <a:t>Muito Obrigado!!!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8686827" y="5768870"/>
            <a:ext cx="914400" cy="28500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