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a aula 3 retomando o fechamento da aula anterior.</a:t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percurso da aula em seis blocos.</a:t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Mensagem central. Retomar ao longo da aula.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Anunciar o conteúdo da aula.</a:t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Objetivo: transformar instruções básicas em código reutilizável.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Começar exatamente do ponto em que a Aula 2 terminou.</a:t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Fazer as quatro perguntas e usar as respostas para introduzir a aula.</a:t>
            </a:r>
            <a:endParaRPr/>
          </a:p>
        </p:txBody>
      </p:sp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Definir fluxo de controle: quais instruções, quantas vezes, em que ordem.</a:t>
            </a:r>
            <a:endParaRPr/>
          </a:p>
        </p:txBody>
      </p:sp>
      <p:sp>
        <p:nvSpPr>
          <p:cNvPr id="149" name="Google Shape;1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 três perguntas que organizam a aula.</a:t>
            </a:r>
            <a:endParaRPr/>
          </a:p>
        </p:txBody>
      </p:sp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Conduzir a turma até criar o notebook.</a:t>
            </a:r>
            <a:endParaRPr/>
          </a:p>
        </p:txBody>
      </p:sp>
      <p:sp>
        <p:nvSpPr>
          <p:cNvPr id="173" name="Google Shape;1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organização do notebook não é apenas estética.</a:t>
            </a:r>
            <a:endParaRPr/>
          </a:p>
        </p:txBody>
      </p:sp>
      <p:sp>
        <p:nvSpPr>
          <p:cNvPr id="191" name="Google Shape;1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Pedir que antecipem a saída antes de executar.</a:t>
            </a:r>
            <a:endParaRPr/>
          </a:p>
        </p:txBody>
      </p:sp>
      <p:sp>
        <p:nvSpPr>
          <p:cNvPr id="208" name="Google Shape;2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Cinco elementos do laço.</a:t>
            </a:r>
            <a:endParaRPr/>
          </a:p>
        </p:txBody>
      </p:sp>
      <p:sp>
        <p:nvSpPr>
          <p:cNvPr id="218" name="Google Shape;21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Mesmo conjunto de instruções aplicado a todos os elementos.</a:t>
            </a:r>
            <a:endParaRPr/>
          </a:p>
        </p:txBody>
      </p:sp>
      <p:sp>
        <p:nvSpPr>
          <p:cNvPr id="241" name="Google Shape;24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range() gera uma sequência de inteiros.</a:t>
            </a:r>
            <a:endParaRPr/>
          </a:p>
        </p:txBody>
      </p:sp>
      <p:sp>
        <p:nvSpPr>
          <p:cNvPr id="251" name="Google Shape;25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situações úteis.</a:t>
            </a:r>
            <a:endParaRPr/>
          </a:p>
        </p:txBody>
      </p:sp>
      <p:sp>
        <p:nvSpPr>
          <p:cNvPr id="266" name="Google Shape;26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Posição e valor ao mesmo tempo.</a:t>
            </a:r>
            <a:endParaRPr/>
          </a:p>
        </p:txBody>
      </p:sp>
      <p:sp>
        <p:nvSpPr>
          <p:cNvPr id="284" name="Google Shape;28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Retomar o caso-guia com vários registros.</a:t>
            </a:r>
            <a:endParaRPr/>
          </a:p>
        </p:txBody>
      </p:sp>
      <p:sp>
        <p:nvSpPr>
          <p:cNvPr id="299" name="Google Shape;29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mesmo código acessa os campos de todos os pacientes.</a:t>
            </a:r>
            <a:endParaRPr/>
          </a:p>
        </p:txBody>
      </p:sp>
      <p:sp>
        <p:nvSpPr>
          <p:cNvPr id="310" name="Google Shape;31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Pedir que identifiquem a indentação de cada nível.</a:t>
            </a:r>
            <a:endParaRPr/>
          </a:p>
        </p:txBody>
      </p:sp>
      <p:sp>
        <p:nvSpPr>
          <p:cNvPr id="320" name="Google Shape;32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variável começa em zero e é incrementada quando a condição é verdadeira.</a:t>
            </a:r>
            <a:endParaRPr/>
          </a:p>
        </p:txBody>
      </p:sp>
      <p:sp>
        <p:nvSpPr>
          <p:cNvPr id="339" name="Google Shape;33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Somar idades e calcular a média manualmente.</a:t>
            </a:r>
            <a:endParaRPr/>
          </a:p>
        </p:txBody>
      </p:sp>
      <p:sp>
        <p:nvSpPr>
          <p:cNvPr id="349" name="Google Shape;34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Repetição baseada em condição.</a:t>
            </a:r>
            <a:endParaRPr/>
          </a:p>
        </p:txBody>
      </p:sp>
      <p:sp>
        <p:nvSpPr>
          <p:cNvPr id="364" name="Google Shape;36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Quatro pontos sobre o while.</a:t>
            </a:r>
            <a:endParaRPr/>
          </a:p>
        </p:txBody>
      </p:sp>
      <p:sp>
        <p:nvSpPr>
          <p:cNvPr id="375" name="Google Shape;37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os dois exemplos e comentar o uso com clareza.</a:t>
            </a:r>
            <a:endParaRPr/>
          </a:p>
        </p:txBody>
      </p:sp>
      <p:sp>
        <p:nvSpPr>
          <p:cNvPr id="396" name="Google Shape;39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Usar a pergunta para introduzir funções.</a:t>
            </a:r>
            <a:endParaRPr/>
          </a:p>
        </p:txBody>
      </p:sp>
      <p:sp>
        <p:nvSpPr>
          <p:cNvPr id="419" name="Google Shape;41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Definir e chamar a função.</a:t>
            </a:r>
            <a:endParaRPr/>
          </a:p>
        </p:txBody>
      </p:sp>
      <p:sp>
        <p:nvSpPr>
          <p:cNvPr id="428" name="Google Shape;42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Cinco elementos da definição.</a:t>
            </a:r>
            <a:endParaRPr/>
          </a:p>
        </p:txBody>
      </p:sp>
      <p:sp>
        <p:nvSpPr>
          <p:cNvPr id="439" name="Google Shape;43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Parâmetro e argumento: a função fica mais geral.</a:t>
            </a:r>
            <a:endParaRPr/>
          </a:p>
        </p:txBody>
      </p:sp>
      <p:sp>
        <p:nvSpPr>
          <p:cNvPr id="462" name="Google Shape;46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Distinguir os dois termos.</a:t>
            </a:r>
            <a:endParaRPr/>
          </a:p>
        </p:txBody>
      </p:sp>
      <p:sp>
        <p:nvSpPr>
          <p:cNvPr id="476" name="Google Shape;47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print mostra; return devolve.</a:t>
            </a:r>
            <a:endParaRPr/>
          </a:p>
        </p:txBody>
      </p:sp>
      <p:sp>
        <p:nvSpPr>
          <p:cNvPr id="492" name="Google Shape;49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Diferença central para iniciantes.</a:t>
            </a:r>
            <a:endParaRPr/>
          </a:p>
        </p:txBody>
      </p:sp>
      <p:sp>
        <p:nvSpPr>
          <p:cNvPr id="503" name="Google Shape;50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Encapsular a condição didática da Aula 2.</a:t>
            </a:r>
            <a:endParaRPr/>
          </a:p>
        </p:txBody>
      </p:sp>
      <p:sp>
        <p:nvSpPr>
          <p:cNvPr id="515" name="Google Shape;51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4" name="Google Shape;52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Reforçar sempre que a regra aparecer.</a:t>
            </a:r>
            <a:endParaRPr/>
          </a:p>
        </p:txBody>
      </p:sp>
      <p:sp>
        <p:nvSpPr>
          <p:cNvPr id="525" name="Google Shape;525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Aplicar a função a todos os registros.</a:t>
            </a:r>
            <a:endParaRPr/>
          </a:p>
        </p:txBody>
      </p:sp>
      <p:sp>
        <p:nvSpPr>
          <p:cNvPr id="534" name="Google Shape;53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a regra mudar, basta alterar a função em um único lugar.</a:t>
            </a:r>
            <a:endParaRPr/>
          </a:p>
        </p:txBody>
      </p:sp>
      <p:sp>
        <p:nvSpPr>
          <p:cNvPr id="544" name="Google Shape;544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é necessário programar tudo do zero.</a:t>
            </a:r>
            <a:endParaRPr/>
          </a:p>
        </p:txBody>
      </p:sp>
      <p:sp>
        <p:nvSpPr>
          <p:cNvPr id="572" name="Google Shape;572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sem aprofundar: só para a sintaxe não parecer estranha depois.</a:t>
            </a:r>
            <a:endParaRPr/>
          </a:p>
        </p:txBody>
      </p:sp>
      <p:sp>
        <p:nvSpPr>
          <p:cNvPr id="587" name="Google Shape;587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Orientações cobradas a partir desta aula.</a:t>
            </a:r>
            <a:endParaRPr/>
          </a:p>
        </p:txBody>
      </p:sp>
      <p:sp>
        <p:nvSpPr>
          <p:cNvPr id="601" name="Google Shape;601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Documentação acrescenta contexto, não repete o código.</a:t>
            </a:r>
            <a:endParaRPr/>
          </a:p>
        </p:txBody>
      </p:sp>
      <p:sp>
        <p:nvSpPr>
          <p:cNvPr id="627" name="Google Shape;627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Demonstrar no Colab ao final de um exemplo.</a:t>
            </a:r>
            <a:endParaRPr/>
          </a:p>
        </p:txBody>
      </p:sp>
      <p:sp>
        <p:nvSpPr>
          <p:cNvPr id="638" name="Google Shape;638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Introduzir a verificação como hábito.</a:t>
            </a:r>
            <a:endParaRPr/>
          </a:p>
        </p:txBody>
      </p:sp>
      <p:sp>
        <p:nvSpPr>
          <p:cNvPr id="657" name="Google Shape;65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Primeiro os dados, depois a lógica definida uma única vez.</a:t>
            </a:r>
            <a:endParaRPr/>
          </a:p>
        </p:txBody>
      </p:sp>
      <p:sp>
        <p:nvSpPr>
          <p:cNvPr id="674" name="Google Shape;67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3" name="Google Shape;68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laço aplica a função, o contador acumula e a saída resume.</a:t>
            </a:r>
            <a:endParaRPr/>
          </a:p>
        </p:txBody>
      </p:sp>
      <p:sp>
        <p:nvSpPr>
          <p:cNvPr id="684" name="Google Shape;684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sequência de cinco passos.</a:t>
            </a:r>
            <a:endParaRPr/>
          </a:p>
        </p:txBody>
      </p:sp>
      <p:sp>
        <p:nvSpPr>
          <p:cNvPr id="694" name="Google Shape;69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Usar a pergunta para abrir a ponte com pandas.</a:t>
            </a:r>
            <a:endParaRPr/>
          </a:p>
        </p:txBody>
      </p:sp>
      <p:sp>
        <p:nvSpPr>
          <p:cNvPr id="712" name="Google Shape;712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cada erro de forma controlada e ler as mensagens.</a:t>
            </a:r>
            <a:endParaRPr/>
          </a:p>
        </p:txBody>
      </p:sp>
      <p:sp>
        <p:nvSpPr>
          <p:cNvPr id="721" name="Google Shape;721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Cinco passos com a lista de tempos de internação.</a:t>
            </a:r>
            <a:endParaRPr/>
          </a:p>
        </p:txBody>
      </p:sp>
      <p:sp>
        <p:nvSpPr>
          <p:cNvPr id="750" name="Google Shape;750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Essa separação prepara a leitura de notebooks de análise.</a:t>
            </a:r>
            <a:endParaRPr/>
          </a:p>
        </p:txBody>
      </p:sp>
      <p:sp>
        <p:nvSpPr>
          <p:cNvPr id="771" name="Google Shape;771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 e conteúdo da atividade final.</a:t>
            </a:r>
            <a:endParaRPr/>
          </a:p>
        </p:txBody>
      </p:sp>
      <p:sp>
        <p:nvSpPr>
          <p:cNvPr id="780" name="Google Shape;780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9" name="Google Shape;79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da atividade.</a:t>
            </a:r>
            <a:endParaRPr/>
          </a:p>
        </p:txBody>
      </p:sp>
      <p:sp>
        <p:nvSpPr>
          <p:cNvPr id="800" name="Google Shape;800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Como o conteúdo será reutilizado.</a:t>
            </a:r>
            <a:endParaRPr/>
          </a:p>
        </p:txBody>
      </p:sp>
      <p:sp>
        <p:nvSpPr>
          <p:cNvPr id="832" name="Google Shape;832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Dez ideias para levar da aula.</a:t>
            </a:r>
            <a:endParaRPr/>
          </a:p>
        </p:txBody>
      </p:sp>
      <p:sp>
        <p:nvSpPr>
          <p:cNvPr id="848" name="Google Shape;848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Frase de transição para a Aula 4.</a:t>
            </a:r>
            <a:endParaRPr/>
          </a:p>
        </p:txBody>
      </p:sp>
      <p:sp>
        <p:nvSpPr>
          <p:cNvPr id="886" name="Google Shape;886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E3EFF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9563154"/>
            <a:ext cx="18288000" cy="723900"/>
          </a:xfrm>
          <a:prstGeom prst="rect">
            <a:avLst/>
          </a:prstGeom>
          <a:solidFill>
            <a:srgbClr val="0060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1282119" y="9784058"/>
            <a:ext cx="6479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Fund. de Programação, Dados e Estatística para IA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4;p2" title="einsteinlogo.png"/>
          <p:cNvPicPr preferRelativeResize="0"/>
          <p:nvPr/>
        </p:nvPicPr>
        <p:blipFill rotWithShape="1">
          <a:blip r:embed="rId2">
            <a:alphaModFix/>
          </a:blip>
          <a:srcRect b="21526" l="0" r="0" t="0"/>
          <a:stretch/>
        </p:blipFill>
        <p:spPr>
          <a:xfrm>
            <a:off x="784975" y="9657075"/>
            <a:ext cx="761848" cy="53605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 1">
  <p:cSld name="CUSTOM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625" lIns="167625" spcFirstLastPara="1" rIns="167625" wrap="square" tIns="167625">
            <a:noAutofit/>
          </a:bodyPr>
          <a:lstStyle>
            <a:lvl1pPr lvl="0" algn="r">
              <a:buNone/>
              <a:defRPr sz="2400">
                <a:solidFill>
                  <a:schemeClr val="tx1"/>
                </a:solidFill>
              </a:defRPr>
            </a:lvl1pPr>
            <a:lvl2pPr lvl="1" algn="r">
              <a:buNone/>
              <a:defRPr sz="2400">
                <a:solidFill>
                  <a:schemeClr val="tx1"/>
                </a:solidFill>
              </a:defRPr>
            </a:lvl2pPr>
            <a:lvl3pPr lvl="2" algn="r">
              <a:buNone/>
              <a:defRPr sz="2400">
                <a:solidFill>
                  <a:schemeClr val="tx1"/>
                </a:solidFill>
              </a:defRPr>
            </a:lvl3pPr>
            <a:lvl4pPr lvl="3" algn="r">
              <a:buNone/>
              <a:defRPr sz="2400">
                <a:solidFill>
                  <a:schemeClr val="tx1"/>
                </a:solidFill>
              </a:defRPr>
            </a:lvl4pPr>
            <a:lvl5pPr lvl="4" algn="r">
              <a:buNone/>
              <a:defRPr sz="2400">
                <a:solidFill>
                  <a:schemeClr val="tx1"/>
                </a:solidFill>
              </a:defRPr>
            </a:lvl5pPr>
            <a:lvl6pPr lvl="5" algn="r">
              <a:buNone/>
              <a:defRPr sz="2400">
                <a:solidFill>
                  <a:schemeClr val="tx1"/>
                </a:solidFill>
              </a:defRPr>
            </a:lvl6pPr>
            <a:lvl7pPr lvl="6" algn="r">
              <a:buNone/>
              <a:defRPr sz="2400">
                <a:solidFill>
                  <a:schemeClr val="tx1"/>
                </a:solidFill>
              </a:defRPr>
            </a:lvl7pPr>
            <a:lvl8pPr lvl="7" algn="r">
              <a:buNone/>
              <a:defRPr sz="2400">
                <a:solidFill>
                  <a:schemeClr val="tx1"/>
                </a:solidFill>
              </a:defRPr>
            </a:lvl8pPr>
            <a:lvl9pPr lvl="8" algn="r">
              <a:buNone/>
              <a:defRPr sz="24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transition spd="med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6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5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3632576" y="3278950"/>
            <a:ext cx="11022600" cy="1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7172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80B7D0"/>
                </a:solidFill>
                <a:latin typeface="Arial"/>
                <a:ea typeface="Arial"/>
                <a:cs typeface="Arial"/>
                <a:sym typeface="Arial"/>
              </a:rPr>
              <a:t>Fluxo de controle, funções, bibliotecas e organização de notebooks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300500" y="5280422"/>
            <a:ext cx="2636044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27/08 a 03/12/2026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7988065" y="5280422"/>
            <a:ext cx="159138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48846" y="5280422"/>
            <a:ext cx="1533376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19h às 21h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883865" y="5280422"/>
            <a:ext cx="159138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0081684" y="5280422"/>
            <a:ext cx="2918519" cy="4809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6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Ao vivo — Via Zoom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686827" y="5932695"/>
            <a:ext cx="914346" cy="28548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7198972" y="6246858"/>
            <a:ext cx="3889921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80B7D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0B7D0"/>
                </a:solidFill>
                <a:latin typeface="Arial"/>
                <a:ea typeface="Arial"/>
                <a:cs typeface="Arial"/>
                <a:sym typeface="Arial"/>
              </a:rPr>
              <a:t>DOCENTES RESPONSÁVEIS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9366" y="6848799"/>
            <a:ext cx="1257192" cy="1257192"/>
          </a:xfrm>
          <a:prstGeom prst="ellipse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4474335" y="8258337"/>
            <a:ext cx="2687389" cy="421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Felipe Fanchini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4507" y="6848799"/>
            <a:ext cx="1257192" cy="1257192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7779185" y="8258337"/>
            <a:ext cx="2587972" cy="421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Felipe Mahlow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70411" y="6848799"/>
            <a:ext cx="1257192" cy="1257192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10977542" y="8258337"/>
            <a:ext cx="2843064" cy="4218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4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Prof. Giovanni Franco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805072" y="1644950"/>
            <a:ext cx="76875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76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Mestrado e Doutorado Stricto Sensu em Ciências da Saúde</a:t>
            </a:r>
            <a:endParaRPr b="0" i="0" sz="2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4" title="einstein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5303" y="1472890"/>
            <a:ext cx="832541" cy="746526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5732153" y="1821125"/>
            <a:ext cx="6823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Roteiro da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461900" y="321035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749592" y="3037176"/>
            <a:ext cx="5278189" cy="628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 um registro para vários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7185476" y="4086550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545518" y="3913368"/>
            <a:ext cx="3686473" cy="628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Laços de repetição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613851" y="4962741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816731" y="4789559"/>
            <a:ext cx="7144047" cy="628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Contadores, while, break e continue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105774" y="5838933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557847" y="5665751"/>
            <a:ext cx="1661815" cy="628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Funções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09415" y="671512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591851" y="6541943"/>
            <a:ext cx="7593806" cy="628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Bibliotecas e organização do notebook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311990" y="759131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584691" y="7418134"/>
            <a:ext cx="5607992" cy="628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640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Exemplo integrado e prática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8904711" y="2931508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3109850" y="3636275"/>
            <a:ext cx="120681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Quando uma operação precisa ser repetida ou reutilizada, não devemos copiar o código indefinidamente: devemos organizar o fluxo do programa.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65" name="Google Shape;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/>
        </p:nvSpPr>
        <p:spPr>
          <a:xfrm>
            <a:off x="3660200" y="1827875"/>
            <a:ext cx="10967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será tratado hoje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400462" y="3043941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2705154" y="3327932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3137567" y="3310614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Laços de repetição com for, range() e enumerate()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972327" y="3043941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7277019" y="3327932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7709432" y="3310614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Percurso de listas e de listas de dicionários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11544192" y="3043941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11848883" y="3327932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2281297" y="3310614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Contadores e acumuladores para pequenas sínteses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400462" y="4893604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2705154" y="517759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3137567" y="5160277"/>
            <a:ext cx="3259633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while, break e continue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972327" y="4893604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7277019" y="517759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7709432" y="5160277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Funções com def, parâmetros e return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11544192" y="4893604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11848883" y="5177595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2281297" y="5160277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Bibliotecas e módulos da biblioteca padrão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686327" y="63806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4991019" y="666465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5423432" y="6647340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Organização e documentação do notebook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9258191" y="63806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9562883" y="666465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9995297" y="6647340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Execução reprodutível do início ao fim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4742075" y="3000250"/>
            <a:ext cx="8803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Objetivo da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992129" y="4216300"/>
            <a:ext cx="83037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96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Transformar as instruções básicas da Aula 2 em código reutilizável e capaz de operar sobre vários registros.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8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"/>
          <p:cNvSpPr/>
          <p:nvPr/>
        </p:nvSpPr>
        <p:spPr>
          <a:xfrm>
            <a:off x="7047407" y="3516275"/>
            <a:ext cx="41931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5409922" y="5287863"/>
            <a:ext cx="7468154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um registro para vários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/>
          <p:nvPr/>
        </p:nvSpPr>
        <p:spPr>
          <a:xfrm>
            <a:off x="3421825" y="1737500"/>
            <a:ext cx="11444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lang="en-US" sz="4650">
                <a:solidFill>
                  <a:srgbClr val="201E1D"/>
                </a:solidFill>
              </a:rPr>
              <a:t>Relembrando onde</a:t>
            </a: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a Aula 2 terminou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4447525" y="2953549"/>
            <a:ext cx="9392700" cy="5499000"/>
          </a:xfrm>
          <a:prstGeom prst="roundRect">
            <a:avLst>
              <a:gd fmla="val 371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4771375" y="3201212"/>
            <a:ext cx="9026898" cy="46814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paciente = {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"idade": 68, "tempo_internacao": 7,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"internacoes_anteriores": 2,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"servico": "Cardiologia", "readmissao_30d": False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criterio_a = paciente["idade"] &gt;= 65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criterio_b = paciente["internacoes_anteriores"] &gt;=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if criterio_a and criterio_b: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print("Registro atende aos dois critérios didáticos")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print("Registro não atende aos dois critérios didáticos")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/>
          <p:nvPr/>
        </p:nvSpPr>
        <p:spPr>
          <a:xfrm>
            <a:off x="4782118" y="2752644"/>
            <a:ext cx="8723763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lang="en-US" sz="4650">
                <a:solidFill>
                  <a:srgbClr val="201E1D"/>
                </a:solidFill>
              </a:rPr>
              <a:t>Perguntas…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2400462" y="39687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2705154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3137567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 se tivéssemos 10 pacientes?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6972327" y="39687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"/>
          <p:cNvSpPr/>
          <p:nvPr/>
        </p:nvSpPr>
        <p:spPr>
          <a:xfrm>
            <a:off x="7277019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7709432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 se tivéssemos 1.000 registros?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11544192" y="39687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/>
          <p:cNvSpPr/>
          <p:nvPr/>
        </p:nvSpPr>
        <p:spPr>
          <a:xfrm>
            <a:off x="11848883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12281297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Seria razoável copiar esse bloco mil vezes?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6972327" y="54557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7277019" y="5739760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7709432" y="5722441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Como ensinar o computador a repetir a operação?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/>
          <p:nvPr/>
        </p:nvSpPr>
        <p:spPr>
          <a:xfrm>
            <a:off x="3999425" y="3259325"/>
            <a:ext cx="102891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é fluxo de controle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4992129" y="4475397"/>
            <a:ext cx="8303741" cy="10742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96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Decidir quais instruções serão executadas, quantas vezes e em que ordem.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12393" y="9747836"/>
            <a:ext cx="604107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/>
          <p:nvPr/>
        </p:nvSpPr>
        <p:spPr>
          <a:xfrm>
            <a:off x="2174900" y="2467775"/>
            <a:ext cx="139383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Três perguntas que orientam a aula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1718254" y="4481485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REPETIR UMA OPERAÇÃO?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1718254" y="4870738"/>
            <a:ext cx="450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Usar um laço.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6347351" y="4481485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REUTILIZAR UMA LÓGICA?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6347351" y="4870738"/>
            <a:ext cx="450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Criar uma função.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11703288" y="4481475"/>
            <a:ext cx="48663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ORGANIZAR FERRAMENTAS PRONTAS?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11883746" y="4870736"/>
            <a:ext cx="4505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Utilizar bibliotecas ou módulos.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4348578" y="6927937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Nada disso é específico de inteligência artificial: é a infraestrutura de programação necessária para preparar dados e construir análises.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/>
          <p:nvPr/>
        </p:nvSpPr>
        <p:spPr>
          <a:xfrm>
            <a:off x="4028275" y="2600700"/>
            <a:ext cx="10231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notebook da Aula 3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3828942" y="4531890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4028014" y="4722390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Acessar o Google Colab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7524615" y="4531890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7723687" y="4722390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um novo notebook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11220287" y="4531890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11419360" y="4722390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Renomear como aula3_fluxo_funcoes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5676846" y="5832377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5875918" y="6022877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uma célula de texto com o título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9372519" y="5832377"/>
            <a:ext cx="3238500" cy="1053000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9571591" y="6022877"/>
            <a:ext cx="2840400" cy="7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Organizar o notebook em blocos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/>
          <p:nvPr/>
        </p:nvSpPr>
        <p:spPr>
          <a:xfrm>
            <a:off x="8904711" y="2931508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/>
          <p:nvPr/>
        </p:nvSpPr>
        <p:spPr>
          <a:xfrm>
            <a:off x="4320706" y="3636277"/>
            <a:ext cx="9646587" cy="25741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 notebook deve permitir que outra pessoa compreenda o raciocínio, execute as células na ordem correta e reproduza o resultado.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195" name="Google Shape;1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>
            <a:off x="6117237" y="3516275"/>
            <a:ext cx="60534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4320325" y="5287875"/>
            <a:ext cx="9647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Laços de repetição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/>
          <p:nvPr/>
        </p:nvSpPr>
        <p:spPr>
          <a:xfrm>
            <a:off x="2715851" y="3198175"/>
            <a:ext cx="12856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primeiro laço de repetição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6827558" y="4414242"/>
            <a:ext cx="4632884" cy="2217268"/>
          </a:xfrm>
          <a:prstGeom prst="roundRect">
            <a:avLst>
              <a:gd fmla="val 859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7208558" y="4699992"/>
            <a:ext cx="4009871" cy="16838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idades = [68, 45, 72, 51]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idade in idades: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print(idade)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/>
          <p:nvPr/>
        </p:nvSpPr>
        <p:spPr>
          <a:xfrm>
            <a:off x="6331634" y="2752644"/>
            <a:ext cx="5624597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Anatomia de um </a:t>
            </a:r>
            <a:r>
              <a:rPr b="1" i="1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endParaRPr b="0" i="1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2400462" y="39687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2705154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3137567" y="4235378"/>
            <a:ext cx="2486918" cy="4006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idades é uma lista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6972327" y="39687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>
            <a:off x="7277019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7709432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percorre os elementos da lista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11544192" y="39687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11848883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/>
          <p:nvPr/>
        </p:nvSpPr>
        <p:spPr>
          <a:xfrm>
            <a:off x="12281297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variável idade recebe um elemento por vez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4686327" y="54557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4991019" y="5739760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/>
          <p:nvPr/>
        </p:nvSpPr>
        <p:spPr>
          <a:xfrm>
            <a:off x="5423432" y="5722441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linha indentada é executada uma vez por elemento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9258191" y="5455768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9562883" y="5739760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9995297" y="57224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nome idade representa o elemento atual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6" name="Google Shape;2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8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/>
          <p:nvPr/>
        </p:nvSpPr>
        <p:spPr>
          <a:xfrm>
            <a:off x="3375852" y="2992400"/>
            <a:ext cx="11536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operação dentro do laço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6362944" y="4208453"/>
            <a:ext cx="5561977" cy="2628710"/>
          </a:xfrm>
          <a:prstGeom prst="roundRect">
            <a:avLst>
              <a:gd fmla="val 72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"/>
          <p:cNvSpPr/>
          <p:nvPr/>
        </p:nvSpPr>
        <p:spPr>
          <a:xfrm>
            <a:off x="6743944" y="4494203"/>
            <a:ext cx="4966837" cy="20953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idades = [68, 45, 72, 51]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idade in idades: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idade_em_5_anos = idade + 5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print(idade_em_5_anos)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6" name="Google Shape;2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"/>
          <p:cNvSpPr/>
          <p:nvPr/>
        </p:nvSpPr>
        <p:spPr>
          <a:xfrm>
            <a:off x="2706554" y="3103075"/>
            <a:ext cx="128748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range() controla repetições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256142" y="4319127"/>
            <a:ext cx="2141488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VALORES 0 A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353483" y="4787665"/>
            <a:ext cx="3396393" cy="1266663"/>
          </a:xfrm>
          <a:prstGeom prst="roundRect">
            <a:avLst>
              <a:gd fmla="val 1504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5658283" y="5035315"/>
            <a:ext cx="2888685" cy="809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range(5):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8985599" y="4319127"/>
            <a:ext cx="1936998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INÍCIO E FIM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9073644" y="4787665"/>
            <a:ext cx="3860872" cy="1266663"/>
          </a:xfrm>
          <a:prstGeom prst="roundRect">
            <a:avLst>
              <a:gd fmla="val 1504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9378444" y="5035315"/>
            <a:ext cx="3367098" cy="809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range(1, 6):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5174612" y="6826003"/>
            <a:ext cx="79386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limite final não é incluído. range(5) produz 0, 1, 2, 3 e 4.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"/>
          <p:cNvSpPr/>
          <p:nvPr/>
        </p:nvSpPr>
        <p:spPr>
          <a:xfrm>
            <a:off x="3164981" y="2966825"/>
            <a:ext cx="11958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Quando range() é útil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2400462" y="4641282"/>
            <a:ext cx="4343400" cy="16212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2705154" y="4925273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3137567" y="4907955"/>
            <a:ext cx="34005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Repetir um procedimento um número conhecido de vezes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6972327" y="4641282"/>
            <a:ext cx="4343400" cy="16212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"/>
          <p:cNvSpPr/>
          <p:nvPr/>
        </p:nvSpPr>
        <p:spPr>
          <a:xfrm>
            <a:off x="7277019" y="4925273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1"/>
          <p:cNvSpPr/>
          <p:nvPr/>
        </p:nvSpPr>
        <p:spPr>
          <a:xfrm>
            <a:off x="7709432" y="4907955"/>
            <a:ext cx="29994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Criar pequenos testes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11544192" y="4641282"/>
            <a:ext cx="4343400" cy="16212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"/>
          <p:cNvSpPr/>
          <p:nvPr/>
        </p:nvSpPr>
        <p:spPr>
          <a:xfrm>
            <a:off x="11848883" y="4925273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1"/>
          <p:cNvSpPr/>
          <p:nvPr/>
        </p:nvSpPr>
        <p:spPr>
          <a:xfrm>
            <a:off x="12281297" y="4907955"/>
            <a:ext cx="34005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Percorrer posições de uma estrutura quando necessário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4348578" y="6740701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Quando já existe uma lista de valores, em geral é mais legível percorrer os elementos do que trabalhar apenas com índices.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"/>
          <p:cNvSpPr/>
          <p:nvPr/>
        </p:nvSpPr>
        <p:spPr>
          <a:xfrm>
            <a:off x="2734077" y="1396825"/>
            <a:ext cx="128196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enumerate() devolve posição e valor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7824645" y="2864375"/>
            <a:ext cx="2638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POSIÇÃO E VALOR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2"/>
          <p:cNvSpPr/>
          <p:nvPr/>
        </p:nvSpPr>
        <p:spPr>
          <a:xfrm>
            <a:off x="5743683" y="3351990"/>
            <a:ext cx="6800400" cy="1394400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/>
          <p:nvPr/>
        </p:nvSpPr>
        <p:spPr>
          <a:xfrm>
            <a:off x="6124683" y="3637740"/>
            <a:ext cx="62424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indice, idade in enumerate(idades):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print(indice, idade)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7574167" y="5491893"/>
            <a:ext cx="3139529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SAÍDA MAIS LEGÍVEL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5046897" y="5979508"/>
            <a:ext cx="8194070" cy="1394384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2"/>
          <p:cNvSpPr/>
          <p:nvPr/>
        </p:nvSpPr>
        <p:spPr>
          <a:xfrm>
            <a:off x="5427897" y="6265258"/>
            <a:ext cx="7677892" cy="860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indice, idade in enumerate(idades):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print(f"Registro {indice}: idade = {idade}")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3375824" y="8008050"/>
            <a:ext cx="115362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primeiro índice é 0. Útil quando queremos identificar em que posição um valor aparece.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3"/>
          <p:cNvSpPr/>
          <p:nvPr/>
        </p:nvSpPr>
        <p:spPr>
          <a:xfrm>
            <a:off x="3430878" y="1743850"/>
            <a:ext cx="114261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 um paciente para vários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4662515" y="2959921"/>
            <a:ext cx="8962835" cy="4067067"/>
          </a:xfrm>
          <a:prstGeom prst="roundRect">
            <a:avLst>
              <a:gd fmla="val 468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4986365" y="3207571"/>
            <a:ext cx="8584021" cy="36098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pacientes = [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{"idade": 68, "internacoes_anteriores": 2,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"Cardiologia", "readmissao_30d": False},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{"idade": 45, "internacoes_anteriores": 0,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"Clínica Médica", "readmissao_30d": True},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{"idade": 72, "internacoes_anteriores": 3,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"Cardiologia", "readmissao_30d": True},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{"idade": 51, "internacoes_anteriores": 1,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"Neurologia", "readmissao_30d": False}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4348578" y="7312737"/>
            <a:ext cx="9590844" cy="8111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dicionário é um registro; a lista reúne vários. Na Aula 4 essa representação manual dá lugar a uma estrutura tabular com pandas.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"/>
          <p:cNvSpPr/>
          <p:nvPr/>
        </p:nvSpPr>
        <p:spPr>
          <a:xfrm>
            <a:off x="3073304" y="3609625"/>
            <a:ext cx="12141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Percorrendo os registros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4969506" y="4825684"/>
            <a:ext cx="8348987" cy="1394384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5350506" y="5111434"/>
            <a:ext cx="7837457" cy="860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paciente in pacientes: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print(paciente["idade"], paciente["servico"])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5" name="Google Shape;3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4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>
            <a:off x="2890050" y="2636825"/>
            <a:ext cx="125079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condição dentro do laço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4304245" y="4235940"/>
            <a:ext cx="9679500" cy="2281200"/>
          </a:xfrm>
          <a:prstGeom prst="roundRect">
            <a:avLst>
              <a:gd fmla="val 8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4628095" y="4483590"/>
            <a:ext cx="93222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paciente in pacientes: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if paciente["idade"] &gt;= 65: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print(f"Idade: {paciente['idade']} — 65 anos ou mais")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else: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print(f"Idade: {paciente['idade']} — menos de 65 anos")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4348578" y="7052394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Dois níveis de fluxo: o </a:t>
            </a:r>
            <a:r>
              <a:rPr b="1" i="1" lang="en-US" sz="2100" u="none" cap="none" strike="noStrike">
                <a:solidFill>
                  <a:srgbClr val="201F1D"/>
                </a:solidFill>
              </a:rPr>
              <a:t>for</a:t>
            </a: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 controla a repetição entre registros; o </a:t>
            </a:r>
            <a:r>
              <a:rPr b="1" i="1" lang="en-US" sz="2100" u="none" cap="none" strike="noStrike">
                <a:solidFill>
                  <a:srgbClr val="201F1D"/>
                </a:solidFill>
              </a:rPr>
              <a:t>if</a:t>
            </a: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 controla a ação de cada registro.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5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"/>
          <p:cNvSpPr/>
          <p:nvPr/>
        </p:nvSpPr>
        <p:spPr>
          <a:xfrm>
            <a:off x="7337555" y="3179650"/>
            <a:ext cx="36129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4148741" y="4951241"/>
            <a:ext cx="9990381" cy="17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Contadores, while, break e continue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7"/>
          <p:cNvSpPr/>
          <p:nvPr/>
        </p:nvSpPr>
        <p:spPr>
          <a:xfrm>
            <a:off x="4567875" y="2580950"/>
            <a:ext cx="9152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Contando registros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4195329" y="3797011"/>
            <a:ext cx="9897340" cy="3451595"/>
          </a:xfrm>
          <a:prstGeom prst="roundRect">
            <a:avLst>
              <a:gd fmla="val 552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>
            <a:off x="4576329" y="4082761"/>
            <a:ext cx="9432260" cy="291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quantidade_readmissoes = 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paciente in pacientes: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if paciente["readmissao_30d"]: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quantidade_readmissoes = quantidade_readmissoes + 1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print(quantidade_readmissoes)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"/>
          <p:cNvSpPr/>
          <p:nvPr/>
        </p:nvSpPr>
        <p:spPr>
          <a:xfrm>
            <a:off x="3852750" y="1322000"/>
            <a:ext cx="10582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Acumulando valores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8718406" y="2538061"/>
            <a:ext cx="85105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SOMA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4969506" y="3025676"/>
            <a:ext cx="8348987" cy="2217268"/>
          </a:xfrm>
          <a:prstGeom prst="roundRect">
            <a:avLst>
              <a:gd fmla="val 859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8"/>
          <p:cNvSpPr/>
          <p:nvPr/>
        </p:nvSpPr>
        <p:spPr>
          <a:xfrm>
            <a:off x="5350506" y="3311426"/>
            <a:ext cx="7837457" cy="16838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soma_idades = 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paciente in pacientes: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soma_idades = soma_idades + paciente["idade"]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7954721" y="5566713"/>
            <a:ext cx="2378422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MÉDIA MANUAL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5511511" y="6054328"/>
            <a:ext cx="7264977" cy="1394384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8"/>
          <p:cNvSpPr/>
          <p:nvPr/>
        </p:nvSpPr>
        <p:spPr>
          <a:xfrm>
            <a:off x="5892511" y="6340078"/>
            <a:ext cx="6720926" cy="860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media_idade = soma_idades / len(pacientes)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print(media_idade)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3852750" y="8009500"/>
            <a:ext cx="105825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Mais adiante, pandas e NumPy farão esse cálculo diretamente sobre colunas inteiras. Aqui o objetivo é entender o mecanismo.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9" name="Google Shape;3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8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/>
          <p:nvPr/>
        </p:nvSpPr>
        <p:spPr>
          <a:xfrm>
            <a:off x="4870307" y="2462975"/>
            <a:ext cx="8547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laço </a:t>
            </a:r>
            <a:r>
              <a:rPr b="1" i="1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endParaRPr b="0" i="1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6672641" y="3679031"/>
            <a:ext cx="4942582" cy="2628710"/>
          </a:xfrm>
          <a:prstGeom prst="roundRect">
            <a:avLst>
              <a:gd fmla="val 72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9"/>
          <p:cNvSpPr/>
          <p:nvPr/>
        </p:nvSpPr>
        <p:spPr>
          <a:xfrm>
            <a:off x="7053641" y="3964781"/>
            <a:ext cx="4328859" cy="20953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contador = 0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while contador &lt; 3: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print(contador)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contador = contador + 1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3266000" y="6593500"/>
            <a:ext cx="117561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Diferente do </a:t>
            </a:r>
            <a:r>
              <a:rPr b="1" i="1" lang="en-US" sz="2100" u="none" cap="none" strike="noStrike">
                <a:solidFill>
                  <a:srgbClr val="201F1D"/>
                </a:solidFill>
              </a:rPr>
              <a:t>for</a:t>
            </a: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, nem sempre sabemos previamente quantas vezes o bloco será executado.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0" name="Google Shape;37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/>
          <p:nvPr/>
        </p:nvSpPr>
        <p:spPr>
          <a:xfrm>
            <a:off x="2862550" y="2223225"/>
            <a:ext cx="12562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observar em um </a:t>
            </a:r>
            <a:r>
              <a:rPr b="1" i="1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endParaRPr b="0" i="1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2400462" y="3768746"/>
            <a:ext cx="4343400" cy="16212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0"/>
          <p:cNvSpPr/>
          <p:nvPr/>
        </p:nvSpPr>
        <p:spPr>
          <a:xfrm>
            <a:off x="2705154" y="4053338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3137567" y="4035418"/>
            <a:ext cx="3400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condição é verificada antes de cada repetição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6972327" y="3768746"/>
            <a:ext cx="4343400" cy="16212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0"/>
          <p:cNvSpPr/>
          <p:nvPr/>
        </p:nvSpPr>
        <p:spPr>
          <a:xfrm>
            <a:off x="7277019" y="4052737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7709432" y="4035418"/>
            <a:ext cx="34005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bloco continua enquanto a condição for True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/>
          <p:nvPr/>
        </p:nvSpPr>
        <p:spPr>
          <a:xfrm>
            <a:off x="11544192" y="3768746"/>
            <a:ext cx="4343400" cy="1621200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0"/>
          <p:cNvSpPr/>
          <p:nvPr/>
        </p:nvSpPr>
        <p:spPr>
          <a:xfrm>
            <a:off x="11848883" y="4052737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0"/>
          <p:cNvSpPr/>
          <p:nvPr/>
        </p:nvSpPr>
        <p:spPr>
          <a:xfrm>
            <a:off x="12281297" y="4035418"/>
            <a:ext cx="3400500" cy="11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Alguma parte do código precisa modificar a condição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0"/>
          <p:cNvSpPr/>
          <p:nvPr/>
        </p:nvSpPr>
        <p:spPr>
          <a:xfrm>
            <a:off x="6972327" y="5618408"/>
            <a:ext cx="4343400" cy="1258500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0"/>
          <p:cNvSpPr/>
          <p:nvPr/>
        </p:nvSpPr>
        <p:spPr>
          <a:xfrm>
            <a:off x="7277019" y="5902400"/>
            <a:ext cx="31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7709432" y="5885081"/>
            <a:ext cx="34005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Caso contrário, pode ser criado um laço infinito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0"/>
          <p:cNvSpPr/>
          <p:nvPr/>
        </p:nvSpPr>
        <p:spPr>
          <a:xfrm>
            <a:off x="3357650" y="7358663"/>
            <a:ext cx="115728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Para percorrer uma coleção conhecida de registros, </a:t>
            </a:r>
            <a:r>
              <a:rPr b="1" i="1" lang="en-US" sz="2100" u="none" cap="none" strike="noStrike">
                <a:solidFill>
                  <a:srgbClr val="201F1D"/>
                </a:solidFill>
              </a:rPr>
              <a:t>for</a:t>
            </a: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 é normalmente mais claro.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"/>
          <p:cNvSpPr/>
          <p:nvPr/>
        </p:nvSpPr>
        <p:spPr>
          <a:xfrm>
            <a:off x="3596025" y="2524000"/>
            <a:ext cx="110961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1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break</a:t>
            </a: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1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continue</a:t>
            </a:r>
            <a:endParaRPr b="0" i="1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1"/>
          <p:cNvSpPr/>
          <p:nvPr/>
        </p:nvSpPr>
        <p:spPr>
          <a:xfrm>
            <a:off x="1314531" y="4161801"/>
            <a:ext cx="3694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BREAK ENCERRA O LAÇO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1482463" y="4630339"/>
            <a:ext cx="7577100" cy="2038200"/>
          </a:xfrm>
          <a:prstGeom prst="roundRect">
            <a:avLst>
              <a:gd fmla="val 9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1"/>
          <p:cNvSpPr/>
          <p:nvPr/>
        </p:nvSpPr>
        <p:spPr>
          <a:xfrm>
            <a:off x="1787263" y="4877989"/>
            <a:ext cx="7194600" cy="15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paciente in pacientes: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if paciente["idade"] &gt;= 70: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print("Primeiro registro encontrado")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break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/>
          <p:nvPr/>
        </p:nvSpPr>
        <p:spPr>
          <a:xfrm>
            <a:off x="9177107" y="4161801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CONTINUE PULA A REPETIÇÃO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9383207" y="4630339"/>
            <a:ext cx="7422300" cy="2038200"/>
          </a:xfrm>
          <a:prstGeom prst="roundRect">
            <a:avLst>
              <a:gd fmla="val 9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1"/>
          <p:cNvSpPr/>
          <p:nvPr/>
        </p:nvSpPr>
        <p:spPr>
          <a:xfrm>
            <a:off x="9688007" y="4877989"/>
            <a:ext cx="7035300" cy="15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paciente in pacientes: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if paciente["servico"] != "Cardiologia":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continue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print(paciente)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1"/>
          <p:cNvSpPr/>
          <p:nvPr/>
        </p:nvSpPr>
        <p:spPr>
          <a:xfrm>
            <a:off x="4348578" y="7710247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Podem ser úteis, mas devem ser usados com clareza: código fragmentado por desvios fica difícil de compreender.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6" name="Google Shape;4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2"/>
          <p:cNvSpPr/>
          <p:nvPr/>
        </p:nvSpPr>
        <p:spPr>
          <a:xfrm>
            <a:off x="5961362" y="3516275"/>
            <a:ext cx="63651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2"/>
          <p:cNvSpPr/>
          <p:nvPr/>
        </p:nvSpPr>
        <p:spPr>
          <a:xfrm>
            <a:off x="6915000" y="5287875"/>
            <a:ext cx="4458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Funções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3"/>
          <p:cNvSpPr/>
          <p:nvPr/>
        </p:nvSpPr>
        <p:spPr>
          <a:xfrm>
            <a:off x="8904711" y="3248512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4320706" y="3953281"/>
            <a:ext cx="9646587" cy="19401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a mesma regra for usada em vários pontos do notebook, devemos reescrever o código todas as vezes?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423" name="Google Shape;4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4"/>
          <p:cNvSpPr/>
          <p:nvPr/>
        </p:nvSpPr>
        <p:spPr>
          <a:xfrm>
            <a:off x="2834928" y="2668750"/>
            <a:ext cx="12618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bloco nomeado de código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4"/>
          <p:cNvSpPr/>
          <p:nvPr/>
        </p:nvSpPr>
        <p:spPr>
          <a:xfrm>
            <a:off x="6440469" y="4123195"/>
            <a:ext cx="5407200" cy="2217300"/>
          </a:xfrm>
          <a:prstGeom prst="roundRect">
            <a:avLst>
              <a:gd fmla="val 859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4"/>
          <p:cNvSpPr/>
          <p:nvPr/>
        </p:nvSpPr>
        <p:spPr>
          <a:xfrm>
            <a:off x="6821469" y="4408945"/>
            <a:ext cx="4807200" cy="16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 saudacao():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print("Iniciando análise")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saudacao()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/>
          <p:nvPr/>
        </p:nvSpPr>
        <p:spPr>
          <a:xfrm>
            <a:off x="3320975" y="7029625"/>
            <a:ext cx="116460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Funções reduzem repetição, organizam responsabilidades e tornam o raciocínio mais legível.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4" name="Google Shape;43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4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5"/>
          <p:cNvSpPr/>
          <p:nvPr/>
        </p:nvSpPr>
        <p:spPr>
          <a:xfrm>
            <a:off x="5606974" y="2752644"/>
            <a:ext cx="7074052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Anatomia de uma função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2400462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5"/>
          <p:cNvSpPr/>
          <p:nvPr/>
        </p:nvSpPr>
        <p:spPr>
          <a:xfrm>
            <a:off x="2705154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5"/>
          <p:cNvSpPr/>
          <p:nvPr/>
        </p:nvSpPr>
        <p:spPr>
          <a:xfrm>
            <a:off x="3137567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1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 inicia a definição da função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5"/>
          <p:cNvSpPr/>
          <p:nvPr/>
        </p:nvSpPr>
        <p:spPr>
          <a:xfrm>
            <a:off x="6972327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5"/>
          <p:cNvSpPr/>
          <p:nvPr/>
        </p:nvSpPr>
        <p:spPr>
          <a:xfrm>
            <a:off x="7277019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5"/>
          <p:cNvSpPr/>
          <p:nvPr/>
        </p:nvSpPr>
        <p:spPr>
          <a:xfrm>
            <a:off x="7709432" y="42353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saudacao é o nome escolhido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5"/>
          <p:cNvSpPr/>
          <p:nvPr/>
        </p:nvSpPr>
        <p:spPr>
          <a:xfrm>
            <a:off x="11544192" y="3968705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11848883" y="42526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5"/>
          <p:cNvSpPr/>
          <p:nvPr/>
        </p:nvSpPr>
        <p:spPr>
          <a:xfrm>
            <a:off x="12281297" y="4235378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Os parênteses indicam que se trata de uma função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5"/>
          <p:cNvSpPr/>
          <p:nvPr/>
        </p:nvSpPr>
        <p:spPr>
          <a:xfrm>
            <a:off x="4686327" y="58183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5"/>
          <p:cNvSpPr/>
          <p:nvPr/>
        </p:nvSpPr>
        <p:spPr>
          <a:xfrm>
            <a:off x="4991019" y="61023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5"/>
          <p:cNvSpPr/>
          <p:nvPr/>
        </p:nvSpPr>
        <p:spPr>
          <a:xfrm>
            <a:off x="5423432" y="60850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bloco indentado contém as instruções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5"/>
          <p:cNvSpPr/>
          <p:nvPr/>
        </p:nvSpPr>
        <p:spPr>
          <a:xfrm>
            <a:off x="9258191" y="58183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5"/>
          <p:cNvSpPr/>
          <p:nvPr/>
        </p:nvSpPr>
        <p:spPr>
          <a:xfrm>
            <a:off x="9562883" y="61023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9995297" y="60850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função só é executada quando é chamada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7" name="Google Shape;45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5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6"/>
          <p:cNvSpPr/>
          <p:nvPr/>
        </p:nvSpPr>
        <p:spPr>
          <a:xfrm>
            <a:off x="4197222" y="1645775"/>
            <a:ext cx="9893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Funções com parâmetros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6"/>
          <p:cNvSpPr/>
          <p:nvPr/>
        </p:nvSpPr>
        <p:spPr>
          <a:xfrm>
            <a:off x="7933141" y="2861829"/>
            <a:ext cx="2421582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UM PARÂMETRO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6"/>
          <p:cNvSpPr/>
          <p:nvPr/>
        </p:nvSpPr>
        <p:spPr>
          <a:xfrm>
            <a:off x="5743683" y="3349444"/>
            <a:ext cx="6800633" cy="2628710"/>
          </a:xfrm>
          <a:prstGeom prst="roundRect">
            <a:avLst>
              <a:gd fmla="val 72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6"/>
          <p:cNvSpPr/>
          <p:nvPr/>
        </p:nvSpPr>
        <p:spPr>
          <a:xfrm>
            <a:off x="6124683" y="3635194"/>
            <a:ext cx="6242652" cy="20953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 mostrar_idade(idade):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print(f"Idade registrada: {idade}")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mostrar_idade(68)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mostrar_idade(45)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6"/>
          <p:cNvSpPr/>
          <p:nvPr/>
        </p:nvSpPr>
        <p:spPr>
          <a:xfrm>
            <a:off x="7732074" y="6457774"/>
            <a:ext cx="2823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DOIS PARÂMETROS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6"/>
          <p:cNvSpPr/>
          <p:nvPr/>
        </p:nvSpPr>
        <p:spPr>
          <a:xfrm>
            <a:off x="4117939" y="6945389"/>
            <a:ext cx="10052100" cy="1394400"/>
          </a:xfrm>
          <a:prstGeom prst="roundRect">
            <a:avLst>
              <a:gd fmla="val 136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6"/>
          <p:cNvSpPr/>
          <p:nvPr/>
        </p:nvSpPr>
        <p:spPr>
          <a:xfrm>
            <a:off x="4498939" y="7231139"/>
            <a:ext cx="95916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 descrever_paciente(idade, servico):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print(f"Paciente com {idade} anos — serviço: {servico}")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7"/>
          <p:cNvSpPr/>
          <p:nvPr/>
        </p:nvSpPr>
        <p:spPr>
          <a:xfrm>
            <a:off x="5788558" y="3619365"/>
            <a:ext cx="6710748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Parâmetro e argumento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7"/>
          <p:cNvSpPr/>
          <p:nvPr/>
        </p:nvSpPr>
        <p:spPr>
          <a:xfrm>
            <a:off x="2656521" y="4835425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PARÂMETRO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7"/>
          <p:cNvSpPr/>
          <p:nvPr/>
        </p:nvSpPr>
        <p:spPr>
          <a:xfrm>
            <a:off x="2656521" y="5224679"/>
            <a:ext cx="6517034" cy="416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nome declarado na definição.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7"/>
          <p:cNvSpPr/>
          <p:nvPr/>
        </p:nvSpPr>
        <p:spPr>
          <a:xfrm>
            <a:off x="4187212" y="5873434"/>
            <a:ext cx="3455518" cy="306315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7"/>
          <p:cNvSpPr/>
          <p:nvPr/>
        </p:nvSpPr>
        <p:spPr>
          <a:xfrm>
            <a:off x="4090636" y="5892484"/>
            <a:ext cx="3648670" cy="306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def mostrar_idade(idade)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7"/>
          <p:cNvSpPr/>
          <p:nvPr/>
        </p:nvSpPr>
        <p:spPr>
          <a:xfrm>
            <a:off x="9114444" y="4835425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ARGUMENTO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7"/>
          <p:cNvSpPr/>
          <p:nvPr/>
        </p:nvSpPr>
        <p:spPr>
          <a:xfrm>
            <a:off x="9114444" y="5224679"/>
            <a:ext cx="6517034" cy="416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valor fornecido na chamada.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7"/>
          <p:cNvSpPr/>
          <p:nvPr/>
        </p:nvSpPr>
        <p:spPr>
          <a:xfrm>
            <a:off x="11126931" y="5873434"/>
            <a:ext cx="2492059" cy="306315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7"/>
          <p:cNvSpPr/>
          <p:nvPr/>
        </p:nvSpPr>
        <p:spPr>
          <a:xfrm>
            <a:off x="11078528" y="5892484"/>
            <a:ext cx="2588865" cy="3063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mostrar_idade(68)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7" name="Google Shape;48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8"/>
          <p:cNvSpPr/>
          <p:nvPr/>
        </p:nvSpPr>
        <p:spPr>
          <a:xfrm>
            <a:off x="4711187" y="2257317"/>
            <a:ext cx="8865489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Retornando valores com return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8"/>
          <p:cNvSpPr/>
          <p:nvPr/>
        </p:nvSpPr>
        <p:spPr>
          <a:xfrm>
            <a:off x="4582418" y="3904303"/>
            <a:ext cx="9123000" cy="3040200"/>
          </a:xfrm>
          <a:prstGeom prst="roundRect">
            <a:avLst>
              <a:gd fmla="val 627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8"/>
          <p:cNvSpPr/>
          <p:nvPr/>
        </p:nvSpPr>
        <p:spPr>
          <a:xfrm>
            <a:off x="4963418" y="4190053"/>
            <a:ext cx="8634600" cy="25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 calcular_tempo_enfermaria(tempo_total, tempo_uti):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tempo_enfermaria = tempo_total - tempo_uti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tempo_enfermaria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resultado = calcular_tempo_enfermaria(7, 2)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print(resultado)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8"/>
          <p:cNvSpPr/>
          <p:nvPr/>
        </p:nvSpPr>
        <p:spPr>
          <a:xfrm>
            <a:off x="3825225" y="7230200"/>
            <a:ext cx="10637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valor retornado pode entrar em novos cálculos, comparações, tabelas ou gráficos.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8" name="Google Shape;49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8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9"/>
          <p:cNvSpPr/>
          <p:nvPr/>
        </p:nvSpPr>
        <p:spPr>
          <a:xfrm>
            <a:off x="7003333" y="3733556"/>
            <a:ext cx="4281333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print() e return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9"/>
          <p:cNvSpPr/>
          <p:nvPr/>
        </p:nvSpPr>
        <p:spPr>
          <a:xfrm>
            <a:off x="2656521" y="4949618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PRINT()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9"/>
          <p:cNvSpPr/>
          <p:nvPr/>
        </p:nvSpPr>
        <p:spPr>
          <a:xfrm>
            <a:off x="2656521" y="5338871"/>
            <a:ext cx="6517034" cy="4166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Mostra uma informação na tela do notebook.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9"/>
          <p:cNvSpPr/>
          <p:nvPr/>
        </p:nvSpPr>
        <p:spPr>
          <a:xfrm>
            <a:off x="9114444" y="4949618"/>
            <a:ext cx="6517034" cy="2940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9"/>
          <p:cNvSpPr/>
          <p:nvPr/>
        </p:nvSpPr>
        <p:spPr>
          <a:xfrm>
            <a:off x="9321804" y="5338871"/>
            <a:ext cx="6102314" cy="7952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Devolve um resultado para ser armazenado ou usado adiante.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0" name="Google Shape;51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0"/>
          <p:cNvSpPr/>
          <p:nvPr/>
        </p:nvSpPr>
        <p:spPr>
          <a:xfrm>
            <a:off x="2578150" y="2809075"/>
            <a:ext cx="13131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regra da Aula 2 como função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4805930" y="4025124"/>
            <a:ext cx="8676003" cy="2995504"/>
          </a:xfrm>
          <a:prstGeom prst="roundRect">
            <a:avLst>
              <a:gd fmla="val 63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0"/>
          <p:cNvSpPr/>
          <p:nvPr/>
        </p:nvSpPr>
        <p:spPr>
          <a:xfrm>
            <a:off x="5129780" y="4272774"/>
            <a:ext cx="8288583" cy="25383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 atende_criterios_didaticos(paciente):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criterio_a = paciente["idade"] &gt;= 65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criterio_b = paciente["internacoes_anteriores"] &gt;=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criterio_a and criterio_b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resultado = atende_criterios_didaticos(pacientes[0])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print(resultado)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0" name="Google Shape;52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1"/>
          <p:cNvSpPr/>
          <p:nvPr/>
        </p:nvSpPr>
        <p:spPr>
          <a:xfrm>
            <a:off x="8904711" y="2931508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1"/>
          <p:cNvSpPr/>
          <p:nvPr/>
        </p:nvSpPr>
        <p:spPr>
          <a:xfrm>
            <a:off x="3751875" y="3636275"/>
            <a:ext cx="10784100" cy="25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Essa função implementa apenas uma regra didática criada para ensinar programação. Não é escore de risco, protocolo clínico ou modelo de IA.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2"/>
          <p:cNvSpPr/>
          <p:nvPr/>
        </p:nvSpPr>
        <p:spPr>
          <a:xfrm>
            <a:off x="4091004" y="3403825"/>
            <a:ext cx="101058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Função e laço juntos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2"/>
          <p:cNvSpPr/>
          <p:nvPr/>
        </p:nvSpPr>
        <p:spPr>
          <a:xfrm>
            <a:off x="4737199" y="4619895"/>
            <a:ext cx="8813466" cy="1805826"/>
          </a:xfrm>
          <a:prstGeom prst="roundRect">
            <a:avLst>
              <a:gd fmla="val 105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2"/>
          <p:cNvSpPr/>
          <p:nvPr/>
        </p:nvSpPr>
        <p:spPr>
          <a:xfrm>
            <a:off x="5118199" y="4905645"/>
            <a:ext cx="8315870" cy="12724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paciente in pacientes: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resultado = atende_criterios_didaticos(paciente)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print(paciente["idade"], resultado)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9" name="Google Shape;5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3"/>
          <p:cNvSpPr/>
          <p:nvPr/>
        </p:nvSpPr>
        <p:spPr>
          <a:xfrm>
            <a:off x="1386303" y="2933950"/>
            <a:ext cx="155154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se ganha com essa separação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3"/>
          <p:cNvSpPr/>
          <p:nvPr/>
        </p:nvSpPr>
        <p:spPr>
          <a:xfrm>
            <a:off x="2400462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3"/>
          <p:cNvSpPr/>
          <p:nvPr/>
        </p:nvSpPr>
        <p:spPr>
          <a:xfrm>
            <a:off x="2705154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3"/>
          <p:cNvSpPr/>
          <p:nvPr/>
        </p:nvSpPr>
        <p:spPr>
          <a:xfrm>
            <a:off x="3137567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laço responde pela repetição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3"/>
          <p:cNvSpPr/>
          <p:nvPr/>
        </p:nvSpPr>
        <p:spPr>
          <a:xfrm>
            <a:off x="6972327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3"/>
          <p:cNvSpPr/>
          <p:nvPr/>
        </p:nvSpPr>
        <p:spPr>
          <a:xfrm>
            <a:off x="7277019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3"/>
          <p:cNvSpPr/>
          <p:nvPr/>
        </p:nvSpPr>
        <p:spPr>
          <a:xfrm>
            <a:off x="7709432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função responde pela lógica reutilizável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3"/>
          <p:cNvSpPr/>
          <p:nvPr/>
        </p:nvSpPr>
        <p:spPr>
          <a:xfrm>
            <a:off x="11544192" y="4150005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3"/>
          <p:cNvSpPr/>
          <p:nvPr/>
        </p:nvSpPr>
        <p:spPr>
          <a:xfrm>
            <a:off x="11848883" y="4433996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3"/>
          <p:cNvSpPr/>
          <p:nvPr/>
        </p:nvSpPr>
        <p:spPr>
          <a:xfrm>
            <a:off x="12281297" y="4416678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Os dados permanecem separados da regra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3"/>
          <p:cNvSpPr/>
          <p:nvPr/>
        </p:nvSpPr>
        <p:spPr>
          <a:xfrm>
            <a:off x="6972327" y="5637068"/>
            <a:ext cx="4343346" cy="1258545"/>
          </a:xfrm>
          <a:prstGeom prst="roundRect">
            <a:avLst>
              <a:gd fmla="val 1514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43"/>
          <p:cNvSpPr/>
          <p:nvPr/>
        </p:nvSpPr>
        <p:spPr>
          <a:xfrm>
            <a:off x="7277019" y="592105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3"/>
          <p:cNvSpPr/>
          <p:nvPr/>
        </p:nvSpPr>
        <p:spPr>
          <a:xfrm>
            <a:off x="7709432" y="5903741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código fica mais fácil de testar e modificar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4"/>
          <p:cNvSpPr/>
          <p:nvPr/>
        </p:nvSpPr>
        <p:spPr>
          <a:xfrm>
            <a:off x="6859883" y="3179650"/>
            <a:ext cx="45681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4"/>
          <p:cNvSpPr/>
          <p:nvPr/>
        </p:nvSpPr>
        <p:spPr>
          <a:xfrm>
            <a:off x="4148741" y="4951241"/>
            <a:ext cx="9990381" cy="17369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Bibliotecas e organização do notebook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4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5"/>
          <p:cNvSpPr/>
          <p:nvPr/>
        </p:nvSpPr>
        <p:spPr>
          <a:xfrm>
            <a:off x="3770225" y="2137850"/>
            <a:ext cx="107475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Bibliotecas e módulos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5"/>
          <p:cNvSpPr/>
          <p:nvPr/>
        </p:nvSpPr>
        <p:spPr>
          <a:xfrm>
            <a:off x="4308899" y="3697296"/>
            <a:ext cx="876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MATH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5"/>
          <p:cNvSpPr/>
          <p:nvPr/>
        </p:nvSpPr>
        <p:spPr>
          <a:xfrm>
            <a:off x="4346999" y="4165835"/>
            <a:ext cx="3861000" cy="2038200"/>
          </a:xfrm>
          <a:prstGeom prst="roundRect">
            <a:avLst>
              <a:gd fmla="val 935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5"/>
          <p:cNvSpPr/>
          <p:nvPr/>
        </p:nvSpPr>
        <p:spPr>
          <a:xfrm>
            <a:off x="4651799" y="4413485"/>
            <a:ext cx="3367200" cy="15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math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valor = math.sqrt(81)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print(valor)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5"/>
          <p:cNvSpPr/>
          <p:nvPr/>
        </p:nvSpPr>
        <p:spPr>
          <a:xfrm>
            <a:off x="8455798" y="3697296"/>
            <a:ext cx="1668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STATISTICS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5"/>
          <p:cNvSpPr/>
          <p:nvPr/>
        </p:nvSpPr>
        <p:spPr>
          <a:xfrm>
            <a:off x="8531640" y="4165835"/>
            <a:ext cx="5409300" cy="2424000"/>
          </a:xfrm>
          <a:prstGeom prst="roundRect">
            <a:avLst>
              <a:gd fmla="val 78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5"/>
          <p:cNvSpPr/>
          <p:nvPr/>
        </p:nvSpPr>
        <p:spPr>
          <a:xfrm>
            <a:off x="8836440" y="4413485"/>
            <a:ext cx="4962000" cy="19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statistics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5"/>
              <a:buFont typeface="Calibri"/>
              <a:buNone/>
            </a:pPr>
            <a:r>
              <a:t/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idades = [68, 45, 72, 51]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media = statistics.mean(idades)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print(media)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5"/>
          <p:cNvSpPr/>
          <p:nvPr/>
        </p:nvSpPr>
        <p:spPr>
          <a:xfrm>
            <a:off x="4348578" y="7179941"/>
            <a:ext cx="95907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import carrega um módulo; o ponto indica que estamos acessando uma ferramenta dentro dele. Compare com o cálculo manual da média feito antes.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2" name="Google Shape;58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5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6"/>
          <p:cNvSpPr/>
          <p:nvPr/>
        </p:nvSpPr>
        <p:spPr>
          <a:xfrm>
            <a:off x="5702017" y="2716925"/>
            <a:ext cx="6883830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Três formas de importar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6"/>
          <p:cNvSpPr/>
          <p:nvPr/>
        </p:nvSpPr>
        <p:spPr>
          <a:xfrm>
            <a:off x="3870708" y="4318061"/>
            <a:ext cx="1962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IMPORTAÇÃO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6"/>
          <p:cNvSpPr/>
          <p:nvPr/>
        </p:nvSpPr>
        <p:spPr>
          <a:xfrm>
            <a:off x="3959910" y="4786599"/>
            <a:ext cx="4790100" cy="1652400"/>
          </a:xfrm>
          <a:prstGeom prst="roundRect">
            <a:avLst>
              <a:gd fmla="val 1153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6"/>
          <p:cNvSpPr/>
          <p:nvPr/>
        </p:nvSpPr>
        <p:spPr>
          <a:xfrm>
            <a:off x="4264710" y="5034249"/>
            <a:ext cx="4324200" cy="11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statistics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from statistics import mean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import statistics as stats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8889564" y="4318061"/>
            <a:ext cx="4049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CHAMADAS EQUIVALENTES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6"/>
          <p:cNvSpPr/>
          <p:nvPr/>
        </p:nvSpPr>
        <p:spPr>
          <a:xfrm>
            <a:off x="9073644" y="4786599"/>
            <a:ext cx="5254500" cy="1652400"/>
          </a:xfrm>
          <a:prstGeom prst="roundRect">
            <a:avLst>
              <a:gd fmla="val 1153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6"/>
          <p:cNvSpPr/>
          <p:nvPr/>
        </p:nvSpPr>
        <p:spPr>
          <a:xfrm>
            <a:off x="9378444" y="5034249"/>
            <a:ext cx="4802400" cy="11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print(statistics.mean(idades))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print(mean(idades))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10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print(stats.mean(idades))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6" name="Google Shape;59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7"/>
          <p:cNvSpPr/>
          <p:nvPr/>
        </p:nvSpPr>
        <p:spPr>
          <a:xfrm>
            <a:off x="2523202" y="2234725"/>
            <a:ext cx="132414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passa a ser cobrado no notebook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7"/>
          <p:cNvSpPr/>
          <p:nvPr/>
        </p:nvSpPr>
        <p:spPr>
          <a:xfrm>
            <a:off x="2400462" y="4124027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7"/>
          <p:cNvSpPr/>
          <p:nvPr/>
        </p:nvSpPr>
        <p:spPr>
          <a:xfrm>
            <a:off x="2705154" y="440801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7"/>
          <p:cNvSpPr/>
          <p:nvPr/>
        </p:nvSpPr>
        <p:spPr>
          <a:xfrm>
            <a:off x="3137567" y="4390700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célula de texto com o objetivo de cada grande bloco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7"/>
          <p:cNvSpPr/>
          <p:nvPr/>
        </p:nvSpPr>
        <p:spPr>
          <a:xfrm>
            <a:off x="6972327" y="4124027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7"/>
          <p:cNvSpPr/>
          <p:nvPr/>
        </p:nvSpPr>
        <p:spPr>
          <a:xfrm>
            <a:off x="7277019" y="440801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7"/>
          <p:cNvSpPr/>
          <p:nvPr/>
        </p:nvSpPr>
        <p:spPr>
          <a:xfrm>
            <a:off x="7709432" y="4390700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Nomes descritivos para variáveis e funções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7"/>
          <p:cNvSpPr/>
          <p:nvPr/>
        </p:nvSpPr>
        <p:spPr>
          <a:xfrm>
            <a:off x="11544192" y="4124027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7"/>
          <p:cNvSpPr/>
          <p:nvPr/>
        </p:nvSpPr>
        <p:spPr>
          <a:xfrm>
            <a:off x="11848883" y="4408018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7"/>
          <p:cNvSpPr/>
          <p:nvPr/>
        </p:nvSpPr>
        <p:spPr>
          <a:xfrm>
            <a:off x="12281297" y="4390700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Evitar nomes como x1, a1 ou teste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7"/>
          <p:cNvSpPr/>
          <p:nvPr/>
        </p:nvSpPr>
        <p:spPr>
          <a:xfrm>
            <a:off x="2400462" y="5973690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7"/>
          <p:cNvSpPr/>
          <p:nvPr/>
        </p:nvSpPr>
        <p:spPr>
          <a:xfrm>
            <a:off x="2705154" y="6257681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7"/>
          <p:cNvSpPr/>
          <p:nvPr/>
        </p:nvSpPr>
        <p:spPr>
          <a:xfrm>
            <a:off x="3137567" y="6240363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Separar dados, processamento e apresentação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7"/>
          <p:cNvSpPr/>
          <p:nvPr/>
        </p:nvSpPr>
        <p:spPr>
          <a:xfrm>
            <a:off x="6972327" y="5973690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7"/>
          <p:cNvSpPr/>
          <p:nvPr/>
        </p:nvSpPr>
        <p:spPr>
          <a:xfrm>
            <a:off x="7277019" y="6257681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7"/>
          <p:cNvSpPr/>
          <p:nvPr/>
        </p:nvSpPr>
        <p:spPr>
          <a:xfrm>
            <a:off x="7709432" y="6240363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Comentários apenas onde explicam uma decisão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11544192" y="5973690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7"/>
          <p:cNvSpPr/>
          <p:nvPr/>
        </p:nvSpPr>
        <p:spPr>
          <a:xfrm>
            <a:off x="11848883" y="6257681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7"/>
          <p:cNvSpPr/>
          <p:nvPr/>
        </p:nvSpPr>
        <p:spPr>
          <a:xfrm>
            <a:off x="12281297" y="6240363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pequena interpretação do resultado ao final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2" name="Google Shape;62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8"/>
          <p:cNvSpPr/>
          <p:nvPr/>
        </p:nvSpPr>
        <p:spPr>
          <a:xfrm>
            <a:off x="2477352" y="2657400"/>
            <a:ext cx="133332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comentário que acrescenta contexto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8"/>
          <p:cNvSpPr/>
          <p:nvPr/>
        </p:nvSpPr>
        <p:spPr>
          <a:xfrm>
            <a:off x="3228894" y="4546699"/>
            <a:ext cx="11830077" cy="1566754"/>
          </a:xfrm>
          <a:prstGeom prst="roundRect">
            <a:avLst>
              <a:gd fmla="val 1216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8"/>
          <p:cNvSpPr/>
          <p:nvPr/>
        </p:nvSpPr>
        <p:spPr>
          <a:xfrm>
            <a:off x="3552744" y="4794349"/>
            <a:ext cx="11537279" cy="11095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Regra apenas didática para demonstrar combinação de condições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 atende_criterios_didaticos(paciente):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paciente["idade"] &gt;= 65 and paciente["internacoes_anteriores"] &gt;=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8"/>
          <p:cNvSpPr/>
          <p:nvPr/>
        </p:nvSpPr>
        <p:spPr>
          <a:xfrm>
            <a:off x="4348578" y="6985978"/>
            <a:ext cx="9590700" cy="8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Documentação deve acrescentar contexto, não repetir o código em português.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3" name="Google Shape;63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8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9"/>
          <p:cNvSpPr/>
          <p:nvPr/>
        </p:nvSpPr>
        <p:spPr>
          <a:xfrm>
            <a:off x="3829225" y="1863525"/>
            <a:ext cx="106296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Executar do início ao fim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9"/>
          <p:cNvSpPr/>
          <p:nvPr/>
        </p:nvSpPr>
        <p:spPr>
          <a:xfrm>
            <a:off x="3828942" y="3455518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9"/>
          <p:cNvSpPr/>
          <p:nvPr/>
        </p:nvSpPr>
        <p:spPr>
          <a:xfrm>
            <a:off x="4028014" y="3646018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Salvar o notebook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49"/>
          <p:cNvSpPr/>
          <p:nvPr/>
        </p:nvSpPr>
        <p:spPr>
          <a:xfrm>
            <a:off x="7524615" y="3455518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9"/>
          <p:cNvSpPr/>
          <p:nvPr/>
        </p:nvSpPr>
        <p:spPr>
          <a:xfrm>
            <a:off x="7723687" y="3646018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Reiniciar a sessão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9"/>
          <p:cNvSpPr/>
          <p:nvPr/>
        </p:nvSpPr>
        <p:spPr>
          <a:xfrm>
            <a:off x="11220287" y="3455518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9"/>
          <p:cNvSpPr/>
          <p:nvPr/>
        </p:nvSpPr>
        <p:spPr>
          <a:xfrm>
            <a:off x="11419360" y="3646018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Executar todas as células em ordem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9"/>
          <p:cNvSpPr/>
          <p:nvPr/>
        </p:nvSpPr>
        <p:spPr>
          <a:xfrm>
            <a:off x="5676846" y="4756006"/>
            <a:ext cx="3238500" cy="1388837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/>
          <p:nvPr/>
        </p:nvSpPr>
        <p:spPr>
          <a:xfrm>
            <a:off x="5875918" y="4946506"/>
            <a:ext cx="2840355" cy="1045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Observar dependências fora da sequência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9"/>
          <p:cNvSpPr/>
          <p:nvPr/>
        </p:nvSpPr>
        <p:spPr>
          <a:xfrm>
            <a:off x="9372519" y="4756006"/>
            <a:ext cx="3238500" cy="1388837"/>
          </a:xfrm>
          <a:prstGeom prst="roundRect">
            <a:avLst>
              <a:gd fmla="val 15088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9"/>
          <p:cNvSpPr/>
          <p:nvPr/>
        </p:nvSpPr>
        <p:spPr>
          <a:xfrm>
            <a:off x="9571591" y="4946506"/>
            <a:ext cx="2840355" cy="1045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Corrigir a ordem caso apareça erro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9"/>
          <p:cNvSpPr/>
          <p:nvPr/>
        </p:nvSpPr>
        <p:spPr>
          <a:xfrm>
            <a:off x="4348578" y="6870667"/>
            <a:ext cx="95907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05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Notebooks permitem executar células fora de ordem, o que é conveniente ao explorar, mas esconde dependências.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2" name="Google Shape;65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0"/>
          <p:cNvSpPr/>
          <p:nvPr/>
        </p:nvSpPr>
        <p:spPr>
          <a:xfrm>
            <a:off x="8904711" y="3248512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0"/>
          <p:cNvSpPr/>
          <p:nvPr/>
        </p:nvSpPr>
        <p:spPr>
          <a:xfrm>
            <a:off x="4320706" y="3953281"/>
            <a:ext cx="9646587" cy="19401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reprodutibilidade será retomada formalmente na Aula 15, mas a prática começa agora.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661" name="Google Shape;66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1"/>
          <p:cNvSpPr/>
          <p:nvPr/>
        </p:nvSpPr>
        <p:spPr>
          <a:xfrm>
            <a:off x="7373305" y="3516275"/>
            <a:ext cx="35412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71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0"/>
              <a:buFont typeface="Arial"/>
              <a:buNone/>
            </a:pPr>
            <a:r>
              <a:rPr b="1" i="0" lang="en-US" sz="12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1"/>
          <p:cNvSpPr/>
          <p:nvPr/>
        </p:nvSpPr>
        <p:spPr>
          <a:xfrm>
            <a:off x="5175108" y="5287863"/>
            <a:ext cx="7937649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Exemplo integrado e prática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2"/>
          <p:cNvSpPr/>
          <p:nvPr/>
        </p:nvSpPr>
        <p:spPr>
          <a:xfrm>
            <a:off x="2761700" y="1737500"/>
            <a:ext cx="127647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fluxo completo: dados e função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52"/>
          <p:cNvSpPr/>
          <p:nvPr/>
        </p:nvSpPr>
        <p:spPr>
          <a:xfrm>
            <a:off x="3228900" y="2953549"/>
            <a:ext cx="11830200" cy="5489700"/>
          </a:xfrm>
          <a:prstGeom prst="roundRect">
            <a:avLst>
              <a:gd fmla="val 371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2"/>
          <p:cNvSpPr/>
          <p:nvPr/>
        </p:nvSpPr>
        <p:spPr>
          <a:xfrm>
            <a:off x="3552744" y="3201212"/>
            <a:ext cx="11537279" cy="46814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pacientes = [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{"id": "P01", "idade": 68, "internacoes_anteriores": 2,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"Cardiologia", "readmissao_30d": False},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{"id": "P02", "idade": 45, "internacoes_anteriores": 0,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"Clínica Médica", "readmissao_30d": True},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{"id": "P03", "idade": 72, "internacoes_anteriores": 3,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"Cardiologia", "readmissao_30d": True},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{"id": "P04", "idade": 51, "internacoes_anteriores": 1,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"servico": "Neurologia", "readmissao_30d": False}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def atende_criterios_didaticos(paciente):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paciente["idade"] &gt;= 65 and paciente["internacoes_anteriores"] &gt;=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9" name="Google Shape;67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5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53"/>
          <p:cNvSpPr/>
          <p:nvPr/>
        </p:nvSpPr>
        <p:spPr>
          <a:xfrm>
            <a:off x="2670000" y="1922450"/>
            <a:ext cx="12948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fluxo completo: laço e saída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3"/>
          <p:cNvSpPr/>
          <p:nvPr/>
        </p:nvSpPr>
        <p:spPr>
          <a:xfrm>
            <a:off x="3945850" y="3138525"/>
            <a:ext cx="10396200" cy="3849900"/>
          </a:xfrm>
          <a:prstGeom prst="roundRect">
            <a:avLst>
              <a:gd fmla="val 513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3"/>
          <p:cNvSpPr/>
          <p:nvPr/>
        </p:nvSpPr>
        <p:spPr>
          <a:xfrm>
            <a:off x="4269689" y="3386165"/>
            <a:ext cx="10060510" cy="3252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quantidade = 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for paciente in pacientes: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resultado = atende_criterios_didaticos(paciente)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if resultado: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quantidade +=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print(f"{paciente['id']}: {resultado}")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Calibri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print(f"Total de registros que atendem aos critérios: {quantidade}")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9" name="Google Shape;68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4"/>
          <p:cNvSpPr/>
          <p:nvPr/>
        </p:nvSpPr>
        <p:spPr>
          <a:xfrm>
            <a:off x="1798878" y="2689600"/>
            <a:ext cx="146901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que o código faz, em cinco passos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4"/>
          <p:cNvSpPr/>
          <p:nvPr/>
        </p:nvSpPr>
        <p:spPr>
          <a:xfrm>
            <a:off x="3195952" y="3905650"/>
            <a:ext cx="120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4"/>
          <p:cNvSpPr/>
          <p:nvPr/>
        </p:nvSpPr>
        <p:spPr>
          <a:xfrm>
            <a:off x="2181755" y="4439002"/>
            <a:ext cx="3237548" cy="7527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Primeiro definimos os dados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4"/>
          <p:cNvSpPr/>
          <p:nvPr/>
        </p:nvSpPr>
        <p:spPr>
          <a:xfrm>
            <a:off x="7098073" y="3905656"/>
            <a:ext cx="529314" cy="4572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4"/>
          <p:cNvSpPr/>
          <p:nvPr/>
        </p:nvSpPr>
        <p:spPr>
          <a:xfrm>
            <a:off x="5744024" y="4439002"/>
            <a:ext cx="3237548" cy="11100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Depois a lógica, uma única vez, em uma função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4"/>
          <p:cNvSpPr/>
          <p:nvPr/>
        </p:nvSpPr>
        <p:spPr>
          <a:xfrm>
            <a:off x="10658447" y="3905656"/>
            <a:ext cx="533102" cy="4572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4"/>
          <p:cNvSpPr/>
          <p:nvPr/>
        </p:nvSpPr>
        <p:spPr>
          <a:xfrm>
            <a:off x="9306293" y="4439002"/>
            <a:ext cx="3237548" cy="7527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laço aplica a função a todos os registros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4"/>
          <p:cNvSpPr/>
          <p:nvPr/>
        </p:nvSpPr>
        <p:spPr>
          <a:xfrm>
            <a:off x="14223692" y="3905656"/>
            <a:ext cx="527284" cy="4572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4"/>
          <p:cNvSpPr/>
          <p:nvPr/>
        </p:nvSpPr>
        <p:spPr>
          <a:xfrm>
            <a:off x="12868562" y="4439002"/>
            <a:ext cx="3237548" cy="7527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condição atualiza o contador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4"/>
          <p:cNvSpPr/>
          <p:nvPr/>
        </p:nvSpPr>
        <p:spPr>
          <a:xfrm>
            <a:off x="8879275" y="5891970"/>
            <a:ext cx="529314" cy="45725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4"/>
          <p:cNvSpPr/>
          <p:nvPr/>
        </p:nvSpPr>
        <p:spPr>
          <a:xfrm>
            <a:off x="7525226" y="6425316"/>
            <a:ext cx="3237548" cy="7527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saída resume o processamento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7" name="Google Shape;70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54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5"/>
          <p:cNvSpPr/>
          <p:nvPr/>
        </p:nvSpPr>
        <p:spPr>
          <a:xfrm>
            <a:off x="8904711" y="3248512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5"/>
          <p:cNvSpPr/>
          <p:nvPr/>
        </p:nvSpPr>
        <p:spPr>
          <a:xfrm>
            <a:off x="4320706" y="3953281"/>
            <a:ext cx="9646587" cy="19401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Essa estrutura ainda seria confortável se tivéssemos 50 colunas e 100 mil pacientes?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716" name="Google Shape;71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55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6"/>
          <p:cNvSpPr/>
          <p:nvPr/>
        </p:nvSpPr>
        <p:spPr>
          <a:xfrm>
            <a:off x="2312450" y="1955725"/>
            <a:ext cx="13663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Cinco erros </a:t>
            </a:r>
            <a:r>
              <a:rPr b="1" lang="en-US" sz="4650">
                <a:solidFill>
                  <a:srgbClr val="201E1D"/>
                </a:solidFill>
              </a:rPr>
              <a:t>comuns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6"/>
          <p:cNvSpPr/>
          <p:nvPr/>
        </p:nvSpPr>
        <p:spPr>
          <a:xfrm>
            <a:off x="2262242" y="3433923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INDENTAÇÃO ESQUECIDA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56"/>
          <p:cNvSpPr/>
          <p:nvPr/>
        </p:nvSpPr>
        <p:spPr>
          <a:xfrm>
            <a:off x="3062342" y="3864848"/>
            <a:ext cx="2904900" cy="306300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6"/>
          <p:cNvSpPr/>
          <p:nvPr/>
        </p:nvSpPr>
        <p:spPr>
          <a:xfrm>
            <a:off x="2993292" y="3883898"/>
            <a:ext cx="30432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for idade in idades: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6"/>
          <p:cNvSpPr/>
          <p:nvPr/>
        </p:nvSpPr>
        <p:spPr>
          <a:xfrm>
            <a:off x="3612870" y="4243413"/>
            <a:ext cx="1803900" cy="306300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6"/>
          <p:cNvSpPr/>
          <p:nvPr/>
        </p:nvSpPr>
        <p:spPr>
          <a:xfrm>
            <a:off x="3598874" y="4262463"/>
            <a:ext cx="18318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print(idade)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56"/>
          <p:cNvSpPr/>
          <p:nvPr/>
        </p:nvSpPr>
        <p:spPr>
          <a:xfrm>
            <a:off x="2405593" y="4808824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Executar e discutir a mensagem de erro.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6"/>
          <p:cNvSpPr/>
          <p:nvPr/>
        </p:nvSpPr>
        <p:spPr>
          <a:xfrm>
            <a:off x="7034689" y="3433923"/>
            <a:ext cx="4218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WHILE SEM ALTERAR A CONDIÇÃO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6"/>
          <p:cNvSpPr/>
          <p:nvPr/>
        </p:nvSpPr>
        <p:spPr>
          <a:xfrm>
            <a:off x="7760304" y="4120832"/>
            <a:ext cx="2767500" cy="306300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6"/>
          <p:cNvSpPr/>
          <p:nvPr/>
        </p:nvSpPr>
        <p:spPr>
          <a:xfrm>
            <a:off x="7698135" y="4139882"/>
            <a:ext cx="28917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while contador &lt; 3: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6"/>
          <p:cNvSpPr/>
          <p:nvPr/>
        </p:nvSpPr>
        <p:spPr>
          <a:xfrm>
            <a:off x="7034689" y="4686244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Mostrar conceitualmente e interromper imediatamente.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6"/>
          <p:cNvSpPr/>
          <p:nvPr/>
        </p:nvSpPr>
        <p:spPr>
          <a:xfrm>
            <a:off x="11663784" y="3433923"/>
            <a:ext cx="4218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FUNÇÃO DEFINIDA E NÃO CHAMADA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6"/>
          <p:cNvSpPr/>
          <p:nvPr/>
        </p:nvSpPr>
        <p:spPr>
          <a:xfrm>
            <a:off x="12664597" y="4120832"/>
            <a:ext cx="2217000" cy="306300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6"/>
          <p:cNvSpPr/>
          <p:nvPr/>
        </p:nvSpPr>
        <p:spPr>
          <a:xfrm>
            <a:off x="12629954" y="4139882"/>
            <a:ext cx="22860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def saudacao():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6"/>
          <p:cNvSpPr/>
          <p:nvPr/>
        </p:nvSpPr>
        <p:spPr>
          <a:xfrm>
            <a:off x="11663784" y="4686244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Perguntar por que nenhuma saída apareceu.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6"/>
          <p:cNvSpPr/>
          <p:nvPr/>
        </p:nvSpPr>
        <p:spPr>
          <a:xfrm>
            <a:off x="4720141" y="6306186"/>
            <a:ext cx="4218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PRINT ONDE PRECISAVA RETURN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6"/>
          <p:cNvSpPr/>
          <p:nvPr/>
        </p:nvSpPr>
        <p:spPr>
          <a:xfrm>
            <a:off x="5376889" y="6993097"/>
            <a:ext cx="2904900" cy="306300"/>
          </a:xfrm>
          <a:prstGeom prst="roundRect">
            <a:avLst>
              <a:gd fmla="val 18657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6"/>
          <p:cNvSpPr/>
          <p:nvPr/>
        </p:nvSpPr>
        <p:spPr>
          <a:xfrm>
            <a:off x="5307840" y="7012147"/>
            <a:ext cx="30432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496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2D46"/>
                </a:solidFill>
                <a:latin typeface="Courier New"/>
                <a:ea typeface="Courier New"/>
                <a:cs typeface="Courier New"/>
                <a:sym typeface="Courier New"/>
              </a:rPr>
              <a:t>resultado = dobro(5)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6"/>
          <p:cNvSpPr/>
          <p:nvPr/>
        </p:nvSpPr>
        <p:spPr>
          <a:xfrm>
            <a:off x="4720141" y="7558508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Imprime 10, mas resultado recebe None.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6"/>
          <p:cNvSpPr/>
          <p:nvPr/>
        </p:nvSpPr>
        <p:spPr>
          <a:xfrm>
            <a:off x="9205885" y="6306187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CÉLULAS FORA DE ORDEM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56"/>
          <p:cNvSpPr/>
          <p:nvPr/>
        </p:nvSpPr>
        <p:spPr>
          <a:xfrm>
            <a:off x="9349236" y="6695441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Chamar a função antes de executar a célula que a define.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56"/>
          <p:cNvSpPr/>
          <p:nvPr/>
        </p:nvSpPr>
        <p:spPr>
          <a:xfrm>
            <a:off x="9349236" y="7681088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Reforça o teste com “Executar tudo”.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5" name="Google Shape;74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56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7"/>
          <p:cNvSpPr/>
          <p:nvPr/>
        </p:nvSpPr>
        <p:spPr>
          <a:xfrm>
            <a:off x="4265326" y="2132975"/>
            <a:ext cx="9757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Exercício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7"/>
          <p:cNvSpPr/>
          <p:nvPr/>
        </p:nvSpPr>
        <p:spPr>
          <a:xfrm>
            <a:off x="8585001" y="3349039"/>
            <a:ext cx="1117997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 LISTA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7"/>
          <p:cNvSpPr/>
          <p:nvPr/>
        </p:nvSpPr>
        <p:spPr>
          <a:xfrm>
            <a:off x="5975990" y="3836654"/>
            <a:ext cx="6336019" cy="982942"/>
          </a:xfrm>
          <a:prstGeom prst="roundRect">
            <a:avLst>
              <a:gd fmla="val 1938" name="adj"/>
            </a:avLst>
          </a:prstGeom>
          <a:solidFill>
            <a:srgbClr val="002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7"/>
          <p:cNvSpPr/>
          <p:nvPr/>
        </p:nvSpPr>
        <p:spPr>
          <a:xfrm>
            <a:off x="6356990" y="4122404"/>
            <a:ext cx="5764100" cy="4495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97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tempos_internacao = [2, 7, 4, 10, 3]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7"/>
          <p:cNvSpPr/>
          <p:nvPr/>
        </p:nvSpPr>
        <p:spPr>
          <a:xfrm>
            <a:off x="3241464" y="5610013"/>
            <a:ext cx="111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57"/>
          <p:cNvSpPr/>
          <p:nvPr/>
        </p:nvSpPr>
        <p:spPr>
          <a:xfrm>
            <a:off x="2181755" y="6143354"/>
            <a:ext cx="3237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Imprimir cada valor com um for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7"/>
          <p:cNvSpPr/>
          <p:nvPr/>
        </p:nvSpPr>
        <p:spPr>
          <a:xfrm>
            <a:off x="7098073" y="5610009"/>
            <a:ext cx="5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7"/>
          <p:cNvSpPr/>
          <p:nvPr/>
        </p:nvSpPr>
        <p:spPr>
          <a:xfrm>
            <a:off x="5744024" y="6143354"/>
            <a:ext cx="3237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Contar quantos valores são maiores que 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7"/>
          <p:cNvSpPr/>
          <p:nvPr/>
        </p:nvSpPr>
        <p:spPr>
          <a:xfrm>
            <a:off x="10658447" y="5610009"/>
            <a:ext cx="53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7"/>
          <p:cNvSpPr/>
          <p:nvPr/>
        </p:nvSpPr>
        <p:spPr>
          <a:xfrm>
            <a:off x="9306293" y="6143354"/>
            <a:ext cx="3237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Criar a função tempo_maior_que_5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57"/>
          <p:cNvSpPr/>
          <p:nvPr/>
        </p:nvSpPr>
        <p:spPr>
          <a:xfrm>
            <a:off x="14223692" y="5610009"/>
            <a:ext cx="52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7"/>
          <p:cNvSpPr/>
          <p:nvPr/>
        </p:nvSpPr>
        <p:spPr>
          <a:xfrm>
            <a:off x="12868562" y="6143354"/>
            <a:ext cx="3237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Aplicar a função a todos os valores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7"/>
          <p:cNvSpPr/>
          <p:nvPr/>
        </p:nvSpPr>
        <p:spPr>
          <a:xfrm>
            <a:off x="8879275" y="7238999"/>
            <a:ext cx="5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6429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7"/>
          <p:cNvSpPr/>
          <p:nvPr/>
        </p:nvSpPr>
        <p:spPr>
          <a:xfrm>
            <a:off x="7525226" y="7772346"/>
            <a:ext cx="3237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464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Alterar um valor e executar novamente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6" name="Google Shape;76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7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58"/>
          <p:cNvSpPr/>
          <p:nvPr/>
        </p:nvSpPr>
        <p:spPr>
          <a:xfrm>
            <a:off x="8904711" y="3248512"/>
            <a:ext cx="47857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7200"/>
              <a:buFont typeface="Arial"/>
              <a:buNone/>
            </a:pPr>
            <a:r>
              <a:rPr b="0" i="0" lang="en-US" sz="72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8"/>
          <p:cNvSpPr/>
          <p:nvPr/>
        </p:nvSpPr>
        <p:spPr>
          <a:xfrm>
            <a:off x="4320706" y="3953281"/>
            <a:ext cx="9646587" cy="19401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93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900"/>
              <a:buFont typeface="Arial"/>
              <a:buNone/>
            </a:pPr>
            <a:r>
              <a:rPr i="1" lang="en-US" sz="3900" u="none" cap="none" strike="noStrike">
                <a:solidFill>
                  <a:srgbClr val="201E1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 parte do código representa os dados, qual parte representa a lógica e qual parte controla a repetição?</a:t>
            </a:r>
            <a:endParaRPr i="0" sz="3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775" name="Google Shape;77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58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9"/>
          <p:cNvSpPr/>
          <p:nvPr/>
        </p:nvSpPr>
        <p:spPr>
          <a:xfrm>
            <a:off x="2587377" y="1654825"/>
            <a:ext cx="131130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Atividade: o notebook deve conter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9"/>
          <p:cNvSpPr/>
          <p:nvPr/>
        </p:nvSpPr>
        <p:spPr>
          <a:xfrm>
            <a:off x="2262242" y="3354407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59"/>
          <p:cNvSpPr/>
          <p:nvPr/>
        </p:nvSpPr>
        <p:spPr>
          <a:xfrm>
            <a:off x="2138399" y="3743650"/>
            <a:ext cx="4752900" cy="19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lista com pelo menos cinco dicionários: identificador, idade, tempo de internação, internações anteriores, serviço e um desfecho booleano.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9"/>
          <p:cNvSpPr/>
          <p:nvPr/>
        </p:nvSpPr>
        <p:spPr>
          <a:xfrm>
            <a:off x="6891338" y="3354407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REPETIÇÃO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9"/>
          <p:cNvSpPr/>
          <p:nvPr/>
        </p:nvSpPr>
        <p:spPr>
          <a:xfrm>
            <a:off x="7034689" y="3743661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laço for percorrendo todos os registros e ao menos uma condição if / elif / else.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9"/>
          <p:cNvSpPr/>
          <p:nvPr/>
        </p:nvSpPr>
        <p:spPr>
          <a:xfrm>
            <a:off x="11520433" y="3354407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9"/>
          <p:cNvSpPr/>
          <p:nvPr/>
        </p:nvSpPr>
        <p:spPr>
          <a:xfrm>
            <a:off x="11663784" y="3743661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 contador ou acumulador produzindo uma pequena síntese.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9"/>
          <p:cNvSpPr/>
          <p:nvPr/>
        </p:nvSpPr>
        <p:spPr>
          <a:xfrm>
            <a:off x="2262242" y="5999091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FUNÇÕES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59"/>
          <p:cNvSpPr/>
          <p:nvPr/>
        </p:nvSpPr>
        <p:spPr>
          <a:xfrm>
            <a:off x="2405593" y="6388345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função com pelo menos um parâmetro e uma função que utilize return.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9"/>
          <p:cNvSpPr/>
          <p:nvPr/>
        </p:nvSpPr>
        <p:spPr>
          <a:xfrm>
            <a:off x="6891338" y="5999091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BIBLIOTECAS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9"/>
          <p:cNvSpPr/>
          <p:nvPr/>
        </p:nvSpPr>
        <p:spPr>
          <a:xfrm>
            <a:off x="7034689" y="6388345"/>
            <a:ext cx="42186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Uma chamada a uma função de math ou statistics.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9"/>
          <p:cNvSpPr/>
          <p:nvPr/>
        </p:nvSpPr>
        <p:spPr>
          <a:xfrm>
            <a:off x="11520433" y="5999091"/>
            <a:ext cx="4505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DOCUMENTAÇÃO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9"/>
          <p:cNvSpPr/>
          <p:nvPr/>
        </p:nvSpPr>
        <p:spPr>
          <a:xfrm>
            <a:off x="11663784" y="6388345"/>
            <a:ext cx="4218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Duas células de texto — objetivo e conclusão — e uma saída com f-string.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5" name="Google Shape;7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59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0"/>
          <p:cNvSpPr/>
          <p:nvPr/>
        </p:nvSpPr>
        <p:spPr>
          <a:xfrm>
            <a:off x="2642379" y="1829650"/>
            <a:ext cx="130032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Passo a passo da atividade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60"/>
          <p:cNvSpPr/>
          <p:nvPr/>
        </p:nvSpPr>
        <p:spPr>
          <a:xfrm>
            <a:off x="3828942" y="3045700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60"/>
          <p:cNvSpPr/>
          <p:nvPr/>
        </p:nvSpPr>
        <p:spPr>
          <a:xfrm>
            <a:off x="4028014" y="3236200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Escrever o objetivo em célula de texto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60"/>
          <p:cNvSpPr/>
          <p:nvPr/>
        </p:nvSpPr>
        <p:spPr>
          <a:xfrm>
            <a:off x="7524615" y="3045700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60"/>
          <p:cNvSpPr/>
          <p:nvPr/>
        </p:nvSpPr>
        <p:spPr>
          <a:xfrm>
            <a:off x="7723687" y="3236200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a lista de dicionários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60"/>
          <p:cNvSpPr/>
          <p:nvPr/>
        </p:nvSpPr>
        <p:spPr>
          <a:xfrm>
            <a:off x="11220287" y="3045700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60"/>
          <p:cNvSpPr/>
          <p:nvPr/>
        </p:nvSpPr>
        <p:spPr>
          <a:xfrm>
            <a:off x="11419360" y="3236200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Imprimir um registro para conferir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60"/>
          <p:cNvSpPr/>
          <p:nvPr/>
        </p:nvSpPr>
        <p:spPr>
          <a:xfrm>
            <a:off x="3828942" y="4346187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60"/>
          <p:cNvSpPr/>
          <p:nvPr/>
        </p:nvSpPr>
        <p:spPr>
          <a:xfrm>
            <a:off x="4028014" y="4536687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uma função com retorno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60"/>
          <p:cNvSpPr/>
          <p:nvPr/>
        </p:nvSpPr>
        <p:spPr>
          <a:xfrm>
            <a:off x="7524615" y="4346187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60"/>
          <p:cNvSpPr/>
          <p:nvPr/>
        </p:nvSpPr>
        <p:spPr>
          <a:xfrm>
            <a:off x="7723687" y="4536687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Aplicar a função em um laço for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60"/>
          <p:cNvSpPr/>
          <p:nvPr/>
        </p:nvSpPr>
        <p:spPr>
          <a:xfrm>
            <a:off x="11220287" y="4346187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60"/>
          <p:cNvSpPr/>
          <p:nvPr/>
        </p:nvSpPr>
        <p:spPr>
          <a:xfrm>
            <a:off x="11419360" y="4536687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Usar uma condição dentro do laço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60"/>
          <p:cNvSpPr/>
          <p:nvPr/>
        </p:nvSpPr>
        <p:spPr>
          <a:xfrm>
            <a:off x="3828942" y="5646674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0"/>
          <p:cNvSpPr/>
          <p:nvPr/>
        </p:nvSpPr>
        <p:spPr>
          <a:xfrm>
            <a:off x="4028014" y="5837174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Criar um contador ou acumulador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60"/>
          <p:cNvSpPr/>
          <p:nvPr/>
        </p:nvSpPr>
        <p:spPr>
          <a:xfrm>
            <a:off x="7524615" y="5646674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60"/>
          <p:cNvSpPr/>
          <p:nvPr/>
        </p:nvSpPr>
        <p:spPr>
          <a:xfrm>
            <a:off x="7723687" y="5837174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Usar uma função da biblioteca padrão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60"/>
          <p:cNvSpPr/>
          <p:nvPr/>
        </p:nvSpPr>
        <p:spPr>
          <a:xfrm>
            <a:off x="11220287" y="5646674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60"/>
          <p:cNvSpPr/>
          <p:nvPr/>
        </p:nvSpPr>
        <p:spPr>
          <a:xfrm>
            <a:off x="11419360" y="5837174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Mostrar a saída final organizada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60"/>
          <p:cNvSpPr/>
          <p:nvPr/>
        </p:nvSpPr>
        <p:spPr>
          <a:xfrm>
            <a:off x="3828942" y="6947161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60"/>
          <p:cNvSpPr/>
          <p:nvPr/>
        </p:nvSpPr>
        <p:spPr>
          <a:xfrm>
            <a:off x="4028014" y="7137661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Escrever uma conclusão curta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60"/>
          <p:cNvSpPr/>
          <p:nvPr/>
        </p:nvSpPr>
        <p:spPr>
          <a:xfrm>
            <a:off x="7524615" y="6947161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60"/>
          <p:cNvSpPr/>
          <p:nvPr/>
        </p:nvSpPr>
        <p:spPr>
          <a:xfrm>
            <a:off x="7723687" y="7137661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Reiniciar a sessão e executar tudo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60"/>
          <p:cNvSpPr/>
          <p:nvPr/>
        </p:nvSpPr>
        <p:spPr>
          <a:xfrm>
            <a:off x="11220287" y="6947161"/>
            <a:ext cx="3238500" cy="1052891"/>
          </a:xfrm>
          <a:prstGeom prst="roundRect">
            <a:avLst>
              <a:gd fmla="val 19902" name="adj"/>
            </a:avLst>
          </a:prstGeom>
          <a:solidFill>
            <a:srgbClr val="E3EF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60"/>
          <p:cNvSpPr/>
          <p:nvPr/>
        </p:nvSpPr>
        <p:spPr>
          <a:xfrm>
            <a:off x="11419360" y="7137661"/>
            <a:ext cx="2840355" cy="709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7800"/>
              </a:lnSpc>
              <a:spcBef>
                <a:spcPts val="0"/>
              </a:spcBef>
              <a:spcAft>
                <a:spcPts val="0"/>
              </a:spcAft>
              <a:buClr>
                <a:srgbClr val="002D46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2D46"/>
                </a:solidFill>
                <a:latin typeface="Arial"/>
                <a:ea typeface="Arial"/>
                <a:cs typeface="Arial"/>
                <a:sym typeface="Arial"/>
              </a:rPr>
              <a:t>Corrigir dependências e erros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7" name="Google Shape;82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60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61"/>
          <p:cNvSpPr/>
          <p:nvPr/>
        </p:nvSpPr>
        <p:spPr>
          <a:xfrm>
            <a:off x="2009875" y="2562825"/>
            <a:ext cx="14268300" cy="10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Como isso volta nas próximas aulas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61"/>
          <p:cNvSpPr/>
          <p:nvPr/>
        </p:nvSpPr>
        <p:spPr>
          <a:xfrm>
            <a:off x="2656521" y="4237281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AULA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61"/>
          <p:cNvSpPr/>
          <p:nvPr/>
        </p:nvSpPr>
        <p:spPr>
          <a:xfrm>
            <a:off x="2863881" y="4626535"/>
            <a:ext cx="61023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A lista de dicionários vira estrutura tabular com pandas, lida de arquivos CSV e Excel.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61"/>
          <p:cNvSpPr/>
          <p:nvPr/>
        </p:nvSpPr>
        <p:spPr>
          <a:xfrm>
            <a:off x="9114444" y="4237281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AULA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61"/>
          <p:cNvSpPr/>
          <p:nvPr/>
        </p:nvSpPr>
        <p:spPr>
          <a:xfrm>
            <a:off x="9321804" y="4626535"/>
            <a:ext cx="6102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Funções e condições ajudam a compreender limpeza, transformação e padronização — muitas vezes feitas direto sobre colunas.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61"/>
          <p:cNvSpPr/>
          <p:nvPr/>
        </p:nvSpPr>
        <p:spPr>
          <a:xfrm>
            <a:off x="2656521" y="6200324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AULA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61"/>
          <p:cNvSpPr/>
          <p:nvPr/>
        </p:nvSpPr>
        <p:spPr>
          <a:xfrm>
            <a:off x="2863881" y="6589578"/>
            <a:ext cx="6102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Contadores e transformações manuais servem de contraste para as operações vetorizadas com NumPy.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61"/>
          <p:cNvSpPr/>
          <p:nvPr/>
        </p:nvSpPr>
        <p:spPr>
          <a:xfrm>
            <a:off x="9114444" y="6200324"/>
            <a:ext cx="65169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5381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AULA 7 EM DIANTE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61"/>
          <p:cNvSpPr/>
          <p:nvPr/>
        </p:nvSpPr>
        <p:spPr>
          <a:xfrm>
            <a:off x="9321804" y="6589578"/>
            <a:ext cx="61023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1489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Exploração, visualização e estatística dependem de rotinas organizadas e reproduzíveis.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3" name="Google Shape;84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61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F6FB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2"/>
          <p:cNvSpPr/>
          <p:nvPr/>
        </p:nvSpPr>
        <p:spPr>
          <a:xfrm>
            <a:off x="7199688" y="721816"/>
            <a:ext cx="3888624" cy="1063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967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Para encerrar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62"/>
          <p:cNvSpPr/>
          <p:nvPr/>
        </p:nvSpPr>
        <p:spPr>
          <a:xfrm>
            <a:off x="2400462" y="1937877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2"/>
          <p:cNvSpPr/>
          <p:nvPr/>
        </p:nvSpPr>
        <p:spPr>
          <a:xfrm>
            <a:off x="2705154" y="222186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62"/>
          <p:cNvSpPr/>
          <p:nvPr/>
        </p:nvSpPr>
        <p:spPr>
          <a:xfrm>
            <a:off x="3137567" y="2204550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for repete uma operação sobre vários elementos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62"/>
          <p:cNvSpPr/>
          <p:nvPr/>
        </p:nvSpPr>
        <p:spPr>
          <a:xfrm>
            <a:off x="6972327" y="1937877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62"/>
          <p:cNvSpPr/>
          <p:nvPr/>
        </p:nvSpPr>
        <p:spPr>
          <a:xfrm>
            <a:off x="7277019" y="222186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62"/>
          <p:cNvSpPr/>
          <p:nvPr/>
        </p:nvSpPr>
        <p:spPr>
          <a:xfrm>
            <a:off x="7709432" y="2204550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while repete enquanto uma condição for verdadeira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62"/>
          <p:cNvSpPr/>
          <p:nvPr/>
        </p:nvSpPr>
        <p:spPr>
          <a:xfrm>
            <a:off x="11544192" y="1937877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62"/>
          <p:cNvSpPr/>
          <p:nvPr/>
        </p:nvSpPr>
        <p:spPr>
          <a:xfrm>
            <a:off x="11848883" y="2221869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2"/>
          <p:cNvSpPr/>
          <p:nvPr/>
        </p:nvSpPr>
        <p:spPr>
          <a:xfrm>
            <a:off x="12281297" y="2204550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if controla decisões e combina-se com laços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62"/>
          <p:cNvSpPr/>
          <p:nvPr/>
        </p:nvSpPr>
        <p:spPr>
          <a:xfrm>
            <a:off x="2400462" y="3787540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2"/>
          <p:cNvSpPr/>
          <p:nvPr/>
        </p:nvSpPr>
        <p:spPr>
          <a:xfrm>
            <a:off x="2705154" y="4071531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2"/>
          <p:cNvSpPr/>
          <p:nvPr/>
        </p:nvSpPr>
        <p:spPr>
          <a:xfrm>
            <a:off x="3137567" y="4054213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Funções organizam uma tarefa e reutilizam lógica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2"/>
          <p:cNvSpPr/>
          <p:nvPr/>
        </p:nvSpPr>
        <p:spPr>
          <a:xfrm>
            <a:off x="6972327" y="3787540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62"/>
          <p:cNvSpPr/>
          <p:nvPr/>
        </p:nvSpPr>
        <p:spPr>
          <a:xfrm>
            <a:off x="7277019" y="4071531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62"/>
          <p:cNvSpPr/>
          <p:nvPr/>
        </p:nvSpPr>
        <p:spPr>
          <a:xfrm>
            <a:off x="7709432" y="4054213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Parâmetros tornam funções mais gerais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2"/>
          <p:cNvSpPr/>
          <p:nvPr/>
        </p:nvSpPr>
        <p:spPr>
          <a:xfrm>
            <a:off x="11544192" y="3787540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62"/>
          <p:cNvSpPr/>
          <p:nvPr/>
        </p:nvSpPr>
        <p:spPr>
          <a:xfrm>
            <a:off x="11848883" y="4071531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2"/>
          <p:cNvSpPr/>
          <p:nvPr/>
        </p:nvSpPr>
        <p:spPr>
          <a:xfrm>
            <a:off x="12281297" y="4054213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return devolve um resultado para uso posterior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62"/>
          <p:cNvSpPr/>
          <p:nvPr/>
        </p:nvSpPr>
        <p:spPr>
          <a:xfrm>
            <a:off x="2400462" y="5637203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62"/>
          <p:cNvSpPr/>
          <p:nvPr/>
        </p:nvSpPr>
        <p:spPr>
          <a:xfrm>
            <a:off x="2705154" y="5921194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62"/>
          <p:cNvSpPr/>
          <p:nvPr/>
        </p:nvSpPr>
        <p:spPr>
          <a:xfrm>
            <a:off x="3137567" y="5903876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Bibliotecas trazem ferramentas já implementadas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62"/>
          <p:cNvSpPr/>
          <p:nvPr/>
        </p:nvSpPr>
        <p:spPr>
          <a:xfrm>
            <a:off x="6972327" y="5637203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2"/>
          <p:cNvSpPr/>
          <p:nvPr/>
        </p:nvSpPr>
        <p:spPr>
          <a:xfrm>
            <a:off x="7277019" y="5921194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62"/>
          <p:cNvSpPr/>
          <p:nvPr/>
        </p:nvSpPr>
        <p:spPr>
          <a:xfrm>
            <a:off x="7709432" y="5903876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O notebook registra código e raciocínio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62"/>
          <p:cNvSpPr/>
          <p:nvPr/>
        </p:nvSpPr>
        <p:spPr>
          <a:xfrm>
            <a:off x="11544192" y="5637203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62"/>
          <p:cNvSpPr/>
          <p:nvPr/>
        </p:nvSpPr>
        <p:spPr>
          <a:xfrm>
            <a:off x="11848883" y="5921194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62"/>
          <p:cNvSpPr/>
          <p:nvPr/>
        </p:nvSpPr>
        <p:spPr>
          <a:xfrm>
            <a:off x="12281297" y="5903876"/>
            <a:ext cx="3400595" cy="7632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Executar do início ao fim verifica reprodutibilidade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62"/>
          <p:cNvSpPr/>
          <p:nvPr/>
        </p:nvSpPr>
        <p:spPr>
          <a:xfrm>
            <a:off x="6972327" y="7486866"/>
            <a:ext cx="4343346" cy="1621144"/>
          </a:xfrm>
          <a:prstGeom prst="roundRect">
            <a:avLst>
              <a:gd fmla="val 1175" name="adj"/>
            </a:avLst>
          </a:prstGeom>
          <a:solidFill>
            <a:srgbClr val="FFFFFF"/>
          </a:solidFill>
          <a:ln>
            <a:noFill/>
          </a:ln>
          <a:effectLst>
            <a:outerShdw blurRad="19050" rotWithShape="0" algn="bl" dir="5400000" dist="9525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2"/>
          <p:cNvSpPr/>
          <p:nvPr/>
        </p:nvSpPr>
        <p:spPr>
          <a:xfrm>
            <a:off x="7277019" y="7770857"/>
            <a:ext cx="318113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7BB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BB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2"/>
          <p:cNvSpPr/>
          <p:nvPr/>
        </p:nvSpPr>
        <p:spPr>
          <a:xfrm>
            <a:off x="7709432" y="7753539"/>
            <a:ext cx="3400595" cy="112589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35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01E1D"/>
                </a:solidFill>
                <a:latin typeface="Arial"/>
                <a:ea typeface="Arial"/>
                <a:cs typeface="Arial"/>
                <a:sym typeface="Arial"/>
              </a:rPr>
              <a:t>Listas de dicionários não substituem bases tabulares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1" name="Google Shape;88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2370" y="9747836"/>
            <a:ext cx="734129" cy="354346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2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D46"/>
        </a:solidFill>
      </p:bgPr>
    </p:bg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3"/>
          <p:cNvSpPr/>
          <p:nvPr/>
        </p:nvSpPr>
        <p:spPr>
          <a:xfrm>
            <a:off x="7941766" y="1398173"/>
            <a:ext cx="2404467" cy="39244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8ABDD4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8ABDD4"/>
                </a:solidFill>
                <a:latin typeface="Arial"/>
                <a:ea typeface="Arial"/>
                <a:cs typeface="Arial"/>
                <a:sym typeface="Arial"/>
              </a:rPr>
              <a:t>PRÓXIMA AULA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63"/>
          <p:cNvSpPr/>
          <p:nvPr/>
        </p:nvSpPr>
        <p:spPr>
          <a:xfrm>
            <a:off x="2424863" y="2038133"/>
            <a:ext cx="13438137" cy="11079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36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Aula 4: tabelas com pandas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63"/>
          <p:cNvSpPr/>
          <p:nvPr/>
        </p:nvSpPr>
        <p:spPr>
          <a:xfrm>
            <a:off x="8686827" y="3317379"/>
            <a:ext cx="914346" cy="28548"/>
          </a:xfrm>
          <a:prstGeom prst="rect">
            <a:avLst/>
          </a:prstGeom>
          <a:solidFill>
            <a:srgbClr val="0088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63"/>
          <p:cNvSpPr/>
          <p:nvPr/>
        </p:nvSpPr>
        <p:spPr>
          <a:xfrm>
            <a:off x="4274475" y="3555375"/>
            <a:ext cx="9739200" cy="53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i="0" lang="en-US" sz="30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“Hoje aprendemos a fazer o computador repetir operações e a organizar a lógica em funções reutilizáveis. Com isso, já conseguimos processar vários registros. O próximo passo é deixar de construir esses registros manualmente e trabalhar com bases reais organizadas em linhas e colunas. Na próxima aula, vamos ler arquivos CSV e Excel e começar a manipular tabelas com pandas.”</a:t>
            </a:r>
            <a:endParaRPr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2" name="Google Shape;892;p63"/>
          <p:cNvSpPr txBox="1"/>
          <p:nvPr>
            <p:ph idx="12" type="sldNum"/>
          </p:nvPr>
        </p:nvSpPr>
        <p:spPr>
          <a:xfrm>
            <a:off x="17113568" y="9499702"/>
            <a:ext cx="1097400" cy="787500"/>
          </a:xfrm>
          <a:prstGeom prst="rect">
            <a:avLst/>
          </a:prstGeom>
        </p:spPr>
        <p:txBody>
          <a:bodyPr anchorCtr="0" anchor="t" bIns="167625" lIns="167625" spcFirstLastPara="1" rIns="167625" wrap="square" tIns="1676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