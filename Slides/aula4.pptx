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</p:sldIdLst>
  <p:sldSz cy="10287000" cx="18288000"/>
  <p:notesSz cx="10287000" cy="18288000"/>
  <p:embeddedFontLst>
    <p:embeddedFont>
      <p:font typeface="Source Serif 4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font" Target="fonts/SourceSerif4-regular.fntdata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SourceSerif4-italic.fntdata"/><Relationship Id="rId10" Type="http://schemas.openxmlformats.org/officeDocument/2006/relationships/slide" Target="slides/slide6.xml"/><Relationship Id="rId54" Type="http://schemas.openxmlformats.org/officeDocument/2006/relationships/font" Target="fonts/SourceSerif4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schemas.openxmlformats.org/officeDocument/2006/relationships/font" Target="fonts/SourceSerif4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Abrir a aula 4 retomando o fechamento da aula anterior.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b9236ca59_0_24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fb9236ca59_0_24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fb9236ca59_0_24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g3fb9236ca59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fb9236ca59_0_24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fb9236ca59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b9236ca59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b9236ca59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fb9236ca59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b9236ca59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b9236ca59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fb9236ca59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b9236ca59_0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b9236ca59_0_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fb9236ca59_0_1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9236ca59_0_2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9236ca59_0_2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b9236ca59_0_2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 percurso da aula em seis blocos.</a:t>
            </a:r>
            <a:endParaRPr/>
          </a:p>
        </p:txBody>
      </p:sp>
      <p:sp>
        <p:nvSpPr>
          <p:cNvPr id="134" name="Google Shape;1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Frase de abertura sugerida. Ler com calma.</a:t>
            </a:r>
            <a:endParaRPr/>
          </a:p>
        </p:txBody>
      </p:sp>
      <p:sp>
        <p:nvSpPr>
          <p:cNvPr id="152" name="Google Shape;1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Anunciar o conteúdo da aula.</a:t>
            </a:r>
            <a:endParaRPr/>
          </a:p>
        </p:txBody>
      </p:sp>
      <p:sp>
        <p:nvSpPr>
          <p:cNvPr id="159" name="Google Shape;1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transição de registros individuais para bases tabulares.</a:t>
            </a:r>
            <a:endParaRPr/>
          </a:p>
        </p:txBody>
      </p:sp>
      <p:sp>
        <p:nvSpPr>
          <p:cNvPr id="189" name="Google Shape;1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Começar exatamente do ponto em que a Aula 3 terminou.</a:t>
            </a:r>
            <a:endParaRPr/>
          </a:p>
        </p:txBody>
      </p:sp>
      <p:sp>
        <p:nvSpPr>
          <p:cNvPr id="203" name="Google Shape;2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Desenhar a transformação antes de qualquer comando do pandas.</a:t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Quase todo o restante da disciplina depende dessa organização.</a:t>
            </a:r>
            <a:endParaRPr/>
          </a:p>
        </p:txBody>
      </p:sp>
      <p:sp>
        <p:nvSpPr>
          <p:cNvPr id="226" name="Google Shape;2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pandas passa a acompanhar praticamente todo o curso.</a:t>
            </a:r>
            <a:endParaRPr/>
          </a:p>
        </p:txBody>
      </p:sp>
      <p:sp>
        <p:nvSpPr>
          <p:cNvPr id="233" name="Google Shape;2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a biblioteca e o alias convencional.</a:t>
            </a:r>
            <a:endParaRPr/>
          </a:p>
        </p:txBody>
      </p:sp>
      <p:sp>
        <p:nvSpPr>
          <p:cNvPr id="256" name="Google Shape;25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Usar exatamente os registros da Aula 3.</a:t>
            </a:r>
            <a:endParaRPr/>
          </a:p>
        </p:txBody>
      </p:sp>
      <p:sp>
        <p:nvSpPr>
          <p:cNvPr id="276" name="Google Shape;27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Apenas os conceitos necessários para navegar pela tabela.</a:t>
            </a:r>
            <a:endParaRPr/>
          </a:p>
        </p:txBody>
      </p:sp>
      <p:sp>
        <p:nvSpPr>
          <p:cNvPr id="299" name="Google Shape;29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Diferentes operações do pandas retornam diferentes tipos de objeto.</a:t>
            </a:r>
            <a:endParaRPr/>
          </a:p>
        </p:txBody>
      </p:sp>
      <p:sp>
        <p:nvSpPr>
          <p:cNvPr id="310" name="Google Shape;31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b9236ca59_0_338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fb9236ca59_0_338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b9236ca59_0_338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fb9236ca59_0_3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fb9236ca59_0_338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fb9236ca59_0_3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Preparar as duas versões da mesma base antes da aula.</a:t>
            </a:r>
            <a:endParaRPr/>
          </a:p>
        </p:txBody>
      </p:sp>
      <p:sp>
        <p:nvSpPr>
          <p:cNvPr id="350" name="Google Shape;35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 forma mais simples para uma aula síncrona.</a:t>
            </a:r>
            <a:endParaRPr/>
          </a:p>
        </p:txBody>
      </p:sp>
      <p:sp>
        <p:nvSpPr>
          <p:cNvPr id="364" name="Google Shape;36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Comando básico e verificação imediata.</a:t>
            </a:r>
            <a:endParaRPr/>
          </a:p>
        </p:txBody>
      </p:sp>
      <p:sp>
        <p:nvSpPr>
          <p:cNvPr id="381" name="Google Shape;38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apenas como exemplo, sem aprofundar parâmetros.</a:t>
            </a:r>
            <a:endParaRPr/>
          </a:p>
        </p:txBody>
      </p:sp>
      <p:sp>
        <p:nvSpPr>
          <p:cNvPr id="401" name="Google Shape;40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mesma base em formato Excel.</a:t>
            </a:r>
            <a:endParaRPr/>
          </a:p>
        </p:txBody>
      </p:sp>
      <p:sp>
        <p:nvSpPr>
          <p:cNvPr id="410" name="Google Shape;41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Uma rotina curta que deve se tornar hábito.</a:t>
            </a:r>
            <a:endParaRPr/>
          </a:p>
        </p:txBody>
      </p:sp>
      <p:sp>
        <p:nvSpPr>
          <p:cNvPr id="426" name="Google Shape;42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Repetir a pergunta sempre que uma base for carregada.</a:t>
            </a:r>
            <a:endParaRPr/>
          </a:p>
        </p:txBody>
      </p:sp>
      <p:sp>
        <p:nvSpPr>
          <p:cNvPr id="448" name="Google Shape;44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Relacionar com os tipos Python da Aula 2.</a:t>
            </a:r>
            <a:endParaRPr/>
          </a:p>
        </p:txBody>
      </p:sp>
      <p:sp>
        <p:nvSpPr>
          <p:cNvPr id="455" name="Google Shape;45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operação mais simples: selecionar uma variável da base.</a:t>
            </a:r>
            <a:endParaRPr/>
          </a:p>
        </p:txBody>
      </p:sp>
      <p:sp>
        <p:nvSpPr>
          <p:cNvPr id="479" name="Google Shape;47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Dois pares de colchetes porque passamos uma lista.</a:t>
            </a:r>
            <a:endParaRPr/>
          </a:p>
        </p:txBody>
      </p:sp>
      <p:sp>
        <p:nvSpPr>
          <p:cNvPr id="492" name="Google Shape;49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Seleção baseada em posição.</a:t>
            </a:r>
            <a:endParaRPr/>
          </a:p>
        </p:txBody>
      </p:sp>
      <p:sp>
        <p:nvSpPr>
          <p:cNvPr id="510" name="Google Shape;510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Seleção baseada em rótulos e condições.</a:t>
            </a:r>
            <a:endParaRPr/>
          </a:p>
        </p:txBody>
      </p:sp>
      <p:sp>
        <p:nvSpPr>
          <p:cNvPr id="523" name="Google Shape;52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Retomar o if da Aula 2 na versão tabular.</a:t>
            </a:r>
            <a:endParaRPr/>
          </a:p>
        </p:txBody>
      </p:sp>
      <p:sp>
        <p:nvSpPr>
          <p:cNvPr id="536" name="Google Shape;536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Filtros também funcionam com texto.</a:t>
            </a:r>
            <a:endParaRPr/>
          </a:p>
        </p:txBody>
      </p:sp>
      <p:sp>
        <p:nvSpPr>
          <p:cNvPr id="549" name="Google Shape;54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Primeira operação de organização estrutural.</a:t>
            </a:r>
            <a:endParaRPr/>
          </a:p>
        </p:txBody>
      </p:sp>
      <p:sp>
        <p:nvSpPr>
          <p:cNvPr id="561" name="Google Shape;56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Postura de auditoria inicial: detectar, não corrigir.</a:t>
            </a:r>
            <a:endParaRPr/>
          </a:p>
        </p:txBody>
      </p:sp>
      <p:sp>
        <p:nvSpPr>
          <p:cNvPr id="585" name="Google Shape;585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Quatro comandos simples para apoiar o diagnóstico.</a:t>
            </a:r>
            <a:endParaRPr/>
          </a:p>
        </p:txBody>
      </p:sp>
      <p:sp>
        <p:nvSpPr>
          <p:cNvPr id="615" name="Google Shape;615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 situação típica sem resolvê-la.</a:t>
            </a:r>
            <a:endParaRPr/>
          </a:p>
        </p:txBody>
      </p:sp>
      <p:sp>
        <p:nvSpPr>
          <p:cNvPr id="624" name="Google Shape;624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Comparação explícita para consolidar a progressão.</a:t>
            </a:r>
            <a:endParaRPr/>
          </a:p>
        </p:txBody>
      </p:sp>
      <p:sp>
        <p:nvSpPr>
          <p:cNvPr id="640" name="Google Shape;640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Perguntar o que cada objeto representa.</a:t>
            </a:r>
            <a:endParaRPr/>
          </a:p>
        </p:txBody>
      </p:sp>
      <p:sp>
        <p:nvSpPr>
          <p:cNvPr id="653" name="Google Shape;653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Antecipar os erros e estimular a leitura das mensagens.</a:t>
            </a:r>
            <a:endParaRPr/>
          </a:p>
        </p:txBody>
      </p:sp>
      <p:sp>
        <p:nvSpPr>
          <p:cNvPr id="665" name="Google Shape;665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Como o conteúdo será reutilizado.</a:t>
            </a:r>
            <a:endParaRPr/>
          </a:p>
        </p:txBody>
      </p:sp>
      <p:sp>
        <p:nvSpPr>
          <p:cNvPr id="696" name="Google Shape;696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Frase de transição para a Aula 5.</a:t>
            </a:r>
            <a:endParaRPr/>
          </a:p>
        </p:txBody>
      </p:sp>
      <p:sp>
        <p:nvSpPr>
          <p:cNvPr id="710" name="Google Shape;710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E3EFF8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9563154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282119" y="9784058"/>
            <a:ext cx="6479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Fund. de Programação, Dados e Estatística para IA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2" title="einsteinlogo.png"/>
          <p:cNvPicPr preferRelativeResize="0"/>
          <p:nvPr/>
        </p:nvPicPr>
        <p:blipFill rotWithShape="1">
          <a:blip r:embed="rId2">
            <a:alphaModFix/>
          </a:blip>
          <a:srcRect b="21526" l="0" r="0" t="0"/>
          <a:stretch/>
        </p:blipFill>
        <p:spPr>
          <a:xfrm>
            <a:off x="784975" y="9657075"/>
            <a:ext cx="761848" cy="536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 1">
  <p:cSld name="CUSTOM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4632130" y="2958554"/>
            <a:ext cx="9023591" cy="1830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80B7D0"/>
              </a:buClr>
              <a:buSzPts val="4200"/>
              <a:buFont typeface="Source Serif 4"/>
              <a:buNone/>
            </a:pPr>
            <a:r>
              <a:rPr b="1" i="0" lang="en-US" sz="4200" u="none" cap="none" strike="noStrike">
                <a:solidFill>
                  <a:srgbClr val="80B7D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Pandas I: estruturas tabulares, leitura de arquivos e organização de bases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5300350" y="4960293"/>
            <a:ext cx="2636074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27/08 a 03/12/2026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7988052" y="4960293"/>
            <a:ext cx="159097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|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8248903" y="4960293"/>
            <a:ext cx="1533317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19h às 21h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9883973" y="4960293"/>
            <a:ext cx="159097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|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10081855" y="4960293"/>
            <a:ext cx="2918639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Ao vivo — Via Zoom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686800" y="5612755"/>
            <a:ext cx="914400" cy="28575"/>
          </a:xfrm>
          <a:prstGeom prst="rect">
            <a:avLst/>
          </a:prstGeom>
          <a:solidFill>
            <a:srgbClr val="0088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7198958" y="5927080"/>
            <a:ext cx="3889936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80B7D0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80B7D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DOCENTES RESPONSÁVEIS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9488" y="6528941"/>
            <a:ext cx="1257300" cy="1257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4474399" y="7938641"/>
            <a:ext cx="2687479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Prof. Felipe Fanchini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4657" y="6528941"/>
            <a:ext cx="1257300" cy="1257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7779335" y="7938641"/>
            <a:ext cx="2587943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Prof. Felipe Mahlow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" name="Google Shape;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70519" y="6528941"/>
            <a:ext cx="1257300" cy="1257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10977667" y="7938641"/>
            <a:ext cx="2843004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19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ource Serif 4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Prof. Giovanni Franco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805072" y="1644950"/>
            <a:ext cx="76875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Mestrado e Doutorado Stricto Sensu em Ciências da Saúde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4" title="einstein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5303" y="1472890"/>
            <a:ext cx="832541" cy="74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5"/>
          <p:cNvGrpSpPr/>
          <p:nvPr/>
        </p:nvGrpSpPr>
        <p:grpSpPr>
          <a:xfrm>
            <a:off x="0" y="9563100"/>
            <a:ext cx="18288000" cy="723900"/>
            <a:chOff x="0" y="9563100"/>
            <a:chExt cx="18288000" cy="723900"/>
          </a:xfrm>
        </p:grpSpPr>
        <p:sp>
          <p:nvSpPr>
            <p:cNvPr id="45" name="Google Shape;45;p5"/>
            <p:cNvSpPr/>
            <p:nvPr/>
          </p:nvSpPr>
          <p:spPr>
            <a:xfrm>
              <a:off x="0" y="9563100"/>
              <a:ext cx="18288000" cy="723900"/>
            </a:xfrm>
            <a:prstGeom prst="rect">
              <a:avLst/>
            </a:prstGeom>
            <a:solidFill>
              <a:srgbClr val="0060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5"/>
            <p:cNvSpPr txBox="1"/>
            <p:nvPr/>
          </p:nvSpPr>
          <p:spPr>
            <a:xfrm>
              <a:off x="1836875" y="9724950"/>
              <a:ext cx="6477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Fund. de Programação, Dados e Estatística para IA</a:t>
              </a:r>
              <a:endParaRPr b="0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" name="Google Shape;47;p5"/>
            <p:cNvPicPr preferRelativeResize="0"/>
            <p:nvPr/>
          </p:nvPicPr>
          <p:blipFill rotWithShape="1">
            <a:blip r:embed="rId4">
              <a:alphaModFix/>
            </a:blip>
            <a:srcRect b="21532" l="0" r="0" t="0"/>
            <a:stretch/>
          </p:blipFill>
          <p:spPr>
            <a:xfrm>
              <a:off x="784860" y="9656445"/>
              <a:ext cx="761700" cy="536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" name="Google Shape;48;p5"/>
          <p:cNvGrpSpPr/>
          <p:nvPr/>
        </p:nvGrpSpPr>
        <p:grpSpPr>
          <a:xfrm>
            <a:off x="2286000" y="2476500"/>
            <a:ext cx="13716000" cy="4572000"/>
            <a:chOff x="0" y="0"/>
            <a:chExt cx="13716000" cy="4572000"/>
          </a:xfrm>
        </p:grpSpPr>
        <p:sp>
          <p:nvSpPr>
            <p:cNvPr id="49" name="Google Shape;49;p5"/>
            <p:cNvSpPr/>
            <p:nvPr/>
          </p:nvSpPr>
          <p:spPr>
            <a:xfrm>
              <a:off x="0" y="0"/>
              <a:ext cx="137160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9050">
              <a:solidFill>
                <a:srgbClr val="D3E3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6400800" y="685800"/>
              <a:ext cx="914400" cy="914400"/>
            </a:xfrm>
            <a:prstGeom prst="ellipse">
              <a:avLst/>
            </a:prstGeom>
            <a:solidFill>
              <a:srgbClr val="E1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 txBox="1"/>
            <p:nvPr/>
          </p:nvSpPr>
          <p:spPr>
            <a:xfrm>
              <a:off x="6369150" y="531450"/>
              <a:ext cx="977700" cy="12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007BBA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↺</a:t>
              </a:r>
              <a:endParaRPr b="1" sz="4800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52" name="Google Shape;52;p5"/>
          <p:cNvGrpSpPr/>
          <p:nvPr/>
        </p:nvGrpSpPr>
        <p:grpSpPr>
          <a:xfrm>
            <a:off x="2857500" y="4572000"/>
            <a:ext cx="12573000" cy="1809750"/>
            <a:chOff x="2857500" y="4572000"/>
            <a:chExt cx="12573000" cy="1809750"/>
          </a:xfrm>
        </p:grpSpPr>
        <p:sp>
          <p:nvSpPr>
            <p:cNvPr id="53" name="Google Shape;53;p5"/>
            <p:cNvSpPr txBox="1"/>
            <p:nvPr/>
          </p:nvSpPr>
          <p:spPr>
            <a:xfrm>
              <a:off x="2857500" y="4572000"/>
              <a:ext cx="12573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Revisão da aula anterior</a:t>
              </a:r>
              <a:endParaRPr b="1" sz="520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54" name="Google Shape;54;p5"/>
            <p:cNvSpPr txBox="1"/>
            <p:nvPr/>
          </p:nvSpPr>
          <p:spPr>
            <a:xfrm>
              <a:off x="2857500" y="5619750"/>
              <a:ext cx="1257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5">
                  <a:solidFill>
                    <a:srgbClr val="5555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Antes de iniciarmos o conteúdo de hoje, vamos recapitular </a:t>
              </a:r>
              <a:r>
                <a:rPr lang="en-US" sz="2405">
                  <a:solidFill>
                    <a:srgbClr val="5555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com exercícios, alguns</a:t>
              </a:r>
              <a:r>
                <a:rPr b="0" lang="en-US" sz="2405">
                  <a:solidFill>
                    <a:srgbClr val="5555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 conceitos fundamentais </a:t>
              </a:r>
              <a:r>
                <a:rPr b="1" lang="en-US" sz="2405">
                  <a:solidFill>
                    <a:srgbClr val="00608C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apresentados</a:t>
              </a:r>
              <a:r>
                <a:rPr b="1" lang="en-US" sz="2405">
                  <a:solidFill>
                    <a:srgbClr val="00608C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 </a:t>
              </a:r>
              <a:r>
                <a:rPr b="0" lang="en-US" sz="2405">
                  <a:solidFill>
                    <a:srgbClr val="5555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na última aula.</a:t>
              </a:r>
              <a:endParaRPr b="0" sz="2405">
                <a:solidFill>
                  <a:srgbClr val="55555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2286000" y="1905000"/>
            <a:ext cx="13716000" cy="5905500"/>
            <a:chOff x="0" y="0"/>
            <a:chExt cx="13716000" cy="5905500"/>
          </a:xfrm>
        </p:grpSpPr>
        <p:sp>
          <p:nvSpPr>
            <p:cNvPr id="61" name="Google Shape;61;p6"/>
            <p:cNvSpPr/>
            <p:nvPr/>
          </p:nvSpPr>
          <p:spPr>
            <a:xfrm>
              <a:off x="0" y="0"/>
              <a:ext cx="13716000" cy="5905500"/>
            </a:xfrm>
            <a:prstGeom prst="roundRect">
              <a:avLst>
                <a:gd fmla="val 2580" name="adj"/>
              </a:avLst>
            </a:prstGeom>
            <a:solidFill>
              <a:srgbClr val="FFFFFF"/>
            </a:solidFill>
            <a:ln cap="flat" cmpd="sng" w="19050">
              <a:solidFill>
                <a:srgbClr val="D3E3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6400800" y="304800"/>
              <a:ext cx="914400" cy="914400"/>
            </a:xfrm>
            <a:prstGeom prst="ellipse">
              <a:avLst/>
            </a:prstGeom>
            <a:solidFill>
              <a:srgbClr val="E1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 txBox="1"/>
            <p:nvPr/>
          </p:nvSpPr>
          <p:spPr>
            <a:xfrm>
              <a:off x="6400800" y="366141"/>
              <a:ext cx="9144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rgbClr val="007BB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4200">
                <a:solidFill>
                  <a:srgbClr val="007BB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4" name="Google Shape;64;p6"/>
            <p:cNvSpPr txBox="1"/>
            <p:nvPr/>
          </p:nvSpPr>
          <p:spPr>
            <a:xfrm>
              <a:off x="762000" y="1524000"/>
              <a:ext cx="1219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Exercício 1 — Mostrando os dados</a:t>
              </a:r>
              <a:endParaRPr b="1" sz="360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65" name="Google Shape;65;p6"/>
            <p:cNvSpPr txBox="1"/>
            <p:nvPr/>
          </p:nvSpPr>
          <p:spPr>
            <a:xfrm>
              <a:off x="762000" y="2476500"/>
              <a:ext cx="1219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5555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Considere a seguinte lista declarada em Python:</a:t>
              </a:r>
              <a:endParaRPr sz="2200">
                <a:solidFill>
                  <a:srgbClr val="55555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4000500" y="3143250"/>
              <a:ext cx="5715000" cy="857400"/>
            </a:xfrm>
            <a:prstGeom prst="roundRect">
              <a:avLst>
                <a:gd fmla="val 888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6"/>
            <p:cNvSpPr txBox="1"/>
            <p:nvPr/>
          </p:nvSpPr>
          <p:spPr>
            <a:xfrm>
              <a:off x="4000500" y="3143250"/>
              <a:ext cx="5715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idades = [20, 35, 42, 67, 51]</a:t>
              </a:r>
              <a:endParaRPr b="1" sz="24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8" name="Google Shape;68;p6"/>
            <p:cNvSpPr txBox="1"/>
            <p:nvPr/>
          </p:nvSpPr>
          <p:spPr>
            <a:xfrm>
              <a:off x="762000" y="4381500"/>
              <a:ext cx="12192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Escreva um programa que </a:t>
              </a:r>
              <a:r>
                <a:rPr b="1" lang="en-US" sz="2600">
                  <a:solidFill>
                    <a:srgbClr val="00608C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mostre todas as idades</a:t>
              </a:r>
              <a:r>
                <a:rPr lang="en-US" sz="2600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, uma por linha.</a:t>
              </a:r>
              <a:endParaRPr sz="260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sp>
        <p:nvSpPr>
          <p:cNvPr id="69" name="Google Shape;69;p6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6"/>
          <p:cNvGrpSpPr/>
          <p:nvPr/>
        </p:nvGrpSpPr>
        <p:grpSpPr>
          <a:xfrm>
            <a:off x="1787400" y="9785025"/>
            <a:ext cx="6477000" cy="400200"/>
            <a:chOff x="0" y="0"/>
            <a:chExt cx="6477000" cy="400200"/>
          </a:xfrm>
        </p:grpSpPr>
        <p:sp>
          <p:nvSpPr>
            <p:cNvPr id="71" name="Google Shape;71;p6"/>
            <p:cNvSpPr/>
            <p:nvPr/>
          </p:nvSpPr>
          <p:spPr>
            <a:xfrm>
              <a:off x="0" y="0"/>
              <a:ext cx="64770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6"/>
            <p:cNvSpPr txBox="1"/>
            <p:nvPr/>
          </p:nvSpPr>
          <p:spPr>
            <a:xfrm>
              <a:off x="0" y="0"/>
              <a:ext cx="6477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Fund. de Programação, Dados e Estatística para IA</a:t>
              </a: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3" name="Google Shape;73;p6"/>
          <p:cNvPicPr preferRelativeResize="0"/>
          <p:nvPr/>
        </p:nvPicPr>
        <p:blipFill rotWithShape="1">
          <a:blip r:embed="rId4">
            <a:alphaModFix/>
          </a:blip>
          <a:srcRect b="21496" l="0" r="0" t="24"/>
          <a:stretch/>
        </p:blipFill>
        <p:spPr>
          <a:xfrm>
            <a:off x="781050" y="9648825"/>
            <a:ext cx="762000" cy="53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7"/>
          <p:cNvGrpSpPr/>
          <p:nvPr/>
        </p:nvGrpSpPr>
        <p:grpSpPr>
          <a:xfrm>
            <a:off x="2286000" y="1905000"/>
            <a:ext cx="13716000" cy="5905500"/>
            <a:chOff x="0" y="0"/>
            <a:chExt cx="13716000" cy="5905500"/>
          </a:xfrm>
        </p:grpSpPr>
        <p:sp>
          <p:nvSpPr>
            <p:cNvPr id="80" name="Google Shape;80;p7"/>
            <p:cNvSpPr/>
            <p:nvPr/>
          </p:nvSpPr>
          <p:spPr>
            <a:xfrm>
              <a:off x="0" y="0"/>
              <a:ext cx="13716000" cy="5905500"/>
            </a:xfrm>
            <a:prstGeom prst="roundRect">
              <a:avLst>
                <a:gd fmla="val 2580" name="adj"/>
              </a:avLst>
            </a:prstGeom>
            <a:solidFill>
              <a:srgbClr val="FFFFFF"/>
            </a:solidFill>
            <a:ln cap="flat" cmpd="sng" w="19050">
              <a:solidFill>
                <a:srgbClr val="D3E3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6400800" y="304800"/>
              <a:ext cx="914400" cy="914400"/>
            </a:xfrm>
            <a:prstGeom prst="ellipse">
              <a:avLst/>
            </a:prstGeom>
            <a:solidFill>
              <a:srgbClr val="E1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7"/>
            <p:cNvSpPr txBox="1"/>
            <p:nvPr/>
          </p:nvSpPr>
          <p:spPr>
            <a:xfrm>
              <a:off x="6400800" y="366141"/>
              <a:ext cx="9144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rgbClr val="007BB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4200">
                <a:solidFill>
                  <a:srgbClr val="007BB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3" name="Google Shape;83;p7"/>
            <p:cNvSpPr txBox="1"/>
            <p:nvPr/>
          </p:nvSpPr>
          <p:spPr>
            <a:xfrm>
              <a:off x="762000" y="1524000"/>
              <a:ext cx="1219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Exercício 2 — Transformando valores</a:t>
              </a:r>
              <a:endParaRPr b="1" sz="360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84" name="Google Shape;84;p7"/>
            <p:cNvSpPr txBox="1"/>
            <p:nvPr/>
          </p:nvSpPr>
          <p:spPr>
            <a:xfrm>
              <a:off x="762000" y="2476500"/>
              <a:ext cx="12192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5555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Considere a seguinte lista declarada em Python:</a:t>
              </a:r>
              <a:endParaRPr b="0" sz="2200">
                <a:solidFill>
                  <a:srgbClr val="55555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2571750" y="3143250"/>
              <a:ext cx="8572500" cy="857400"/>
            </a:xfrm>
            <a:prstGeom prst="roundRect">
              <a:avLst>
                <a:gd fmla="val 8887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7"/>
            <p:cNvSpPr txBox="1"/>
            <p:nvPr/>
          </p:nvSpPr>
          <p:spPr>
            <a:xfrm>
              <a:off x="2571750" y="3143250"/>
              <a:ext cx="8572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temperaturas = [36.5, 37.2, 38.1, 36.8, 39.0]</a:t>
              </a:r>
              <a:endParaRPr b="1" sz="24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7" name="Google Shape;87;p7"/>
            <p:cNvSpPr txBox="1"/>
            <p:nvPr/>
          </p:nvSpPr>
          <p:spPr>
            <a:xfrm>
              <a:off x="762000" y="4381500"/>
              <a:ext cx="12192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600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Escreva um programa que mostre, para cada temperatura, quanto ela seria se </a:t>
              </a:r>
              <a:r>
                <a:rPr b="1" lang="en-US" sz="2600">
                  <a:solidFill>
                    <a:srgbClr val="00608C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aumentasse 0.5 °C</a:t>
              </a:r>
              <a:r>
                <a:rPr b="0" lang="en-US" sz="2600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.</a:t>
              </a:r>
              <a:endParaRPr b="0" sz="260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sp>
        <p:nvSpPr>
          <p:cNvPr id="88" name="Google Shape;88;p7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" name="Google Shape;89;p7"/>
          <p:cNvGrpSpPr/>
          <p:nvPr/>
        </p:nvGrpSpPr>
        <p:grpSpPr>
          <a:xfrm>
            <a:off x="1787400" y="9785025"/>
            <a:ext cx="6477000" cy="400200"/>
            <a:chOff x="0" y="0"/>
            <a:chExt cx="6477000" cy="400200"/>
          </a:xfrm>
        </p:grpSpPr>
        <p:sp>
          <p:nvSpPr>
            <p:cNvPr id="90" name="Google Shape;90;p7"/>
            <p:cNvSpPr/>
            <p:nvPr/>
          </p:nvSpPr>
          <p:spPr>
            <a:xfrm>
              <a:off x="0" y="0"/>
              <a:ext cx="64770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7"/>
            <p:cNvSpPr txBox="1"/>
            <p:nvPr/>
          </p:nvSpPr>
          <p:spPr>
            <a:xfrm>
              <a:off x="0" y="0"/>
              <a:ext cx="6477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Fund. de Programação, Dados e Estatística para IA</a:t>
              </a: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2" name="Google Shape;92;p7"/>
          <p:cNvPicPr preferRelativeResize="0"/>
          <p:nvPr/>
        </p:nvPicPr>
        <p:blipFill rotWithShape="1">
          <a:blip r:embed="rId4">
            <a:alphaModFix/>
          </a:blip>
          <a:srcRect b="21496" l="0" r="0" t="24"/>
          <a:stretch/>
        </p:blipFill>
        <p:spPr>
          <a:xfrm>
            <a:off x="781050" y="9648825"/>
            <a:ext cx="762000" cy="53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8"/>
          <p:cNvGrpSpPr/>
          <p:nvPr/>
        </p:nvGrpSpPr>
        <p:grpSpPr>
          <a:xfrm>
            <a:off x="2286000" y="1905000"/>
            <a:ext cx="13716000" cy="5905500"/>
            <a:chOff x="0" y="0"/>
            <a:chExt cx="13716000" cy="5905500"/>
          </a:xfrm>
        </p:grpSpPr>
        <p:sp>
          <p:nvSpPr>
            <p:cNvPr id="99" name="Google Shape;99;p8"/>
            <p:cNvSpPr/>
            <p:nvPr/>
          </p:nvSpPr>
          <p:spPr>
            <a:xfrm>
              <a:off x="0" y="0"/>
              <a:ext cx="13716000" cy="5905500"/>
            </a:xfrm>
            <a:prstGeom prst="roundRect">
              <a:avLst>
                <a:gd fmla="val 2580" name="adj"/>
              </a:avLst>
            </a:prstGeom>
            <a:solidFill>
              <a:srgbClr val="FFFFFF"/>
            </a:solidFill>
            <a:ln cap="flat" cmpd="sng" w="19050">
              <a:solidFill>
                <a:srgbClr val="D3E3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6400800" y="304800"/>
              <a:ext cx="914400" cy="914400"/>
            </a:xfrm>
            <a:prstGeom prst="ellipse">
              <a:avLst/>
            </a:prstGeom>
            <a:solidFill>
              <a:srgbClr val="E1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8"/>
            <p:cNvSpPr txBox="1"/>
            <p:nvPr/>
          </p:nvSpPr>
          <p:spPr>
            <a:xfrm>
              <a:off x="6400800" y="366141"/>
              <a:ext cx="9144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rgbClr val="007BB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4200">
                <a:solidFill>
                  <a:srgbClr val="007BB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2" name="Google Shape;102;p8"/>
            <p:cNvSpPr txBox="1"/>
            <p:nvPr/>
          </p:nvSpPr>
          <p:spPr>
            <a:xfrm>
              <a:off x="762000" y="1524000"/>
              <a:ext cx="1219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Exercício 3 — Classificando registros</a:t>
              </a:r>
              <a:endParaRPr b="1" sz="360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03" name="Google Shape;103;p8"/>
            <p:cNvSpPr txBox="1"/>
            <p:nvPr/>
          </p:nvSpPr>
          <p:spPr>
            <a:xfrm>
              <a:off x="762000" y="2476500"/>
              <a:ext cx="12192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5555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Considere a seguinte lista declarada em Python:</a:t>
              </a:r>
              <a:endParaRPr b="0" sz="2200">
                <a:solidFill>
                  <a:srgbClr val="55555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3679050" y="3143400"/>
              <a:ext cx="6357900" cy="857400"/>
            </a:xfrm>
            <a:prstGeom prst="roundRect">
              <a:avLst>
                <a:gd fmla="val 8886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8"/>
            <p:cNvSpPr txBox="1"/>
            <p:nvPr/>
          </p:nvSpPr>
          <p:spPr>
            <a:xfrm>
              <a:off x="3679050" y="3143400"/>
              <a:ext cx="63579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idades = [12, 19, 17, 25, 63, 70]</a:t>
              </a:r>
              <a:endParaRPr b="1" sz="24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6" name="Google Shape;106;p8"/>
            <p:cNvSpPr txBox="1"/>
            <p:nvPr/>
          </p:nvSpPr>
          <p:spPr>
            <a:xfrm>
              <a:off x="762000" y="4381500"/>
              <a:ext cx="12192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60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Escreva um programa que mostre, para cada idade, a idade e uma mensagem informando se a pessoa é:</a:t>
              </a:r>
              <a:endParaRPr b="0" sz="186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60">
                  <a:solidFill>
                    <a:srgbClr val="00608C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menor de 18 anos</a:t>
              </a:r>
              <a:r>
                <a:rPr b="0" lang="en-US" sz="1860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 ou </a:t>
              </a:r>
              <a:r>
                <a:rPr b="1" lang="en-US" sz="1860">
                  <a:solidFill>
                    <a:srgbClr val="00608C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maior ou igual a 18 anos</a:t>
              </a:r>
              <a:r>
                <a:rPr b="0" lang="en-US" sz="1860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.</a:t>
              </a:r>
              <a:endParaRPr b="0" sz="186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sp>
        <p:nvSpPr>
          <p:cNvPr id="107" name="Google Shape;107;p8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8"/>
          <p:cNvGrpSpPr/>
          <p:nvPr/>
        </p:nvGrpSpPr>
        <p:grpSpPr>
          <a:xfrm>
            <a:off x="1787400" y="9785025"/>
            <a:ext cx="6477000" cy="400200"/>
            <a:chOff x="0" y="0"/>
            <a:chExt cx="6477000" cy="400200"/>
          </a:xfrm>
        </p:grpSpPr>
        <p:sp>
          <p:nvSpPr>
            <p:cNvPr id="109" name="Google Shape;109;p8"/>
            <p:cNvSpPr/>
            <p:nvPr/>
          </p:nvSpPr>
          <p:spPr>
            <a:xfrm>
              <a:off x="0" y="0"/>
              <a:ext cx="64770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8"/>
            <p:cNvSpPr txBox="1"/>
            <p:nvPr/>
          </p:nvSpPr>
          <p:spPr>
            <a:xfrm>
              <a:off x="0" y="0"/>
              <a:ext cx="6477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Fund. de Programação, Dados e Estatística para IA</a:t>
              </a: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1" name="Google Shape;111;p8"/>
          <p:cNvPicPr preferRelativeResize="0"/>
          <p:nvPr/>
        </p:nvPicPr>
        <p:blipFill rotWithShape="1">
          <a:blip r:embed="rId4">
            <a:alphaModFix/>
          </a:blip>
          <a:srcRect b="21496" l="0" r="0" t="24"/>
          <a:stretch/>
        </p:blipFill>
        <p:spPr>
          <a:xfrm>
            <a:off x="781050" y="9648825"/>
            <a:ext cx="762000" cy="53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9"/>
          <p:cNvGrpSpPr/>
          <p:nvPr/>
        </p:nvGrpSpPr>
        <p:grpSpPr>
          <a:xfrm>
            <a:off x="2286000" y="1905000"/>
            <a:ext cx="13716000" cy="5905500"/>
            <a:chOff x="0" y="0"/>
            <a:chExt cx="13716000" cy="5905500"/>
          </a:xfrm>
        </p:grpSpPr>
        <p:sp>
          <p:nvSpPr>
            <p:cNvPr id="118" name="Google Shape;118;p9"/>
            <p:cNvSpPr/>
            <p:nvPr/>
          </p:nvSpPr>
          <p:spPr>
            <a:xfrm>
              <a:off x="0" y="0"/>
              <a:ext cx="13716000" cy="5905500"/>
            </a:xfrm>
            <a:prstGeom prst="roundRect">
              <a:avLst>
                <a:gd fmla="val 2580" name="adj"/>
              </a:avLst>
            </a:prstGeom>
            <a:solidFill>
              <a:srgbClr val="FFFFFF"/>
            </a:solidFill>
            <a:ln cap="flat" cmpd="sng" w="19050">
              <a:solidFill>
                <a:srgbClr val="D3E3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9"/>
            <p:cNvSpPr/>
            <p:nvPr/>
          </p:nvSpPr>
          <p:spPr>
            <a:xfrm>
              <a:off x="6400800" y="304800"/>
              <a:ext cx="914400" cy="914400"/>
            </a:xfrm>
            <a:prstGeom prst="ellipse">
              <a:avLst/>
            </a:prstGeom>
            <a:solidFill>
              <a:srgbClr val="E1F0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9"/>
            <p:cNvSpPr txBox="1"/>
            <p:nvPr/>
          </p:nvSpPr>
          <p:spPr>
            <a:xfrm>
              <a:off x="6400800" y="366141"/>
              <a:ext cx="9144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rgbClr val="007BB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4200">
                <a:solidFill>
                  <a:srgbClr val="007BB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1" name="Google Shape;121;p9"/>
            <p:cNvSpPr txBox="1"/>
            <p:nvPr/>
          </p:nvSpPr>
          <p:spPr>
            <a:xfrm>
              <a:off x="762000" y="1524000"/>
              <a:ext cx="1219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Exercício 4 — Analisando internações</a:t>
              </a:r>
              <a:endParaRPr b="1" sz="360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22" name="Google Shape;122;p9"/>
            <p:cNvSpPr txBox="1"/>
            <p:nvPr/>
          </p:nvSpPr>
          <p:spPr>
            <a:xfrm>
              <a:off x="762000" y="2476500"/>
              <a:ext cx="12192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55555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Considere a seguinte lista declarada em Python:</a:t>
              </a:r>
              <a:endParaRPr b="0" sz="2200">
                <a:solidFill>
                  <a:srgbClr val="55555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23" name="Google Shape;123;p9"/>
            <p:cNvSpPr/>
            <p:nvPr/>
          </p:nvSpPr>
          <p:spPr>
            <a:xfrm>
              <a:off x="3048000" y="3143250"/>
              <a:ext cx="7620000" cy="857400"/>
            </a:xfrm>
            <a:prstGeom prst="roundRect">
              <a:avLst>
                <a:gd fmla="val 888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9"/>
            <p:cNvSpPr txBox="1"/>
            <p:nvPr/>
          </p:nvSpPr>
          <p:spPr>
            <a:xfrm>
              <a:off x="3048000" y="3143250"/>
              <a:ext cx="7620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tempos_internacao = [2, 7, 4, 10, 3, 8]</a:t>
              </a:r>
              <a:endParaRPr b="1" sz="2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5" name="Google Shape;125;p9"/>
            <p:cNvSpPr txBox="1"/>
            <p:nvPr/>
          </p:nvSpPr>
          <p:spPr>
            <a:xfrm>
              <a:off x="762000" y="4286250"/>
              <a:ext cx="121920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721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Escreva um programa que descubra quantas internações duraram </a:t>
              </a:r>
              <a:r>
                <a:rPr b="1" lang="en-US" sz="1721">
                  <a:solidFill>
                    <a:srgbClr val="00608C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mais de 5 dias</a:t>
              </a:r>
              <a:r>
                <a:rPr b="0" lang="en-US" sz="1721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. Ao final, mostre o resultado:</a:t>
              </a:r>
              <a:endParaRPr b="0" sz="1721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5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Internações com mais de 5 dias: 3</a:t>
              </a:r>
              <a:endParaRPr b="1" sz="18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721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Depois, acrescente ao programa o cálculo do </a:t>
              </a:r>
              <a:r>
                <a:rPr b="1" lang="en-US" sz="1721">
                  <a:solidFill>
                    <a:srgbClr val="00608C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total de dias de internação</a:t>
              </a:r>
              <a:r>
                <a:rPr b="0" lang="en-US" sz="1721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 de todos os registros.</a:t>
              </a:r>
              <a:endParaRPr b="0" sz="1721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sp>
        <p:nvSpPr>
          <p:cNvPr id="126" name="Google Shape;126;p9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" name="Google Shape;127;p9"/>
          <p:cNvGrpSpPr/>
          <p:nvPr/>
        </p:nvGrpSpPr>
        <p:grpSpPr>
          <a:xfrm>
            <a:off x="1787400" y="9785025"/>
            <a:ext cx="6477000" cy="400200"/>
            <a:chOff x="0" y="0"/>
            <a:chExt cx="6477000" cy="400200"/>
          </a:xfrm>
        </p:grpSpPr>
        <p:sp>
          <p:nvSpPr>
            <p:cNvPr id="128" name="Google Shape;128;p9"/>
            <p:cNvSpPr/>
            <p:nvPr/>
          </p:nvSpPr>
          <p:spPr>
            <a:xfrm>
              <a:off x="0" y="0"/>
              <a:ext cx="64770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9"/>
            <p:cNvSpPr txBox="1"/>
            <p:nvPr/>
          </p:nvSpPr>
          <p:spPr>
            <a:xfrm>
              <a:off x="0" y="0"/>
              <a:ext cx="6477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Fund. de Programação, Dados e Estatística para IA</a:t>
              </a: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0" name="Google Shape;130;p9"/>
          <p:cNvPicPr preferRelativeResize="0"/>
          <p:nvPr/>
        </p:nvPicPr>
        <p:blipFill rotWithShape="1">
          <a:blip r:embed="rId4">
            <a:alphaModFix/>
          </a:blip>
          <a:srcRect b="21496" l="0" r="0" t="24"/>
          <a:stretch/>
        </p:blipFill>
        <p:spPr>
          <a:xfrm>
            <a:off x="781050" y="9648825"/>
            <a:ext cx="762000" cy="53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/>
          <p:nvPr/>
        </p:nvSpPr>
        <p:spPr>
          <a:xfrm>
            <a:off x="4963625" y="1820775"/>
            <a:ext cx="83607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Roteiro da aula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6636395" y="3208288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6941686" y="3145122"/>
            <a:ext cx="48939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81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Source Serif 4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 registros para tabelas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6459885" y="4084588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6747517" y="4021422"/>
            <a:ext cx="5282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81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Source Serif 4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DataFrame, Series e índice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7108478" y="4960888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7460977" y="4897722"/>
            <a:ext cx="38553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81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Source Serif 4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Leitura de arquivos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7428161" y="5837188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7812628" y="5774022"/>
            <a:ext cx="31521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81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Source Serif 4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Inspeção inicial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7449741" y="6713488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7836359" y="6650322"/>
            <a:ext cx="31047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81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Source Serif 4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Seleção e filtros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5159573" y="7589788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5317175" y="7526622"/>
            <a:ext cx="81432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81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Source Serif 4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Diagnóstico, exemplo integrado e prática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/>
          <p:nvPr/>
        </p:nvSpPr>
        <p:spPr>
          <a:xfrm>
            <a:off x="8904684" y="2614910"/>
            <a:ext cx="47863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Source Serif 4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4486806" y="3319760"/>
            <a:ext cx="9314387" cy="3207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374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Source Serif 4"/>
              <a:buNone/>
            </a:pPr>
            <a:r>
              <a:rPr b="0" i="1" lang="en-US" sz="39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Até agora nós construímos os registros manualmente. Hoje vamos mudar a unidade de trabalho: em vez de pensar em um registro por vez, vamos pensar em linhas, colunas e tabelas inteiras.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/>
          <p:nvPr/>
        </p:nvSpPr>
        <p:spPr>
          <a:xfrm>
            <a:off x="3718200" y="1827300"/>
            <a:ext cx="10851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que será tratado hoje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2400300" y="3043386"/>
            <a:ext cx="4343400" cy="1258788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/>
          <p:cNvSpPr/>
          <p:nvPr/>
        </p:nvSpPr>
        <p:spPr>
          <a:xfrm>
            <a:off x="2705100" y="3329136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3137595" y="3310086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 lista de dicionários para a tabela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6972300" y="3043386"/>
            <a:ext cx="4343400" cy="1258788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"/>
          <p:cNvSpPr/>
          <p:nvPr/>
        </p:nvSpPr>
        <p:spPr>
          <a:xfrm>
            <a:off x="7277100" y="3329136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7709595" y="3310086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DataFrame, linhas, colunas e índice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11544300" y="3043386"/>
            <a:ext cx="4343400" cy="1258788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"/>
          <p:cNvSpPr/>
          <p:nvPr/>
        </p:nvSpPr>
        <p:spPr>
          <a:xfrm>
            <a:off x="11849100" y="3329136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12281595" y="3310086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Leitura de CSV e Excel com pandas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2400300" y="4530775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"/>
          <p:cNvSpPr/>
          <p:nvPr/>
        </p:nvSpPr>
        <p:spPr>
          <a:xfrm>
            <a:off x="2705100" y="4816525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3137595" y="4797475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Inspeção com head(), shape, columns, dtypes e info()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6972300" y="4530775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"/>
          <p:cNvSpPr/>
          <p:nvPr/>
        </p:nvSpPr>
        <p:spPr>
          <a:xfrm>
            <a:off x="7277100" y="4816525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7709595" y="4797475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Seleção de colunas e de linhas com loc e iloc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11544300" y="4530775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"/>
          <p:cNvSpPr/>
          <p:nvPr/>
        </p:nvSpPr>
        <p:spPr>
          <a:xfrm>
            <a:off x="11849100" y="4816525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12281595" y="4797475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Filtros simples, combinados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4686300" y="6380857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4991100" y="6666607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5423595" y="6647557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Renomeação de colunas com rename()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9258300" y="6380857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"/>
          <p:cNvSpPr/>
          <p:nvPr/>
        </p:nvSpPr>
        <p:spPr>
          <a:xfrm>
            <a:off x="9563100" y="6666607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9995595" y="6647557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Diagnóstico de inconsistências estruturais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/>
          <p:nvPr/>
        </p:nvSpPr>
        <p:spPr>
          <a:xfrm>
            <a:off x="4669224" y="3739313"/>
            <a:ext cx="89493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Objetivo da aula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4992062" y="4955386"/>
            <a:ext cx="8303700" cy="15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74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Source Serif 4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Fazer a transição entre a programação sobre registros individuais e o trabalho com bases tabulares.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/>
          <p:nvPr/>
        </p:nvSpPr>
        <p:spPr>
          <a:xfrm>
            <a:off x="7821044" y="3516225"/>
            <a:ext cx="26460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Source Serif 4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5677586" y="5287863"/>
            <a:ext cx="6932828" cy="1063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 registros para tabelas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/>
          <p:nvPr/>
        </p:nvSpPr>
        <p:spPr>
          <a:xfrm>
            <a:off x="2933150" y="2273200"/>
            <a:ext cx="124215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Onde a Aula 3 terminou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4089053" y="3489275"/>
            <a:ext cx="10109895" cy="4067175"/>
          </a:xfrm>
          <a:prstGeom prst="roundRect">
            <a:avLst>
              <a:gd fmla="val 468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5"/>
          <p:cNvSpPr/>
          <p:nvPr/>
        </p:nvSpPr>
        <p:spPr>
          <a:xfrm>
            <a:off x="4412903" y="3736925"/>
            <a:ext cx="9765491" cy="3609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pacientes = [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{"id_paciente": 101, "idade": 68, "internacoes_anteriores": 2,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"servico": "Cardiologia", "readmissao_30d": False},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{"id_paciente": 102, "idade": 45, "internacoes_anteriores": 0,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"servico": "Clínica Médica", "readmissao_30d": True},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{"id_paciente": 103, "idade": 72, "internacoes_anteriores": 3,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"servico": "Cardiologia", "readmissao_30d": True},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{"id_paciente": 104, "idade": 51, "internacoes_anteriores": 1,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"servico": "Neurologia", "readmissao_30d": False}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/>
          <p:nvPr/>
        </p:nvSpPr>
        <p:spPr>
          <a:xfrm>
            <a:off x="4148795" y="1902768"/>
            <a:ext cx="9990409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 coleção de registros para uma tabela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3829050" y="3791992"/>
            <a:ext cx="3238500" cy="1388715"/>
          </a:xfrm>
          <a:prstGeom prst="roundRect">
            <a:avLst>
              <a:gd fmla="val 15089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4028123" y="3982492"/>
            <a:ext cx="2840355" cy="1045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284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Cada dicionário corresponde a uma linha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7524750" y="3791992"/>
            <a:ext cx="3238500" cy="1388715"/>
          </a:xfrm>
          <a:prstGeom prst="roundRect">
            <a:avLst>
              <a:gd fmla="val 15089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7723823" y="3982492"/>
            <a:ext cx="2840355" cy="1045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284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Cada chave corresponde a uma coluna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11220450" y="3791992"/>
            <a:ext cx="3238500" cy="1388715"/>
          </a:xfrm>
          <a:prstGeom prst="roundRect">
            <a:avLst>
              <a:gd fmla="val 15089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11419523" y="3982492"/>
            <a:ext cx="2840355" cy="1045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284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conjunto de registros forma uma tabela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7524750" y="5428357"/>
            <a:ext cx="3238500" cy="1052810"/>
          </a:xfrm>
          <a:prstGeom prst="roundRect">
            <a:avLst>
              <a:gd fmla="val 19904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"/>
          <p:cNvSpPr/>
          <p:nvPr/>
        </p:nvSpPr>
        <p:spPr>
          <a:xfrm>
            <a:off x="7723823" y="5618857"/>
            <a:ext cx="2840355" cy="709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284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tabela passa a ser a estrutura de trabalho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4348538" y="6766917"/>
            <a:ext cx="959077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Uma base tabular organiza observações e variáveis. No caso-guia, cada linha é um registro fictício de paciente e cada coluna uma característica ou desfecho.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/>
          <p:nvPr/>
        </p:nvSpPr>
        <p:spPr>
          <a:xfrm>
            <a:off x="8904684" y="2614910"/>
            <a:ext cx="47863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Source Serif 4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4486806" y="3319760"/>
            <a:ext cx="9314387" cy="32073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374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Source Serif 4"/>
              <a:buNone/>
            </a:pPr>
            <a:r>
              <a:rPr b="0" i="1" lang="en-US" sz="39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Uma tabela não é apenas uma forma visual de exibir dados. Ela define a estrutura sobre a qual vamos selecionar, transformar, resumir, visualizar e modelar.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/>
          <p:nvPr/>
        </p:nvSpPr>
        <p:spPr>
          <a:xfrm>
            <a:off x="3501649" y="2480950"/>
            <a:ext cx="112845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Ferramentas desta aula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262187" y="4157216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GOOGLE COLAB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2852075" y="4546550"/>
            <a:ext cx="33255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mesmo ambiente das Aulas 2 e 3.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6891338" y="4157216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PANDAS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7034689" y="4546550"/>
            <a:ext cx="4218623" cy="795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Leitura e manipulação de estruturas tabulares.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11520487" y="4157216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CSV E EXCEL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11663839" y="4546550"/>
            <a:ext cx="4218623" cy="795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Dois formatos de arquivo como fontes de dados.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4576763" y="6039738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CÉLULAS MARKDOWN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4720114" y="6429072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Objetivo, descrição da base e conclusões.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9205912" y="6039738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REINICIAR E EXECUTAR TUDO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9349264" y="6429072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Verificar se o notebook funciona desde o início.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/>
          <p:nvPr/>
        </p:nvSpPr>
        <p:spPr>
          <a:xfrm>
            <a:off x="6530051" y="3516225"/>
            <a:ext cx="52278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Source Serif 4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5413922" y="5287863"/>
            <a:ext cx="7460156" cy="1063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DataFrame e índice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/>
          <p:nvPr/>
        </p:nvSpPr>
        <p:spPr>
          <a:xfrm>
            <a:off x="2933149" y="1514775"/>
            <a:ext cx="124215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Importando o pandas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7291983" y="2730841"/>
            <a:ext cx="3703800" cy="982800"/>
          </a:xfrm>
          <a:prstGeom prst="roundRect">
            <a:avLst>
              <a:gd fmla="val 1938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7672983" y="3016591"/>
            <a:ext cx="30531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2400300" y="4200977"/>
            <a:ext cx="4343400" cy="1621500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2705200" y="4471915"/>
            <a:ext cx="31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3137595" y="4467677"/>
            <a:ext cx="34002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import carrega uma biblioteca para o notebook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6972300" y="4200977"/>
            <a:ext cx="4343400" cy="1621500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7277100" y="4486727"/>
            <a:ext cx="31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7709595" y="4467677"/>
            <a:ext cx="2916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pandas é a biblioteca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11544300" y="4200977"/>
            <a:ext cx="4343400" cy="1621500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11849100" y="4486727"/>
            <a:ext cx="31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12281595" y="4467677"/>
            <a:ext cx="3400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as pd cria o apelido convencional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6972300" y="6051059"/>
            <a:ext cx="4343400" cy="1258800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7277100" y="6336809"/>
            <a:ext cx="31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7709595" y="6317759"/>
            <a:ext cx="3400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partir daqui, as funções vêm com o prefixo pd.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"/>
          <p:cNvSpPr/>
          <p:nvPr/>
        </p:nvSpPr>
        <p:spPr>
          <a:xfrm>
            <a:off x="2743649" y="1351475"/>
            <a:ext cx="128004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primeiro DataFrame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6595318" y="2567541"/>
            <a:ext cx="5097300" cy="1394100"/>
          </a:xfrm>
          <a:prstGeom prst="roundRect">
            <a:avLst>
              <a:gd fmla="val 136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6976318" y="2853291"/>
            <a:ext cx="44883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 = pd.DataFrame(pacientes)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2400300" y="4665613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2705100" y="4951363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3137595" y="4932313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DataFrame é a principal estrutura tabular do pandas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6972300" y="4665613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7277100" y="4951363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7709595" y="4932313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df é apenas o nome da variável que guarda a tabela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11544300" y="4665613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11849100" y="4951363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12281595" y="4932313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Cada dicionário virou uma linha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4686300" y="6515695"/>
            <a:ext cx="4343400" cy="1258788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4991100" y="6801445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5423595" y="6782395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As chaves viraram nomes de colunas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9258300" y="6515695"/>
            <a:ext cx="4343400" cy="1258788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9563100" y="6801445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9995595" y="6782395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pandas criou um índice automático à esquerda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/>
          <p:nvPr/>
        </p:nvSpPr>
        <p:spPr>
          <a:xfrm>
            <a:off x="2405550" y="2825350"/>
            <a:ext cx="134769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DataFrame, Series e índice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3795337" y="4041428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DATAFRAME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3938689" y="4430762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Estrutura bidimensional, organizada em linhas e colunas.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9657612" y="4041428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ÍNDICE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9800964" y="4430762"/>
            <a:ext cx="4218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rótulo associado às linhas. Por ora, manter o índice automático 0, 1, 2, 3.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4348538" y="6230987"/>
            <a:ext cx="959077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coluna id_paciente continua sendo uma variável comum, para facilitar a compreensão.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"/>
          <p:cNvSpPr/>
          <p:nvPr/>
        </p:nvSpPr>
        <p:spPr>
          <a:xfrm>
            <a:off x="3393500" y="3080150"/>
            <a:ext cx="115011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lang="en-US" sz="465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Tipos</a:t>
            </a: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?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6678199" y="4279750"/>
            <a:ext cx="4931700" cy="1394100"/>
          </a:xfrm>
          <a:prstGeom prst="roundRect">
            <a:avLst>
              <a:gd fmla="val 136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3"/>
          <p:cNvSpPr/>
          <p:nvPr/>
        </p:nvSpPr>
        <p:spPr>
          <a:xfrm>
            <a:off x="7059199" y="4565500"/>
            <a:ext cx="45507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print(type(df))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print(type(df["idade"][</a:t>
            </a:r>
            <a:r>
              <a:rPr lang="en-US" sz="202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0]</a:t>
            </a: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4348538" y="5976193"/>
            <a:ext cx="959077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Entender a estrutura do objeto é importante porque diferentes operações do pandas retornam diferentes tipos de objeto.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"/>
          <p:cNvSpPr/>
          <p:nvPr/>
        </p:nvSpPr>
        <p:spPr>
          <a:xfrm>
            <a:off x="7102251" y="3516225"/>
            <a:ext cx="40836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Source Serif 4"/>
              <a:buNone/>
            </a:pPr>
            <a:r>
              <a:rPr b="1" i="0" lang="en-US" sz="126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12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6418758" y="5287863"/>
            <a:ext cx="54504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Source Serif 4"/>
              <a:buNone/>
            </a:pPr>
            <a:r>
              <a:rPr b="1" lang="en-US" sz="465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Escrita e </a:t>
            </a:r>
            <a:r>
              <a:rPr b="1" i="0" lang="en-US" sz="46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Leitura de arquivos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F6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0" y="9563100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1285875" y="9782175"/>
            <a:ext cx="6477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Fund. de Programação, Dados e Estatística para IA</a:t>
            </a:r>
            <a:endParaRPr b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25"/>
          <p:cNvPicPr preferRelativeResize="0"/>
          <p:nvPr/>
        </p:nvPicPr>
        <p:blipFill rotWithShape="1">
          <a:blip r:embed="rId3">
            <a:alphaModFix/>
          </a:blip>
          <a:srcRect b="10968" l="0" r="0" t="10968"/>
          <a:stretch/>
        </p:blipFill>
        <p:spPr>
          <a:xfrm>
            <a:off x="781050" y="9658350"/>
            <a:ext cx="762000" cy="533400"/>
          </a:xfrm>
          <a:prstGeom prst="roundRect">
            <a:avLst>
              <a:gd fmla="val 7142" name="adj"/>
            </a:avLst>
          </a:prstGeom>
          <a:noFill/>
          <a:ln>
            <a:noFill/>
          </a:ln>
        </p:spPr>
      </p:pic>
      <p:sp>
        <p:nvSpPr>
          <p:cNvPr id="335" name="Google Shape;335;p25"/>
          <p:cNvSpPr txBox="1"/>
          <p:nvPr/>
        </p:nvSpPr>
        <p:spPr>
          <a:xfrm>
            <a:off x="2381250" y="1333500"/>
            <a:ext cx="13525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5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Salvando arquivos com o pandas</a:t>
            </a:r>
            <a:endParaRPr b="1" sz="4650">
              <a:solidFill>
                <a:srgbClr val="201E1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pSp>
        <p:nvGrpSpPr>
          <p:cNvPr id="336" name="Google Shape;336;p25"/>
          <p:cNvGrpSpPr/>
          <p:nvPr/>
        </p:nvGrpSpPr>
        <p:grpSpPr>
          <a:xfrm>
            <a:off x="1524000" y="2857500"/>
            <a:ext cx="7048500" cy="3905250"/>
            <a:chOff x="0" y="0"/>
            <a:chExt cx="7048500" cy="3905250"/>
          </a:xfrm>
        </p:grpSpPr>
        <p:sp>
          <p:nvSpPr>
            <p:cNvPr id="337" name="Google Shape;337;p25"/>
            <p:cNvSpPr txBox="1"/>
            <p:nvPr/>
          </p:nvSpPr>
          <p:spPr>
            <a:xfrm>
              <a:off x="0" y="0"/>
              <a:ext cx="704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BBA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GERANDO UM ARQUIVO CSV</a:t>
              </a:r>
              <a:endParaRPr b="1" sz="1800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pic>
          <p:nvPicPr>
            <p:cNvPr id="338" name="Google Shape;338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571500"/>
              <a:ext cx="7048500" cy="19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9" name="Google Shape;339;p25"/>
            <p:cNvSpPr txBox="1"/>
            <p:nvPr/>
          </p:nvSpPr>
          <p:spPr>
            <a:xfrm>
              <a:off x="381000" y="952500"/>
              <a:ext cx="6286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Salva o DataFrame como CSV</a:t>
              </a:r>
              <a:endParaRPr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df.to_csv("pacientes.csv", index=False)</a:t>
              </a:r>
              <a:endParaRPr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40" name="Google Shape;340;p25"/>
            <p:cNvSpPr txBox="1"/>
            <p:nvPr/>
          </p:nvSpPr>
          <p:spPr>
            <a:xfrm>
              <a:off x="0" y="2762250"/>
              <a:ext cx="704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O argumento </a:t>
              </a:r>
              <a:r>
                <a:rPr b="1" lang="en-US" sz="2000">
                  <a:solidFill>
                    <a:srgbClr val="201E1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index=False</a:t>
              </a:r>
              <a:r>
                <a:rPr b="0" lang="en-US" sz="2000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 evita que uma coluna extra com os índices das linhas seja salva.</a:t>
              </a:r>
              <a:endParaRPr b="0" sz="200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341" name="Google Shape;341;p25"/>
          <p:cNvGrpSpPr/>
          <p:nvPr/>
        </p:nvGrpSpPr>
        <p:grpSpPr>
          <a:xfrm>
            <a:off x="9715500" y="2857500"/>
            <a:ext cx="7048500" cy="3905250"/>
            <a:chOff x="0" y="0"/>
            <a:chExt cx="7048500" cy="3905250"/>
          </a:xfrm>
        </p:grpSpPr>
        <p:sp>
          <p:nvSpPr>
            <p:cNvPr id="342" name="Google Shape;342;p25"/>
            <p:cNvSpPr txBox="1"/>
            <p:nvPr/>
          </p:nvSpPr>
          <p:spPr>
            <a:xfrm>
              <a:off x="0" y="0"/>
              <a:ext cx="704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BBA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GERANDO UM ARQUIVO EXCEL</a:t>
              </a:r>
              <a:endParaRPr b="1" sz="1800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pic>
          <p:nvPicPr>
            <p:cNvPr id="343" name="Google Shape;343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571500"/>
              <a:ext cx="7048500" cy="19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25"/>
            <p:cNvSpPr txBox="1"/>
            <p:nvPr/>
          </p:nvSpPr>
          <p:spPr>
            <a:xfrm>
              <a:off x="381000" y="952500"/>
              <a:ext cx="6286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Salva o DataFrame como Excel</a:t>
              </a:r>
              <a:endParaRPr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df.to_excel("pacientes.xlsx", index=False)</a:t>
              </a:r>
              <a:endParaRPr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45" name="Google Shape;345;p25"/>
            <p:cNvSpPr txBox="1"/>
            <p:nvPr/>
          </p:nvSpPr>
          <p:spPr>
            <a:xfrm>
              <a:off x="0" y="2762250"/>
              <a:ext cx="704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201E1D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Permite exportar os dados diretamente no formato de planilhas eletrônicas compatíveis com o Excel.</a:t>
              </a:r>
              <a:endParaRPr b="0" sz="200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sp>
        <p:nvSpPr>
          <p:cNvPr id="346" name="Google Shape;346;p25"/>
          <p:cNvSpPr txBox="1"/>
          <p:nvPr/>
        </p:nvSpPr>
        <p:spPr>
          <a:xfrm>
            <a:off x="2381250" y="7810500"/>
            <a:ext cx="13525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Ambos os métodos são executados diretamente a partir do objeto DataFrame (</a:t>
            </a:r>
            <a:r>
              <a:rPr b="1" lang="en-US" sz="2000">
                <a:solidFill>
                  <a:srgbClr val="201E1D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b="0" lang="en-US" sz="200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) que você deseja exportar.</a:t>
            </a:r>
            <a:endParaRPr b="0" sz="2000">
              <a:solidFill>
                <a:srgbClr val="201E1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"/>
          <p:cNvSpPr/>
          <p:nvPr/>
        </p:nvSpPr>
        <p:spPr>
          <a:xfrm>
            <a:off x="3664074" y="3158488"/>
            <a:ext cx="10959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Os arquivos desta aula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2656523" y="4729441"/>
            <a:ext cx="6516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OS DOIS ARQUIVOS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4531221" y="5166400"/>
            <a:ext cx="2767500" cy="304800"/>
          </a:xfrm>
          <a:prstGeom prst="roundRect">
            <a:avLst>
              <a:gd fmla="val 18750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6"/>
          <p:cNvSpPr/>
          <p:nvPr/>
        </p:nvSpPr>
        <p:spPr>
          <a:xfrm>
            <a:off x="4469048" y="5185450"/>
            <a:ext cx="2891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622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pacientes_aula4.csv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4462463" y="5773619"/>
            <a:ext cx="2904900" cy="304800"/>
          </a:xfrm>
          <a:prstGeom prst="roundRect">
            <a:avLst>
              <a:gd fmla="val 18750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6"/>
          <p:cNvSpPr/>
          <p:nvPr/>
        </p:nvSpPr>
        <p:spPr>
          <a:xfrm>
            <a:off x="4393414" y="5792669"/>
            <a:ext cx="30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622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pacientes_aula4.xlsx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2863882" y="6333213"/>
            <a:ext cx="61023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mesma pequena base fictícia em dois formatos.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9114473" y="4729441"/>
            <a:ext cx="6516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AS COLUNAS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9321832" y="5118775"/>
            <a:ext cx="61023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id_paciente · idade · internacoes_anteriores · servico · readmissao_30d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7"/>
          <p:cNvSpPr/>
          <p:nvPr/>
        </p:nvSpPr>
        <p:spPr>
          <a:xfrm>
            <a:off x="3204000" y="2407300"/>
            <a:ext cx="11880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Colocando os arquivos no Colab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7"/>
          <p:cNvSpPr/>
          <p:nvPr/>
        </p:nvSpPr>
        <p:spPr>
          <a:xfrm>
            <a:off x="3829050" y="3623370"/>
            <a:ext cx="3238500" cy="1052810"/>
          </a:xfrm>
          <a:prstGeom prst="roundRect">
            <a:avLst>
              <a:gd fmla="val 19904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7"/>
          <p:cNvSpPr/>
          <p:nvPr/>
        </p:nvSpPr>
        <p:spPr>
          <a:xfrm>
            <a:off x="4028123" y="3813870"/>
            <a:ext cx="2840355" cy="709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284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Abrir o painel lateral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7"/>
          <p:cNvSpPr/>
          <p:nvPr/>
        </p:nvSpPr>
        <p:spPr>
          <a:xfrm>
            <a:off x="7524750" y="3623370"/>
            <a:ext cx="3238500" cy="1052810"/>
          </a:xfrm>
          <a:prstGeom prst="roundRect">
            <a:avLst>
              <a:gd fmla="val 19904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7"/>
          <p:cNvSpPr/>
          <p:nvPr/>
        </p:nvSpPr>
        <p:spPr>
          <a:xfrm>
            <a:off x="7723823" y="3813870"/>
            <a:ext cx="2840355" cy="709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284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Clicar no ícone de arquivos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7"/>
          <p:cNvSpPr/>
          <p:nvPr/>
        </p:nvSpPr>
        <p:spPr>
          <a:xfrm>
            <a:off x="11220450" y="3623370"/>
            <a:ext cx="3238500" cy="1052810"/>
          </a:xfrm>
          <a:prstGeom prst="roundRect">
            <a:avLst>
              <a:gd fmla="val 19904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7"/>
          <p:cNvSpPr/>
          <p:nvPr/>
        </p:nvSpPr>
        <p:spPr>
          <a:xfrm>
            <a:off x="11419523" y="3813870"/>
            <a:ext cx="2840355" cy="709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284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Clicar em Upload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5676900" y="4923830"/>
            <a:ext cx="3238500" cy="1052810"/>
          </a:xfrm>
          <a:prstGeom prst="roundRect">
            <a:avLst>
              <a:gd fmla="val 19904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7"/>
          <p:cNvSpPr/>
          <p:nvPr/>
        </p:nvSpPr>
        <p:spPr>
          <a:xfrm>
            <a:off x="5875973" y="5114330"/>
            <a:ext cx="2840355" cy="709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284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Selecionar pacientes_aula4.csv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7"/>
          <p:cNvSpPr/>
          <p:nvPr/>
        </p:nvSpPr>
        <p:spPr>
          <a:xfrm>
            <a:off x="9372600" y="4923830"/>
            <a:ext cx="3238500" cy="1052810"/>
          </a:xfrm>
          <a:prstGeom prst="roundRect">
            <a:avLst>
              <a:gd fmla="val 19904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7"/>
          <p:cNvSpPr/>
          <p:nvPr/>
        </p:nvSpPr>
        <p:spPr>
          <a:xfrm>
            <a:off x="9571673" y="5114330"/>
            <a:ext cx="2840355" cy="709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2842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Repetir para pacientes_aula4.xlsx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7"/>
          <p:cNvSpPr/>
          <p:nvPr/>
        </p:nvSpPr>
        <p:spPr>
          <a:xfrm>
            <a:off x="4348538" y="6966240"/>
            <a:ext cx="9590700" cy="11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Arquivos enviados diretamente para a sessão do Colab são temporários. Em projetos reais, origem e armazenamento devem ser registrados de forma reprodutível.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"/>
          <p:cNvSpPr/>
          <p:nvPr/>
        </p:nvSpPr>
        <p:spPr>
          <a:xfrm>
            <a:off x="4368078" y="1458950"/>
            <a:ext cx="95517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Lendo um arquivo CSV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5434025" y="2887600"/>
            <a:ext cx="7419900" cy="550800"/>
          </a:xfrm>
          <a:prstGeom prst="roundRect">
            <a:avLst>
              <a:gd fmla="val 136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8"/>
          <p:cNvSpPr/>
          <p:nvPr/>
        </p:nvSpPr>
        <p:spPr>
          <a:xfrm>
            <a:off x="5847975" y="2927498"/>
            <a:ext cx="68805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df_csv = pd.read_csv("pacientes_aula4.csv")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2400300" y="4484191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8"/>
          <p:cNvSpPr/>
          <p:nvPr/>
        </p:nvSpPr>
        <p:spPr>
          <a:xfrm>
            <a:off x="2705100" y="4769941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3137595" y="4750891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pd.read_csv() lê um arquivo de texto tabular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6972300" y="4484191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8"/>
          <p:cNvSpPr/>
          <p:nvPr/>
        </p:nvSpPr>
        <p:spPr>
          <a:xfrm>
            <a:off x="7277100" y="4769941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7709595" y="4750891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resultado é armazenado em um DataFrame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11544300" y="4484191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8"/>
          <p:cNvSpPr/>
          <p:nvPr/>
        </p:nvSpPr>
        <p:spPr>
          <a:xfrm>
            <a:off x="11849100" y="4769941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12281595" y="4750891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head() mostra, por padrão, as primeiras cinco linhas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6972300" y="6334274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8"/>
          <p:cNvSpPr/>
          <p:nvPr/>
        </p:nvSpPr>
        <p:spPr>
          <a:xfrm>
            <a:off x="7277100" y="6620024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7709595" y="6600974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primeiro objetivo é verificar se a estrutura parece correta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9"/>
          <p:cNvSpPr/>
          <p:nvPr/>
        </p:nvSpPr>
        <p:spPr>
          <a:xfrm>
            <a:off x="3718350" y="2979100"/>
            <a:ext cx="108513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Nem todo CSV usa vírgula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/>
          <p:nvPr/>
        </p:nvSpPr>
        <p:spPr>
          <a:xfrm>
            <a:off x="5164336" y="4195167"/>
            <a:ext cx="7959328" cy="1209675"/>
          </a:xfrm>
          <a:prstGeom prst="roundRect">
            <a:avLst>
              <a:gd fmla="val 157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9"/>
          <p:cNvSpPr/>
          <p:nvPr/>
        </p:nvSpPr>
        <p:spPr>
          <a:xfrm>
            <a:off x="5488186" y="4442817"/>
            <a:ext cx="755040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Exemplo para arquivo separado por ponto e vírgula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df_exemplo = pd.read_csv("arquivo.csv", sep=";")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9"/>
          <p:cNvSpPr/>
          <p:nvPr/>
        </p:nvSpPr>
        <p:spPr>
          <a:xfrm>
            <a:off x="4043075" y="6204950"/>
            <a:ext cx="102018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Bases brasileiras frequentemente usam ponto e vírgula. Se a leitura produz uma única coluna gigante, o separador é uma das primeiras coisas a verificar.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"/>
          <p:cNvSpPr/>
          <p:nvPr/>
        </p:nvSpPr>
        <p:spPr>
          <a:xfrm>
            <a:off x="3772500" y="2886825"/>
            <a:ext cx="10743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Lendo um arquivo Excel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5046911" y="4617244"/>
            <a:ext cx="8193900" cy="1394100"/>
          </a:xfrm>
          <a:prstGeom prst="roundRect">
            <a:avLst>
              <a:gd fmla="val 136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0"/>
          <p:cNvSpPr/>
          <p:nvPr/>
        </p:nvSpPr>
        <p:spPr>
          <a:xfrm>
            <a:off x="5427911" y="4902994"/>
            <a:ext cx="76779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df_excel = pd.read_excel("pacientes_aula4.xlsx")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df_excel.head()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0"/>
          <p:cNvSpPr/>
          <p:nvPr/>
        </p:nvSpPr>
        <p:spPr>
          <a:xfrm>
            <a:off x="3772400" y="6838650"/>
            <a:ext cx="107430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CSV e Excel são formatos diferentes, mas a análise posterior ocorre sobre a mesma estrutura tabular. Essa padronização é uma das grandes vantagens do pandas.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1"/>
          <p:cNvSpPr/>
          <p:nvPr/>
        </p:nvSpPr>
        <p:spPr>
          <a:xfrm>
            <a:off x="5369702" y="3516225"/>
            <a:ext cx="75486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Source Serif 4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1"/>
          <p:cNvSpPr/>
          <p:nvPr/>
        </p:nvSpPr>
        <p:spPr>
          <a:xfrm>
            <a:off x="6912670" y="5287863"/>
            <a:ext cx="4462512" cy="1063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Inspeção inicial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2"/>
          <p:cNvSpPr/>
          <p:nvPr/>
        </p:nvSpPr>
        <p:spPr>
          <a:xfrm>
            <a:off x="4148795" y="2765971"/>
            <a:ext cx="9990409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Cinco comandos, sempre na mesma ordem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1636335" y="4655195"/>
            <a:ext cx="2904887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PRIMEIRAS LINHAS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1768376" y="5123706"/>
            <a:ext cx="2622500" cy="881063"/>
          </a:xfrm>
          <a:prstGeom prst="roundRect">
            <a:avLst>
              <a:gd fmla="val 216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2073176" y="5371356"/>
            <a:ext cx="2091575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df_csv.head()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2"/>
          <p:cNvSpPr/>
          <p:nvPr/>
        </p:nvSpPr>
        <p:spPr>
          <a:xfrm>
            <a:off x="4603068" y="4655195"/>
            <a:ext cx="2859212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TAMANHO DA 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4733032" y="5123706"/>
            <a:ext cx="2467719" cy="881063"/>
          </a:xfrm>
          <a:prstGeom prst="roundRect">
            <a:avLst>
              <a:gd fmla="val 216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2"/>
          <p:cNvSpPr/>
          <p:nvPr/>
        </p:nvSpPr>
        <p:spPr>
          <a:xfrm>
            <a:off x="5037832" y="5371356"/>
            <a:ext cx="193431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df_csv.shape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2"/>
          <p:cNvSpPr/>
          <p:nvPr/>
        </p:nvSpPr>
        <p:spPr>
          <a:xfrm>
            <a:off x="7511080" y="4655195"/>
            <a:ext cx="3191872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NOMES DAS COLUNAS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2"/>
          <p:cNvSpPr/>
          <p:nvPr/>
        </p:nvSpPr>
        <p:spPr>
          <a:xfrm>
            <a:off x="7656165" y="5123706"/>
            <a:ext cx="2777282" cy="881063"/>
          </a:xfrm>
          <a:prstGeom prst="roundRect">
            <a:avLst>
              <a:gd fmla="val 216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2"/>
          <p:cNvSpPr/>
          <p:nvPr/>
        </p:nvSpPr>
        <p:spPr>
          <a:xfrm>
            <a:off x="7960965" y="5371356"/>
            <a:ext cx="225100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df_csv.columns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2"/>
          <p:cNvSpPr/>
          <p:nvPr/>
        </p:nvSpPr>
        <p:spPr>
          <a:xfrm>
            <a:off x="10762684" y="4655195"/>
            <a:ext cx="2618720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TIPOS INFERIDOS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2"/>
          <p:cNvSpPr/>
          <p:nvPr/>
        </p:nvSpPr>
        <p:spPr>
          <a:xfrm>
            <a:off x="10881717" y="5123706"/>
            <a:ext cx="2622500" cy="881063"/>
          </a:xfrm>
          <a:prstGeom prst="roundRect">
            <a:avLst>
              <a:gd fmla="val 216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2"/>
          <p:cNvSpPr/>
          <p:nvPr/>
        </p:nvSpPr>
        <p:spPr>
          <a:xfrm>
            <a:off x="11186517" y="5371356"/>
            <a:ext cx="2091575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df_csv.dtypes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2"/>
          <p:cNvSpPr/>
          <p:nvPr/>
        </p:nvSpPr>
        <p:spPr>
          <a:xfrm>
            <a:off x="13693490" y="4655195"/>
            <a:ext cx="2960712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VISÃO ESTRUTURAL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2"/>
          <p:cNvSpPr/>
          <p:nvPr/>
        </p:nvSpPr>
        <p:spPr>
          <a:xfrm>
            <a:off x="13828068" y="5123706"/>
            <a:ext cx="2622500" cy="881063"/>
          </a:xfrm>
          <a:prstGeom prst="roundRect">
            <a:avLst>
              <a:gd fmla="val 216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2"/>
          <p:cNvSpPr/>
          <p:nvPr/>
        </p:nvSpPr>
        <p:spPr>
          <a:xfrm>
            <a:off x="14132868" y="5371356"/>
            <a:ext cx="2091575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df_csv.info()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2"/>
          <p:cNvSpPr/>
          <p:nvPr/>
        </p:nvSpPr>
        <p:spPr>
          <a:xfrm>
            <a:off x="4348538" y="6625668"/>
            <a:ext cx="95907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shape retorna número de linhas e número de colunas. Não é análise estatística: é inspeção estrutural.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3"/>
          <p:cNvSpPr/>
          <p:nvPr/>
        </p:nvSpPr>
        <p:spPr>
          <a:xfrm>
            <a:off x="8904684" y="3565773"/>
            <a:ext cx="47863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Source Serif 4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3"/>
          <p:cNvSpPr/>
          <p:nvPr/>
        </p:nvSpPr>
        <p:spPr>
          <a:xfrm>
            <a:off x="4486806" y="4270623"/>
            <a:ext cx="9314387" cy="13058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374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Source Serif 4"/>
              <a:buNone/>
            </a:pPr>
            <a:r>
              <a:rPr b="0" i="1" lang="en-US" sz="39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arquivo que eu li se parece com a base que eu esperava receber?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/>
          <p:cNvSpPr/>
          <p:nvPr/>
        </p:nvSpPr>
        <p:spPr>
          <a:xfrm>
            <a:off x="2148100" y="2033000"/>
            <a:ext cx="139917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Interpretando os tipos do pandas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4"/>
          <p:cNvSpPr/>
          <p:nvPr/>
        </p:nvSpPr>
        <p:spPr>
          <a:xfrm>
            <a:off x="2262187" y="3662217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INT64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4"/>
          <p:cNvSpPr/>
          <p:nvPr/>
        </p:nvSpPr>
        <p:spPr>
          <a:xfrm>
            <a:off x="2262187" y="4051551"/>
            <a:ext cx="4505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Valores inteiros.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4"/>
          <p:cNvSpPr/>
          <p:nvPr/>
        </p:nvSpPr>
        <p:spPr>
          <a:xfrm>
            <a:off x="6891338" y="3662217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FLOAT64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4"/>
          <p:cNvSpPr/>
          <p:nvPr/>
        </p:nvSpPr>
        <p:spPr>
          <a:xfrm>
            <a:off x="7034689" y="4051551"/>
            <a:ext cx="4218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Valores contínuos, ou colunas numéricas com valores ausentes.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4"/>
          <p:cNvSpPr/>
          <p:nvPr/>
        </p:nvSpPr>
        <p:spPr>
          <a:xfrm>
            <a:off x="11520487" y="3662217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4"/>
          <p:cNvSpPr/>
          <p:nvPr/>
        </p:nvSpPr>
        <p:spPr>
          <a:xfrm>
            <a:off x="11520487" y="4051551"/>
            <a:ext cx="4505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Valores verdadeiro/falso.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4"/>
          <p:cNvSpPr/>
          <p:nvPr/>
        </p:nvSpPr>
        <p:spPr>
          <a:xfrm>
            <a:off x="4576763" y="5625557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OBJECT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4"/>
          <p:cNvSpPr/>
          <p:nvPr/>
        </p:nvSpPr>
        <p:spPr>
          <a:xfrm>
            <a:off x="4720114" y="6014892"/>
            <a:ext cx="4218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Frequentemente textos, mas também pode indicar mistura de representações.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4"/>
          <p:cNvSpPr/>
          <p:nvPr/>
        </p:nvSpPr>
        <p:spPr>
          <a:xfrm>
            <a:off x="9205912" y="5625557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DATETIME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4"/>
          <p:cNvSpPr/>
          <p:nvPr/>
        </p:nvSpPr>
        <p:spPr>
          <a:xfrm>
            <a:off x="9349264" y="6014892"/>
            <a:ext cx="4218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Estrutura adequada para datas, quando corretamente convertida.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4"/>
          <p:cNvSpPr/>
          <p:nvPr/>
        </p:nvSpPr>
        <p:spPr>
          <a:xfrm>
            <a:off x="4348538" y="7754273"/>
            <a:ext cx="95907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tipo inferido precisa ser coerente com o significado da variável. Uma idade lida como texto é sinal de que a base precisará de tratamento.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5"/>
          <p:cNvSpPr/>
          <p:nvPr/>
        </p:nvSpPr>
        <p:spPr>
          <a:xfrm>
            <a:off x="6127676" y="3516225"/>
            <a:ext cx="60327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Source Serif 4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5"/>
          <p:cNvSpPr/>
          <p:nvPr/>
        </p:nvSpPr>
        <p:spPr>
          <a:xfrm>
            <a:off x="6933058" y="5287863"/>
            <a:ext cx="4421736" cy="1063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Seleção e filtros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>
            <a:off x="2337575" y="3102475"/>
            <a:ext cx="136128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Selecionando uma coluna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6"/>
          <p:cNvSpPr/>
          <p:nvPr/>
        </p:nvSpPr>
        <p:spPr>
          <a:xfrm>
            <a:off x="5191743" y="4318546"/>
            <a:ext cx="2874273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COLUNA INTEIRA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6"/>
          <p:cNvSpPr/>
          <p:nvPr/>
        </p:nvSpPr>
        <p:spPr>
          <a:xfrm>
            <a:off x="5322391" y="4787057"/>
            <a:ext cx="2932212" cy="881063"/>
          </a:xfrm>
          <a:prstGeom prst="roundRect">
            <a:avLst>
              <a:gd fmla="val 216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6"/>
          <p:cNvSpPr/>
          <p:nvPr/>
        </p:nvSpPr>
        <p:spPr>
          <a:xfrm>
            <a:off x="5627191" y="5034707"/>
            <a:ext cx="2410578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df_csv["idade"]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6"/>
          <p:cNvSpPr/>
          <p:nvPr/>
        </p:nvSpPr>
        <p:spPr>
          <a:xfrm>
            <a:off x="8359095" y="4318546"/>
            <a:ext cx="4825871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APENAS OS PRIMEIROS VALORES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6"/>
          <p:cNvSpPr/>
          <p:nvPr/>
        </p:nvSpPr>
        <p:spPr>
          <a:xfrm>
            <a:off x="8578453" y="4787057"/>
            <a:ext cx="4015978" cy="881063"/>
          </a:xfrm>
          <a:prstGeom prst="roundRect">
            <a:avLst>
              <a:gd fmla="val 216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6"/>
          <p:cNvSpPr/>
          <p:nvPr/>
        </p:nvSpPr>
        <p:spPr>
          <a:xfrm>
            <a:off x="8883253" y="5034707"/>
            <a:ext cx="3526857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df_csv["idade"].head()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6"/>
          <p:cNvSpPr/>
          <p:nvPr/>
        </p:nvSpPr>
        <p:spPr>
          <a:xfrm>
            <a:off x="4348538" y="6576494"/>
            <a:ext cx="95907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resultado é uma Series. A unidade lógica da operação é: estamos selecionando uma variável da base.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7"/>
          <p:cNvSpPr/>
          <p:nvPr/>
        </p:nvSpPr>
        <p:spPr>
          <a:xfrm>
            <a:off x="1823224" y="1608875"/>
            <a:ext cx="146415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Selecionando múltiplas colunas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7"/>
          <p:cNvSpPr/>
          <p:nvPr/>
        </p:nvSpPr>
        <p:spPr>
          <a:xfrm>
            <a:off x="5201841" y="2824960"/>
            <a:ext cx="7884300" cy="982800"/>
          </a:xfrm>
          <a:prstGeom prst="roundRect">
            <a:avLst>
              <a:gd fmla="val 1938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7"/>
          <p:cNvSpPr/>
          <p:nvPr/>
        </p:nvSpPr>
        <p:spPr>
          <a:xfrm>
            <a:off x="5582841" y="3110710"/>
            <a:ext cx="7358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df_csv[["idade", "servico", "readmissao_30d"]]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7"/>
          <p:cNvSpPr/>
          <p:nvPr/>
        </p:nvSpPr>
        <p:spPr>
          <a:xfrm>
            <a:off x="2400300" y="4674096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7"/>
          <p:cNvSpPr/>
          <p:nvPr/>
        </p:nvSpPr>
        <p:spPr>
          <a:xfrm>
            <a:off x="2705100" y="4959846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7"/>
          <p:cNvSpPr/>
          <p:nvPr/>
        </p:nvSpPr>
        <p:spPr>
          <a:xfrm>
            <a:off x="3137595" y="4940796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 par de colchetes seleciona uma coluna pelo nome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7"/>
          <p:cNvSpPr/>
          <p:nvPr/>
        </p:nvSpPr>
        <p:spPr>
          <a:xfrm>
            <a:off x="6972300" y="4674096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7"/>
          <p:cNvSpPr/>
          <p:nvPr/>
        </p:nvSpPr>
        <p:spPr>
          <a:xfrm>
            <a:off x="7277100" y="4959846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7"/>
          <p:cNvSpPr/>
          <p:nvPr/>
        </p:nvSpPr>
        <p:spPr>
          <a:xfrm>
            <a:off x="7709595" y="4940796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Dois pares aparecem porque estamos passando uma lista de nomes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7"/>
          <p:cNvSpPr/>
          <p:nvPr/>
        </p:nvSpPr>
        <p:spPr>
          <a:xfrm>
            <a:off x="11544300" y="4674096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7"/>
          <p:cNvSpPr/>
          <p:nvPr/>
        </p:nvSpPr>
        <p:spPr>
          <a:xfrm>
            <a:off x="11849100" y="4959846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7"/>
          <p:cNvSpPr/>
          <p:nvPr/>
        </p:nvSpPr>
        <p:spPr>
          <a:xfrm>
            <a:off x="12281595" y="4940796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resultado de múltiplas colunas volta a ser um DataFrame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7"/>
          <p:cNvSpPr/>
          <p:nvPr/>
        </p:nvSpPr>
        <p:spPr>
          <a:xfrm>
            <a:off x="4348538" y="7161929"/>
            <a:ext cx="95907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Uma base pode ter centenas de variáveis, mas uma pergunta específica utiliza apenas um subconjunto delas.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8"/>
          <p:cNvSpPr/>
          <p:nvPr/>
        </p:nvSpPr>
        <p:spPr>
          <a:xfrm>
            <a:off x="3718200" y="3295800"/>
            <a:ext cx="10851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Linhas por posição com iloc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8"/>
          <p:cNvSpPr/>
          <p:nvPr/>
        </p:nvSpPr>
        <p:spPr>
          <a:xfrm>
            <a:off x="5783126" y="4511873"/>
            <a:ext cx="2571080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PRIMEIRA LINHA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8"/>
          <p:cNvSpPr/>
          <p:nvPr/>
        </p:nvSpPr>
        <p:spPr>
          <a:xfrm>
            <a:off x="5899993" y="4980384"/>
            <a:ext cx="2777282" cy="881063"/>
          </a:xfrm>
          <a:prstGeom prst="roundRect">
            <a:avLst>
              <a:gd fmla="val 216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8"/>
          <p:cNvSpPr/>
          <p:nvPr/>
        </p:nvSpPr>
        <p:spPr>
          <a:xfrm>
            <a:off x="6204793" y="5228034"/>
            <a:ext cx="225100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df_csv.iloc[0]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8"/>
          <p:cNvSpPr/>
          <p:nvPr/>
        </p:nvSpPr>
        <p:spPr>
          <a:xfrm>
            <a:off x="8831788" y="4511873"/>
            <a:ext cx="3725406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INTERVALO DE POSIÇÕES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8"/>
          <p:cNvSpPr/>
          <p:nvPr/>
        </p:nvSpPr>
        <p:spPr>
          <a:xfrm>
            <a:off x="9001125" y="4980384"/>
            <a:ext cx="3086993" cy="881063"/>
          </a:xfrm>
          <a:prstGeom prst="roundRect">
            <a:avLst>
              <a:gd fmla="val 216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8"/>
          <p:cNvSpPr/>
          <p:nvPr/>
        </p:nvSpPr>
        <p:spPr>
          <a:xfrm>
            <a:off x="9305925" y="5228034"/>
            <a:ext cx="2570003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df_csv.iloc[0:3]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8"/>
          <p:cNvSpPr/>
          <p:nvPr/>
        </p:nvSpPr>
        <p:spPr>
          <a:xfrm>
            <a:off x="4940885" y="6851047"/>
            <a:ext cx="8406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Como nos intervalos de Python, o limite final não é incluído.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9"/>
          <p:cNvSpPr/>
          <p:nvPr/>
        </p:nvSpPr>
        <p:spPr>
          <a:xfrm>
            <a:off x="3583000" y="2765975"/>
            <a:ext cx="11121900" cy="17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Linhas e colunas por rótulo com loc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9"/>
          <p:cNvSpPr/>
          <p:nvPr/>
        </p:nvSpPr>
        <p:spPr>
          <a:xfrm>
            <a:off x="3734574" y="4655195"/>
            <a:ext cx="1544776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 VALOR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9"/>
          <p:cNvSpPr/>
          <p:nvPr/>
        </p:nvSpPr>
        <p:spPr>
          <a:xfrm>
            <a:off x="3804791" y="5123706"/>
            <a:ext cx="4015978" cy="881063"/>
          </a:xfrm>
          <a:prstGeom prst="roundRect">
            <a:avLst>
              <a:gd fmla="val 216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9"/>
          <p:cNvSpPr/>
          <p:nvPr/>
        </p:nvSpPr>
        <p:spPr>
          <a:xfrm>
            <a:off x="4109591" y="5371356"/>
            <a:ext cx="3526857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df_csv.loc[0, "idade"]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9"/>
          <p:cNvSpPr/>
          <p:nvPr/>
        </p:nvSpPr>
        <p:spPr>
          <a:xfrm>
            <a:off x="7924234" y="4655195"/>
            <a:ext cx="4848463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RECORTE DE LINHAS E COLUNAS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9"/>
          <p:cNvSpPr/>
          <p:nvPr/>
        </p:nvSpPr>
        <p:spPr>
          <a:xfrm>
            <a:off x="8144619" y="5123706"/>
            <a:ext cx="6338441" cy="881063"/>
          </a:xfrm>
          <a:prstGeom prst="roundRect">
            <a:avLst>
              <a:gd fmla="val 216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9"/>
          <p:cNvSpPr/>
          <p:nvPr/>
        </p:nvSpPr>
        <p:spPr>
          <a:xfrm>
            <a:off x="8449419" y="5371356"/>
            <a:ext cx="5918994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df_csv.loc[0:2, ["idade", "servico"]]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9"/>
          <p:cNvSpPr/>
          <p:nvPr/>
        </p:nvSpPr>
        <p:spPr>
          <a:xfrm>
            <a:off x="4348538" y="6994368"/>
            <a:ext cx="95907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objetivo é reconhecer que pandas tem ferramentas explícitas para selecionar linhas e colunas sem construir laços manuais.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0"/>
          <p:cNvSpPr/>
          <p:nvPr/>
        </p:nvSpPr>
        <p:spPr>
          <a:xfrm>
            <a:off x="2662450" y="2909600"/>
            <a:ext cx="12963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Filtrando por uma condição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0"/>
          <p:cNvSpPr/>
          <p:nvPr/>
        </p:nvSpPr>
        <p:spPr>
          <a:xfrm>
            <a:off x="1707215" y="4125664"/>
            <a:ext cx="1866141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CONDIÇÃO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0"/>
          <p:cNvSpPr/>
          <p:nvPr/>
        </p:nvSpPr>
        <p:spPr>
          <a:xfrm>
            <a:off x="1792039" y="4594175"/>
            <a:ext cx="6183660" cy="1266825"/>
          </a:xfrm>
          <a:prstGeom prst="roundRect">
            <a:avLst>
              <a:gd fmla="val 1504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0"/>
          <p:cNvSpPr/>
          <p:nvPr/>
        </p:nvSpPr>
        <p:spPr>
          <a:xfrm>
            <a:off x="2096839" y="4841825"/>
            <a:ext cx="575957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filtro_idade = df_csv["idade"] &gt;= 65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print(filtro_idade)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0"/>
          <p:cNvSpPr/>
          <p:nvPr/>
        </p:nvSpPr>
        <p:spPr>
          <a:xfrm>
            <a:off x="8225068" y="4125664"/>
            <a:ext cx="1638583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SELEÇÃO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0"/>
          <p:cNvSpPr/>
          <p:nvPr/>
        </p:nvSpPr>
        <p:spPr>
          <a:xfrm>
            <a:off x="8299549" y="4594175"/>
            <a:ext cx="8196411" cy="1266825"/>
          </a:xfrm>
          <a:prstGeom prst="roundRect">
            <a:avLst>
              <a:gd fmla="val 1504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0"/>
          <p:cNvSpPr/>
          <p:nvPr/>
        </p:nvSpPr>
        <p:spPr>
          <a:xfrm>
            <a:off x="8604349" y="4841825"/>
            <a:ext cx="7832704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pacientes_65_mais = df_csv[df_csv["idade"] &gt;= 65]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pacientes_65_mais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0"/>
          <p:cNvSpPr/>
          <p:nvPr/>
        </p:nvSpPr>
        <p:spPr>
          <a:xfrm>
            <a:off x="4348538" y="6146750"/>
            <a:ext cx="959077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resultado da condição é uma sequência de True e False, um para cada linha. Na Aula 3 percorreríamos paciente por paciente com um if.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1"/>
          <p:cNvSpPr/>
          <p:nvPr/>
        </p:nvSpPr>
        <p:spPr>
          <a:xfrm>
            <a:off x="2527074" y="3225700"/>
            <a:ext cx="13233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Filtrando por categoria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1"/>
          <p:cNvSpPr/>
          <p:nvPr/>
        </p:nvSpPr>
        <p:spPr>
          <a:xfrm>
            <a:off x="4427637" y="4441775"/>
            <a:ext cx="9432727" cy="1394222"/>
          </a:xfrm>
          <a:prstGeom prst="roundRect">
            <a:avLst>
              <a:gd fmla="val 136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1"/>
          <p:cNvSpPr/>
          <p:nvPr/>
        </p:nvSpPr>
        <p:spPr>
          <a:xfrm>
            <a:off x="4808637" y="4727525"/>
            <a:ext cx="8953708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cardiologia = df_csv[df_csv["servico"] == "Cardiologia"]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cardiologia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41"/>
          <p:cNvSpPr/>
          <p:nvPr/>
        </p:nvSpPr>
        <p:spPr>
          <a:xfrm>
            <a:off x="2656523" y="6523272"/>
            <a:ext cx="6516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= ATRIBUI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1"/>
          <p:cNvSpPr/>
          <p:nvPr/>
        </p:nvSpPr>
        <p:spPr>
          <a:xfrm>
            <a:off x="2656523" y="6912607"/>
            <a:ext cx="65169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Associa um valor a um nome.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1"/>
          <p:cNvSpPr/>
          <p:nvPr/>
        </p:nvSpPr>
        <p:spPr>
          <a:xfrm>
            <a:off x="9114473" y="6523272"/>
            <a:ext cx="6516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== COMPARA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1"/>
          <p:cNvSpPr/>
          <p:nvPr/>
        </p:nvSpPr>
        <p:spPr>
          <a:xfrm>
            <a:off x="9114473" y="6912607"/>
            <a:ext cx="65169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Devolve True ou False.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2"/>
          <p:cNvSpPr/>
          <p:nvPr/>
        </p:nvSpPr>
        <p:spPr>
          <a:xfrm>
            <a:off x="2906099" y="1716700"/>
            <a:ext cx="124758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Renomeando colunas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2"/>
          <p:cNvSpPr/>
          <p:nvPr/>
        </p:nvSpPr>
        <p:spPr>
          <a:xfrm>
            <a:off x="5379269" y="2932784"/>
            <a:ext cx="7529400" cy="2638500"/>
          </a:xfrm>
          <a:prstGeom prst="roundRect">
            <a:avLst>
              <a:gd fmla="val 72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2"/>
          <p:cNvSpPr/>
          <p:nvPr/>
        </p:nvSpPr>
        <p:spPr>
          <a:xfrm>
            <a:off x="5703119" y="3180434"/>
            <a:ext cx="71076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df_renomeado = df_csv.rename(columns={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"tempo_internacao_dias": "tempo_internacao",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"readmissao_30d": "readmissao"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df_renomeado.columns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42"/>
          <p:cNvSpPr/>
          <p:nvPr/>
        </p:nvSpPr>
        <p:spPr>
          <a:xfrm>
            <a:off x="2400300" y="6031409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2"/>
          <p:cNvSpPr/>
          <p:nvPr/>
        </p:nvSpPr>
        <p:spPr>
          <a:xfrm>
            <a:off x="2705100" y="6317159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42"/>
          <p:cNvSpPr/>
          <p:nvPr/>
        </p:nvSpPr>
        <p:spPr>
          <a:xfrm>
            <a:off x="3137595" y="6298109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Nomes de colunas devem ser claros e consistentes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2"/>
          <p:cNvSpPr/>
          <p:nvPr/>
        </p:nvSpPr>
        <p:spPr>
          <a:xfrm>
            <a:off x="6972300" y="6031409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2"/>
          <p:cNvSpPr/>
          <p:nvPr/>
        </p:nvSpPr>
        <p:spPr>
          <a:xfrm>
            <a:off x="7277100" y="6317159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2"/>
          <p:cNvSpPr/>
          <p:nvPr/>
        </p:nvSpPr>
        <p:spPr>
          <a:xfrm>
            <a:off x="7709595" y="6298109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Renomear não altera os valores da variável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42"/>
          <p:cNvSpPr/>
          <p:nvPr/>
        </p:nvSpPr>
        <p:spPr>
          <a:xfrm>
            <a:off x="11544300" y="6031409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2"/>
          <p:cNvSpPr/>
          <p:nvPr/>
        </p:nvSpPr>
        <p:spPr>
          <a:xfrm>
            <a:off x="11849100" y="6317159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2"/>
          <p:cNvSpPr/>
          <p:nvPr/>
        </p:nvSpPr>
        <p:spPr>
          <a:xfrm>
            <a:off x="12281595" y="6298109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Guardar em um novo objeto deixa a transformação explícita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3"/>
          <p:cNvSpPr/>
          <p:nvPr/>
        </p:nvSpPr>
        <p:spPr>
          <a:xfrm>
            <a:off x="6750326" y="3179725"/>
            <a:ext cx="47874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Source Serif 4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3"/>
          <p:cNvSpPr/>
          <p:nvPr/>
        </p:nvSpPr>
        <p:spPr>
          <a:xfrm>
            <a:off x="4148795" y="4951363"/>
            <a:ext cx="9990409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Diagnóstico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4"/>
          <p:cNvSpPr/>
          <p:nvPr/>
        </p:nvSpPr>
        <p:spPr>
          <a:xfrm>
            <a:off x="3176800" y="1646050"/>
            <a:ext cx="119343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Checklist de inspeção da base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44"/>
          <p:cNvSpPr/>
          <p:nvPr/>
        </p:nvSpPr>
        <p:spPr>
          <a:xfrm>
            <a:off x="2400300" y="2862114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/>
          <p:nvPr/>
        </p:nvSpPr>
        <p:spPr>
          <a:xfrm>
            <a:off x="2705100" y="3147864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4"/>
          <p:cNvSpPr/>
          <p:nvPr/>
        </p:nvSpPr>
        <p:spPr>
          <a:xfrm>
            <a:off x="3137595" y="3128814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número de linhas e colunas é plausível?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4"/>
          <p:cNvSpPr/>
          <p:nvPr/>
        </p:nvSpPr>
        <p:spPr>
          <a:xfrm>
            <a:off x="6972300" y="2862114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4"/>
          <p:cNvSpPr/>
          <p:nvPr/>
        </p:nvSpPr>
        <p:spPr>
          <a:xfrm>
            <a:off x="7277100" y="3147864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4"/>
          <p:cNvSpPr/>
          <p:nvPr/>
        </p:nvSpPr>
        <p:spPr>
          <a:xfrm>
            <a:off x="7709595" y="3128814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Os nomes das colunas são os esperados?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4"/>
          <p:cNvSpPr/>
          <p:nvPr/>
        </p:nvSpPr>
        <p:spPr>
          <a:xfrm>
            <a:off x="11544300" y="2862114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4"/>
          <p:cNvSpPr/>
          <p:nvPr/>
        </p:nvSpPr>
        <p:spPr>
          <a:xfrm>
            <a:off x="11849100" y="3147864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4"/>
          <p:cNvSpPr/>
          <p:nvPr/>
        </p:nvSpPr>
        <p:spPr>
          <a:xfrm>
            <a:off x="12281595" y="3128814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Há espaços, acentos ou grafias inconsistentes nos nomes?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44"/>
          <p:cNvSpPr/>
          <p:nvPr/>
        </p:nvSpPr>
        <p:spPr>
          <a:xfrm>
            <a:off x="2400300" y="4712196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44"/>
          <p:cNvSpPr/>
          <p:nvPr/>
        </p:nvSpPr>
        <p:spPr>
          <a:xfrm>
            <a:off x="2705100" y="4997946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4"/>
          <p:cNvSpPr/>
          <p:nvPr/>
        </p:nvSpPr>
        <p:spPr>
          <a:xfrm>
            <a:off x="3137595" y="4978896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Os tipos inferidos fazem sentido para cada variável?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44"/>
          <p:cNvSpPr/>
          <p:nvPr/>
        </p:nvSpPr>
        <p:spPr>
          <a:xfrm>
            <a:off x="6972300" y="4712196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44"/>
          <p:cNvSpPr/>
          <p:nvPr/>
        </p:nvSpPr>
        <p:spPr>
          <a:xfrm>
            <a:off x="7277100" y="4997946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4"/>
          <p:cNvSpPr/>
          <p:nvPr/>
        </p:nvSpPr>
        <p:spPr>
          <a:xfrm>
            <a:off x="7709595" y="4978896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Uma coluna que deveria ser numérica apareceu como object?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4"/>
          <p:cNvSpPr/>
          <p:nvPr/>
        </p:nvSpPr>
        <p:spPr>
          <a:xfrm>
            <a:off x="11544300" y="4712196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4"/>
          <p:cNvSpPr/>
          <p:nvPr/>
        </p:nvSpPr>
        <p:spPr>
          <a:xfrm>
            <a:off x="11849100" y="4997946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4"/>
          <p:cNvSpPr/>
          <p:nvPr/>
        </p:nvSpPr>
        <p:spPr>
          <a:xfrm>
            <a:off x="12281595" y="4978896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As datas foram reconhecidas ou aparecem como texto?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4"/>
          <p:cNvSpPr/>
          <p:nvPr/>
        </p:nvSpPr>
        <p:spPr>
          <a:xfrm>
            <a:off x="4686300" y="6562279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44"/>
          <p:cNvSpPr/>
          <p:nvPr/>
        </p:nvSpPr>
        <p:spPr>
          <a:xfrm>
            <a:off x="4991100" y="6848029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4"/>
          <p:cNvSpPr/>
          <p:nvPr/>
        </p:nvSpPr>
        <p:spPr>
          <a:xfrm>
            <a:off x="5423595" y="6828979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Há identificadores aparentemente repetidos?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4"/>
          <p:cNvSpPr/>
          <p:nvPr/>
        </p:nvSpPr>
        <p:spPr>
          <a:xfrm>
            <a:off x="9258300" y="6562279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4"/>
          <p:cNvSpPr/>
          <p:nvPr/>
        </p:nvSpPr>
        <p:spPr>
          <a:xfrm>
            <a:off x="9563100" y="6848029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4"/>
          <p:cNvSpPr/>
          <p:nvPr/>
        </p:nvSpPr>
        <p:spPr>
          <a:xfrm>
            <a:off x="9995595" y="6828979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Há categorias com grafias diferentes para o mesmo conceito?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5"/>
          <p:cNvSpPr/>
          <p:nvPr/>
        </p:nvSpPr>
        <p:spPr>
          <a:xfrm>
            <a:off x="4148795" y="2332286"/>
            <a:ext cx="9990409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Ferramentas simples de diagnóstico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5"/>
          <p:cNvSpPr/>
          <p:nvPr/>
        </p:nvSpPr>
        <p:spPr>
          <a:xfrm>
            <a:off x="6208216" y="4221510"/>
            <a:ext cx="5871567" cy="2216944"/>
          </a:xfrm>
          <a:prstGeom prst="roundRect">
            <a:avLst>
              <a:gd fmla="val 859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45"/>
          <p:cNvSpPr/>
          <p:nvPr/>
        </p:nvSpPr>
        <p:spPr>
          <a:xfrm>
            <a:off x="6589216" y="4507260"/>
            <a:ext cx="5285714" cy="16835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print(df_csv.columns)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print(df_csv.dtypes)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print(df_csv.shape)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print(df_csv["servico"].unique())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5"/>
          <p:cNvSpPr/>
          <p:nvPr/>
        </p:nvSpPr>
        <p:spPr>
          <a:xfrm>
            <a:off x="4348538" y="6724204"/>
            <a:ext cx="959077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unique() entra apenas como inspeção rápida de categorias. Frequências e distribuições ficam para as aulas de análise exploratória.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6"/>
          <p:cNvSpPr/>
          <p:nvPr/>
        </p:nvSpPr>
        <p:spPr>
          <a:xfrm>
            <a:off x="3204000" y="2718950"/>
            <a:ext cx="11880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 exemplo de problema de tipo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46"/>
          <p:cNvSpPr/>
          <p:nvPr/>
        </p:nvSpPr>
        <p:spPr>
          <a:xfrm>
            <a:off x="4992162" y="3650329"/>
            <a:ext cx="8303700" cy="15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74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Source Serif 4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Uma coluna de idade contém 68, 45, 72 e o texto “cinquenta”. O pandas pode interpretar toda a coluna como object.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46"/>
          <p:cNvSpPr/>
          <p:nvPr/>
        </p:nvSpPr>
        <p:spPr>
          <a:xfrm>
            <a:off x="2400300" y="5489228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6"/>
          <p:cNvSpPr/>
          <p:nvPr/>
        </p:nvSpPr>
        <p:spPr>
          <a:xfrm>
            <a:off x="2705100" y="5774978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6"/>
          <p:cNvSpPr/>
          <p:nvPr/>
        </p:nvSpPr>
        <p:spPr>
          <a:xfrm>
            <a:off x="3137595" y="5755928"/>
            <a:ext cx="3400345" cy="763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Seria seguro calcular uma média diretamente?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6"/>
          <p:cNvSpPr/>
          <p:nvPr/>
        </p:nvSpPr>
        <p:spPr>
          <a:xfrm>
            <a:off x="6972300" y="5489228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6"/>
          <p:cNvSpPr/>
          <p:nvPr/>
        </p:nvSpPr>
        <p:spPr>
          <a:xfrm>
            <a:off x="7277100" y="5774978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6"/>
          <p:cNvSpPr/>
          <p:nvPr/>
        </p:nvSpPr>
        <p:spPr>
          <a:xfrm>
            <a:off x="7709595" y="5755928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problema está no código ou na qualidade da representação?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6"/>
          <p:cNvSpPr/>
          <p:nvPr/>
        </p:nvSpPr>
        <p:spPr>
          <a:xfrm>
            <a:off x="11544300" y="5489228"/>
            <a:ext cx="4343400" cy="1621482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6"/>
          <p:cNvSpPr/>
          <p:nvPr/>
        </p:nvSpPr>
        <p:spPr>
          <a:xfrm>
            <a:off x="11849100" y="5774978"/>
            <a:ext cx="31819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6"/>
          <p:cNvSpPr/>
          <p:nvPr/>
        </p:nvSpPr>
        <p:spPr>
          <a:xfrm>
            <a:off x="12281595" y="5755928"/>
            <a:ext cx="3400345" cy="112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Qual seria o próximo passo antes de qualquer análise?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7"/>
          <p:cNvSpPr/>
          <p:nvPr/>
        </p:nvSpPr>
        <p:spPr>
          <a:xfrm>
            <a:off x="4148795" y="2380208"/>
            <a:ext cx="9990409" cy="17368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mesma pergunta, duas abordagens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47"/>
          <p:cNvSpPr/>
          <p:nvPr/>
        </p:nvSpPr>
        <p:spPr>
          <a:xfrm>
            <a:off x="4221160" y="4269432"/>
            <a:ext cx="2761312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AULA 3 — MANUAL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47"/>
          <p:cNvSpPr/>
          <p:nvPr/>
        </p:nvSpPr>
        <p:spPr>
          <a:xfrm>
            <a:off x="4346674" y="4737943"/>
            <a:ext cx="5409605" cy="1652588"/>
          </a:xfrm>
          <a:prstGeom prst="roundRect">
            <a:avLst>
              <a:gd fmla="val 1153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/>
          <p:nvPr/>
        </p:nvSpPr>
        <p:spPr>
          <a:xfrm>
            <a:off x="4651474" y="4985593"/>
            <a:ext cx="4962293" cy="11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paciente in pacientes: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if paciente["idade"] &gt;= 65: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print(paciente)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47"/>
          <p:cNvSpPr/>
          <p:nvPr/>
        </p:nvSpPr>
        <p:spPr>
          <a:xfrm>
            <a:off x="9950968" y="4269432"/>
            <a:ext cx="2841531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AULA 4 — TABULAR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7"/>
          <p:cNvSpPr/>
          <p:nvPr/>
        </p:nvSpPr>
        <p:spPr>
          <a:xfrm>
            <a:off x="10080129" y="4737943"/>
            <a:ext cx="3861197" cy="881063"/>
          </a:xfrm>
          <a:prstGeom prst="roundRect">
            <a:avLst>
              <a:gd fmla="val 216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7"/>
          <p:cNvSpPr/>
          <p:nvPr/>
        </p:nvSpPr>
        <p:spPr>
          <a:xfrm>
            <a:off x="10384929" y="4985593"/>
            <a:ext cx="3367433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df[df["idade"] &gt;= 65]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7"/>
          <p:cNvSpPr/>
          <p:nvPr/>
        </p:nvSpPr>
        <p:spPr>
          <a:xfrm>
            <a:off x="4348538" y="6676281"/>
            <a:ext cx="959077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Laços não são “errados” e continuam fundamentais. A questão é escolher uma abstração adequada ao problema.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8"/>
          <p:cNvSpPr/>
          <p:nvPr/>
        </p:nvSpPr>
        <p:spPr>
          <a:xfrm>
            <a:off x="4348374" y="2913800"/>
            <a:ext cx="9591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Três etapas distintas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8"/>
          <p:cNvSpPr/>
          <p:nvPr/>
        </p:nvSpPr>
        <p:spPr>
          <a:xfrm>
            <a:off x="5830710" y="4845814"/>
            <a:ext cx="4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213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Source Serif 4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8"/>
          <p:cNvSpPr/>
          <p:nvPr/>
        </p:nvSpPr>
        <p:spPr>
          <a:xfrm>
            <a:off x="5001618" y="5379214"/>
            <a:ext cx="21537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873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Carregar a base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8"/>
          <p:cNvSpPr/>
          <p:nvPr/>
        </p:nvSpPr>
        <p:spPr>
          <a:xfrm>
            <a:off x="8869483" y="4845814"/>
            <a:ext cx="52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213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Source Serif 4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8"/>
          <p:cNvSpPr/>
          <p:nvPr/>
        </p:nvSpPr>
        <p:spPr>
          <a:xfrm>
            <a:off x="7737146" y="5379214"/>
            <a:ext cx="27942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873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Selecionar variáveis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8"/>
          <p:cNvSpPr/>
          <p:nvPr/>
        </p:nvSpPr>
        <p:spPr>
          <a:xfrm>
            <a:off x="11923138" y="4845814"/>
            <a:ext cx="53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213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Source Serif 4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8"/>
          <p:cNvSpPr/>
          <p:nvPr/>
        </p:nvSpPr>
        <p:spPr>
          <a:xfrm>
            <a:off x="11093145" y="5379214"/>
            <a:ext cx="2193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873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Filtrar registros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9"/>
          <p:cNvSpPr/>
          <p:nvPr/>
        </p:nvSpPr>
        <p:spPr>
          <a:xfrm>
            <a:off x="4828124" y="735500"/>
            <a:ext cx="8631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Erros comuns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49"/>
          <p:cNvSpPr/>
          <p:nvPr/>
        </p:nvSpPr>
        <p:spPr>
          <a:xfrm>
            <a:off x="2400300" y="2845371"/>
            <a:ext cx="4343400" cy="1258800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49"/>
          <p:cNvSpPr/>
          <p:nvPr/>
        </p:nvSpPr>
        <p:spPr>
          <a:xfrm>
            <a:off x="2705100" y="3131121"/>
            <a:ext cx="31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9"/>
          <p:cNvSpPr/>
          <p:nvPr/>
        </p:nvSpPr>
        <p:spPr>
          <a:xfrm>
            <a:off x="3137595" y="3112071"/>
            <a:ext cx="3400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Esquecer de importar pandas antes de usar pd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9"/>
          <p:cNvSpPr/>
          <p:nvPr/>
        </p:nvSpPr>
        <p:spPr>
          <a:xfrm>
            <a:off x="6972300" y="2845371"/>
            <a:ext cx="4343400" cy="1258800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49"/>
          <p:cNvSpPr/>
          <p:nvPr/>
        </p:nvSpPr>
        <p:spPr>
          <a:xfrm>
            <a:off x="7277100" y="3131121"/>
            <a:ext cx="31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9"/>
          <p:cNvSpPr/>
          <p:nvPr/>
        </p:nvSpPr>
        <p:spPr>
          <a:xfrm>
            <a:off x="7709595" y="3112071"/>
            <a:ext cx="3400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Errar o nome ou o caminho do arquivo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9"/>
          <p:cNvSpPr/>
          <p:nvPr/>
        </p:nvSpPr>
        <p:spPr>
          <a:xfrm>
            <a:off x="11544300" y="2845371"/>
            <a:ext cx="4343400" cy="1258800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49"/>
          <p:cNvSpPr/>
          <p:nvPr/>
        </p:nvSpPr>
        <p:spPr>
          <a:xfrm>
            <a:off x="11849100" y="3131121"/>
            <a:ext cx="31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49"/>
          <p:cNvSpPr/>
          <p:nvPr/>
        </p:nvSpPr>
        <p:spPr>
          <a:xfrm>
            <a:off x="12281595" y="3112071"/>
            <a:ext cx="3400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Usar o separador incorreto em um CSV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9"/>
          <p:cNvSpPr/>
          <p:nvPr/>
        </p:nvSpPr>
        <p:spPr>
          <a:xfrm>
            <a:off x="2400300" y="4332759"/>
            <a:ext cx="4343400" cy="1621500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49"/>
          <p:cNvSpPr/>
          <p:nvPr/>
        </p:nvSpPr>
        <p:spPr>
          <a:xfrm>
            <a:off x="2705100" y="4618509"/>
            <a:ext cx="31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9"/>
          <p:cNvSpPr/>
          <p:nvPr/>
        </p:nvSpPr>
        <p:spPr>
          <a:xfrm>
            <a:off x="3137595" y="4599459"/>
            <a:ext cx="34002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Escrever um nome de coluna diferente do que aparece em df.columns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9"/>
          <p:cNvSpPr/>
          <p:nvPr/>
        </p:nvSpPr>
        <p:spPr>
          <a:xfrm>
            <a:off x="6972300" y="4332759"/>
            <a:ext cx="4343400" cy="1621500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9"/>
          <p:cNvSpPr/>
          <p:nvPr/>
        </p:nvSpPr>
        <p:spPr>
          <a:xfrm>
            <a:off x="7277100" y="4618509"/>
            <a:ext cx="31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9"/>
          <p:cNvSpPr/>
          <p:nvPr/>
        </p:nvSpPr>
        <p:spPr>
          <a:xfrm>
            <a:off x="7709595" y="4599459"/>
            <a:ext cx="3400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Confundir = com == em filtros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9"/>
          <p:cNvSpPr/>
          <p:nvPr/>
        </p:nvSpPr>
        <p:spPr>
          <a:xfrm>
            <a:off x="11544300" y="4332759"/>
            <a:ext cx="4343400" cy="1621500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49"/>
          <p:cNvSpPr/>
          <p:nvPr/>
        </p:nvSpPr>
        <p:spPr>
          <a:xfrm>
            <a:off x="11849100" y="4618509"/>
            <a:ext cx="31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9"/>
          <p:cNvSpPr/>
          <p:nvPr/>
        </p:nvSpPr>
        <p:spPr>
          <a:xfrm>
            <a:off x="12281595" y="4599459"/>
            <a:ext cx="3400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lang="en-US" sz="210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Alterar a base sem registrar o que foi feito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t/>
            </a:r>
            <a:endParaRPr sz="2100">
              <a:solidFill>
                <a:srgbClr val="201E1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686" name="Google Shape;686;p49"/>
          <p:cNvSpPr/>
          <p:nvPr/>
        </p:nvSpPr>
        <p:spPr>
          <a:xfrm>
            <a:off x="2400300" y="6182842"/>
            <a:ext cx="4343400" cy="1258800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49"/>
          <p:cNvSpPr/>
          <p:nvPr/>
        </p:nvSpPr>
        <p:spPr>
          <a:xfrm>
            <a:off x="2705100" y="6468592"/>
            <a:ext cx="31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49"/>
          <p:cNvSpPr/>
          <p:nvPr/>
        </p:nvSpPr>
        <p:spPr>
          <a:xfrm>
            <a:off x="3137595" y="6449542"/>
            <a:ext cx="3400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Esquecer os parênteses ao combinar condições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9"/>
          <p:cNvSpPr/>
          <p:nvPr/>
        </p:nvSpPr>
        <p:spPr>
          <a:xfrm>
            <a:off x="6972300" y="6182842"/>
            <a:ext cx="4343400" cy="1258800"/>
          </a:xfrm>
          <a:prstGeom prst="roundRect">
            <a:avLst>
              <a:gd fmla="val 1513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49"/>
          <p:cNvSpPr/>
          <p:nvPr/>
        </p:nvSpPr>
        <p:spPr>
          <a:xfrm>
            <a:off x="7277100" y="6468592"/>
            <a:ext cx="31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</a:t>
            </a:r>
            <a:r>
              <a:rPr b="0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9"/>
          <p:cNvSpPr/>
          <p:nvPr/>
        </p:nvSpPr>
        <p:spPr>
          <a:xfrm>
            <a:off x="7709595" y="6449542"/>
            <a:ext cx="3400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lang="en-US" sz="2100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Concluir antes de verificar tipos e estrutura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2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t/>
            </a:r>
            <a:endParaRPr sz="2100">
              <a:solidFill>
                <a:srgbClr val="201E1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692" name="Google Shape;692;p49"/>
          <p:cNvSpPr/>
          <p:nvPr/>
        </p:nvSpPr>
        <p:spPr>
          <a:xfrm>
            <a:off x="4348538" y="8320980"/>
            <a:ext cx="959077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6842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Quando ocorrer um erro, ler a mensagem e verificar primeiro nomes de variáveis, nomes de colunas e tipos.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0"/>
          <p:cNvSpPr/>
          <p:nvPr/>
        </p:nvSpPr>
        <p:spPr>
          <a:xfrm>
            <a:off x="2229450" y="2562525"/>
            <a:ext cx="138291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315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Source Serif 4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Como isso volta nas próximas aulas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0"/>
          <p:cNvSpPr/>
          <p:nvPr/>
        </p:nvSpPr>
        <p:spPr>
          <a:xfrm>
            <a:off x="2656523" y="3778597"/>
            <a:ext cx="651700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AULA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50"/>
          <p:cNvSpPr/>
          <p:nvPr/>
        </p:nvSpPr>
        <p:spPr>
          <a:xfrm>
            <a:off x="2863882" y="4167932"/>
            <a:ext cx="6102287" cy="1552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base legível e filtrável de hoje ainda tem categorias inconsistentes, datas em formatos diferentes, duplicidades e tipos inadequados — que serão limpos e padronizados.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50"/>
          <p:cNvSpPr/>
          <p:nvPr/>
        </p:nvSpPr>
        <p:spPr>
          <a:xfrm>
            <a:off x="9114473" y="3778597"/>
            <a:ext cx="651700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AULA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0"/>
          <p:cNvSpPr/>
          <p:nvPr/>
        </p:nvSpPr>
        <p:spPr>
          <a:xfrm>
            <a:off x="9321832" y="4167932"/>
            <a:ext cx="6102287" cy="11739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pandas e NumPy integrados para criar variáveis derivadas e realizar operações vetorizadas e agregadas.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50"/>
          <p:cNvSpPr/>
          <p:nvPr/>
        </p:nvSpPr>
        <p:spPr>
          <a:xfrm>
            <a:off x="2656523" y="6120557"/>
            <a:ext cx="651700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AULAS 7 E 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50"/>
          <p:cNvSpPr/>
          <p:nvPr/>
        </p:nvSpPr>
        <p:spPr>
          <a:xfrm>
            <a:off x="2863882" y="6509891"/>
            <a:ext cx="6102287" cy="795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inspeção estrutural de hoje é a base da análise exploratória.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50"/>
          <p:cNvSpPr/>
          <p:nvPr/>
        </p:nvSpPr>
        <p:spPr>
          <a:xfrm>
            <a:off x="9114473" y="6120557"/>
            <a:ext cx="651700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AULA 9 EM DIANTE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50"/>
          <p:cNvSpPr/>
          <p:nvPr/>
        </p:nvSpPr>
        <p:spPr>
          <a:xfrm>
            <a:off x="9321832" y="6509891"/>
            <a:ext cx="6102287" cy="795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4632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Source Serif 4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Visualização, estatística e avaliação continuam usando o DataFrame como estrutura central.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1"/>
          <p:cNvSpPr/>
          <p:nvPr/>
        </p:nvSpPr>
        <p:spPr>
          <a:xfrm>
            <a:off x="7941707" y="1663005"/>
            <a:ext cx="2404586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8ABDD4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8ABDD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PRÓXIMA AULA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51"/>
          <p:cNvSpPr/>
          <p:nvPr/>
        </p:nvSpPr>
        <p:spPr>
          <a:xfrm>
            <a:off x="2440805" y="2302966"/>
            <a:ext cx="13406390" cy="21776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785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Source Serif 4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Aula 5: limpeza e padronização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51"/>
          <p:cNvSpPr/>
          <p:nvPr/>
        </p:nvSpPr>
        <p:spPr>
          <a:xfrm>
            <a:off x="8686800" y="4652070"/>
            <a:ext cx="914400" cy="28575"/>
          </a:xfrm>
          <a:prstGeom prst="rect">
            <a:avLst/>
          </a:prstGeom>
          <a:solidFill>
            <a:srgbClr val="0088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1"/>
          <p:cNvSpPr/>
          <p:nvPr/>
        </p:nvSpPr>
        <p:spPr>
          <a:xfrm>
            <a:off x="4992062" y="4890195"/>
            <a:ext cx="8303727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37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ource Serif 4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“Hoje passamos dos registros manuais para uma base tabular e aprendemos a carregá-la, inspecioná-la e filtrá-la. Também vimos que bases reais raramente chegam prontas. Na próxima aula, vamos limpar, transformar e padronizar esses dados para prepará-los para análise.”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