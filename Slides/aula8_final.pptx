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Source Serif 4 SemiBold"/>
      <p:regular r:id="rId54"/>
      <p:bold r:id="rId55"/>
      <p:italic r:id="rId56"/>
      <p:boldItalic r:id="rId57"/>
    </p:embeddedFont>
    <p:embeddedFont>
      <p:font typeface="Source Serif 4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SourceSerif4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ourceSerif4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SourceSerif4SemiBold-bold.fntdata"/><Relationship Id="rId10" Type="http://schemas.openxmlformats.org/officeDocument/2006/relationships/slide" Target="slides/slide4.xml"/><Relationship Id="rId54" Type="http://schemas.openxmlformats.org/officeDocument/2006/relationships/font" Target="fonts/SourceSerif4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SourceSerif4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SourceSerif4SemiBold-italic.fntdata"/><Relationship Id="rId15" Type="http://schemas.openxmlformats.org/officeDocument/2006/relationships/slide" Target="slides/slide9.xml"/><Relationship Id="rId59" Type="http://schemas.openxmlformats.org/officeDocument/2006/relationships/font" Target="fonts/SourceSerif4-bold.fntdata"/><Relationship Id="rId14" Type="http://schemas.openxmlformats.org/officeDocument/2006/relationships/slide" Target="slides/slide8.xml"/><Relationship Id="rId58" Type="http://schemas.openxmlformats.org/officeDocument/2006/relationships/font" Target="fonts/SourceSerif4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4e0d1e122a17fc35_3_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h4e0d1e122a17fc35_3_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Abrir a Aula 8 retomando a pergunta deixada no fim da Aula 7.</a:t>
            </a:r>
            <a:endParaRPr sz="900"/>
          </a:p>
        </p:txBody>
      </p:sp>
      <p:sp>
        <p:nvSpPr>
          <p:cNvPr id="57" name="Google Shape;57;h4e0d1e122a17fc35_3_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e0d1e122a17fc35_3_2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h4e0d1e122a17fc35_3_2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Recapitular a Aula 7 com quatro exercícios curtos antes do conteúdo novo: frequências e ausências, média e mediana, dispersão e posição, e resumo por grupo.</a:t>
            </a:r>
            <a:endParaRPr sz="900"/>
          </a:p>
        </p:txBody>
      </p:sp>
      <p:sp>
        <p:nvSpPr>
          <p:cNvPr id="78" name="Google Shape;78;h4e0d1e122a17fc35_3_2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e0d1e122a17fc35_3_3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4e0d1e122a17fc35_3_3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 value_counts() e o papel das ausências no denominador. Resposta: sem dropna=False, a ausência é excluída e Cardio representa 2 de 4 valores válidos, ou 50%. Com dropna=False, o denominador passa a ser 5 e Cardio representa 40%. Informar o número de valores válidos evita leituras enganosas.</a:t>
            </a:r>
            <a:endParaRPr sz="900"/>
          </a:p>
        </p:txBody>
      </p:sp>
      <p:sp>
        <p:nvSpPr>
          <p:cNvPr id="90" name="Google Shape;90;h4e0d1e122a17fc35_3_3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e0d1e122a17fc35_3_4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h4e0d1e122a17fc35_3_4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 média, mediana e sensibilidade aos extremos. Resposta: mean() devolve 8.0 e median() devolve 3.0. O valor 28 puxa a média para cima, enquanto a mediana representa melhor o tempo típico. A distância entre as duas é uma pista de assimetria, não uma conclusão, e prepara a discussão sobre valores extremos desta aula.</a:t>
            </a:r>
            <a:endParaRPr sz="900"/>
          </a:p>
        </p:txBody>
      </p:sp>
      <p:sp>
        <p:nvSpPr>
          <p:cNvPr id="104" name="Google Shape;104;h4e0d1e122a17fc35_3_4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4e0d1e122a17fc35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h4e0d1e122a17fc35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e0d1e122a17fc35_3_1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h4e0d1e122a17fc35_3_1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 amplitude, desvio-padrão e quartis. Resposta: amplitude = 95 − 30 = 65; std() ≈ 22,81; Q1 = 45, Q3 = 75 e IQR = 30. Trocando 95 por 120, a amplitude vai a 90 e o desvio-padrão a ≈ 29,92, mas o IQR continua 30, porque depende apenas dos 50% centrais. É essa robustez que a regra do IQR usa hoje para sinalizar extremos.</a:t>
            </a:r>
            <a:endParaRPr sz="900"/>
          </a:p>
        </p:txBody>
      </p:sp>
      <p:sp>
        <p:nvSpPr>
          <p:cNvPr id="170" name="Google Shape;170;h4e0d1e122a17fc35_3_1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4e0d1e122a17fc35_3_1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h4e0d1e122a17fc35_3_1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 amplitude, desvio-padrão e quartis. Resposta: amplitude = 95 − 30 = 65; std() ≈ 22,81; Q1 = 45, Q3 = 75 e IQR = 30. Trocando 95 por 120, a amplitude vai a 90 e o desvio-padrão a ≈ 29,92, mas o IQR continua 30, porque depende apenas dos 50% centrais. É essa robustez que a regra do IQR usa hoje para sinalizar extremos.</a:t>
            </a:r>
            <a:endParaRPr sz="900"/>
          </a:p>
        </p:txBody>
      </p:sp>
      <p:sp>
        <p:nvSpPr>
          <p:cNvPr id="184" name="Google Shape;184;h4e0d1e122a17fc35_3_1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e0d1e122a17fc35_3_17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4e0d1e122a17fc35_3_17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Frase de abertura sugerida.</a:t>
            </a:r>
            <a:endParaRPr sz="900"/>
          </a:p>
        </p:txBody>
      </p:sp>
      <p:sp>
        <p:nvSpPr>
          <p:cNvPr id="236" name="Google Shape;236;h4e0d1e122a17fc35_3_17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4e0d1e122a17fc35_3_22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4e0d1e122a17fc35_3_22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248" name="Google Shape;248;h4e0d1e122a17fc35_3_22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4e0d1e122a17fc35_3_23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h4e0d1e122a17fc35_3_23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Retomar a frase de transição da Aula 7. Perguntar: um valor extremo significa necessariamente erro? Uma diferença entre grupos prova causa?</a:t>
            </a:r>
            <a:endParaRPr sz="900"/>
          </a:p>
        </p:txBody>
      </p:sp>
      <p:sp>
        <p:nvSpPr>
          <p:cNvPr id="259" name="Google Shape;259;h4e0d1e122a17fc35_3_23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4e0d1e122a17fc35_3_24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h4e0d1e122a17fc35_3_24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Na Aula 8, o foco é bivariado e, em alguns momentos, estratificado.</a:t>
            </a:r>
            <a:endParaRPr sz="900"/>
          </a:p>
        </p:txBody>
      </p:sp>
      <p:sp>
        <p:nvSpPr>
          <p:cNvPr id="270" name="Google Shape;270;h4e0d1e122a17fc35_3_24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e0d1e122a17fc35_8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4e0d1e122a17fc35_8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fictício com igual quantidade de pacientes jovens e idosos, para que a média geral de 8 dias corresponda à média dos dois grupos. Mostrar primeiro 8 dias; depois revelar a diferença de 4 versus 12 dias. Explicar que a faixa etária pode estar associada ao tempo de internação, mas o exemplo não demonstra causalidade.</a:t>
            </a:r>
            <a:endParaRPr/>
          </a:p>
        </p:txBody>
      </p:sp>
      <p:sp>
        <p:nvSpPr>
          <p:cNvPr id="285" name="Google Shape;285;h4e0d1e122a17fc35_8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4e0d1e122a17fc35_3_25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h4e0d1e122a17fc35_3_25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Padrão: regularidade ou diferença nos dados observados que merece investigação. Termo descritivo, sem implicar causalidade.</a:t>
            </a:r>
            <a:endParaRPr sz="900"/>
          </a:p>
        </p:txBody>
      </p:sp>
      <p:sp>
        <p:nvSpPr>
          <p:cNvPr id="307" name="Google Shape;307;h4e0d1e122a17fc35_3_25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e0d1e122a17fc35_3_30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h4e0d1e122a17fc35_3_30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Se a turma já usa pacientes_aula7_enriquecido.csv, não é preciso criar outro arquivo. Manter células Markdown com observação, hipótese e limitação.</a:t>
            </a:r>
            <a:endParaRPr sz="900"/>
          </a:p>
        </p:txBody>
      </p:sp>
      <p:sp>
        <p:nvSpPr>
          <p:cNvPr id="336" name="Google Shape;336;h4e0d1e122a17fc35_3_30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4e0d1e122a17fc35_3_32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h4e0d1e122a17fc35_3_32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Ausências podem alterar o denominador das comparações.</a:t>
            </a:r>
            <a:endParaRPr sz="900"/>
          </a:p>
        </p:txBody>
      </p:sp>
      <p:sp>
        <p:nvSpPr>
          <p:cNvPr id="353" name="Google Shape;353;h4e0d1e122a17fc35_3_32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4e0d1e122a17fc35_3_34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h4e0d1e122a17fc35_3_34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370" name="Google Shape;370;h4e0d1e122a17fc35_3_34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4e0d1e122a17fc35_3_35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4e0d1e122a17fc35_3_35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Esperar que a turma perceba: um serviço com mais pacientes pode ter mais readmissões só por ter um denominador maior.</a:t>
            </a:r>
            <a:endParaRPr sz="900"/>
          </a:p>
        </p:txBody>
      </p:sp>
      <p:sp>
        <p:nvSpPr>
          <p:cNvPr id="381" name="Google Shape;381;h4e0d1e122a17fc35_3_35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4e0d1e122a17fc35_3_37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h4e0d1e122a17fc35_3_37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Mostrar contagens e percentuais lado a lado.</a:t>
            </a:r>
            <a:endParaRPr sz="900"/>
          </a:p>
        </p:txBody>
      </p:sp>
      <p:sp>
        <p:nvSpPr>
          <p:cNvPr id="401" name="Google Shape;401;h4e0d1e122a17fc35_3_37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4e0d1e122a17fc35_3_38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h4e0d1e122a17fc35_3_38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 turma deve criar o hábito de perguntar quantas observações sustentam cada percentual.</a:t>
            </a:r>
            <a:endParaRPr sz="900"/>
          </a:p>
        </p:txBody>
      </p:sp>
      <p:sp>
        <p:nvSpPr>
          <p:cNvPr id="414" name="Google Shape;414;h4e0d1e122a17fc35_3_38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4e0d1e122a17fc35_3_3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h4e0d1e122a17fc35_3_3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427" name="Google Shape;427;h4e0d1e122a17fc35_3_3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4e0d1e122a17fc35_3_40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h4e0d1e122a17fc35_3_40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count mostra quantas observações sustentam o resumo; min e max ajudam a localizar valores incomuns.</a:t>
            </a:r>
            <a:endParaRPr sz="900"/>
          </a:p>
        </p:txBody>
      </p:sp>
      <p:sp>
        <p:nvSpPr>
          <p:cNvPr id="438" name="Google Shape;438;h4e0d1e122a17fc35_3_40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4e0d1e122a17fc35_3_42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h4e0d1e122a17fc35_3_42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Perguntar: as diferenças são grandes em relação à variabilidade? Que outras variáveis poderiam explicá-las? Não introduzir testes de hipótese.</a:t>
            </a:r>
            <a:endParaRPr sz="900"/>
          </a:p>
        </p:txBody>
      </p:sp>
      <p:sp>
        <p:nvSpPr>
          <p:cNvPr id="451" name="Google Shape;451;h4e0d1e122a17fc35_3_42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4e0d1e122a17fc35_3_43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h4e0d1e122a17fc35_3_43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464" name="Google Shape;464;h4e0d1e122a17fc35_3_43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4e0d1e122a17fc35_3_44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h4e0d1e122a17fc35_3_44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Sempre verificar count antes de interpretar diferenças.</a:t>
            </a:r>
            <a:endParaRPr sz="900"/>
          </a:p>
        </p:txBody>
      </p:sp>
      <p:sp>
        <p:nvSpPr>
          <p:cNvPr id="475" name="Google Shape;475;h4e0d1e122a17fc35_3_44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4e0d1e122a17fc35_3_4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h4e0d1e122a17fc35_3_4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Um serviço pode ter taxa maior porque atende uma população com perfil etário ou clínico diferente. Não formalizar confundimento nesta aula.</a:t>
            </a:r>
            <a:endParaRPr sz="900"/>
          </a:p>
        </p:txBody>
      </p:sp>
      <p:sp>
        <p:nvSpPr>
          <p:cNvPr id="491" name="Google Shape;491;h4e0d1e122a17fc35_3_4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4e0d1e122a17fc35_3_47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h4e0d1e122a17fc35_3_47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504" name="Google Shape;504;h4e0d1e122a17fc35_3_47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4e0d1e122a17fc35_3_48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h4e0d1e122a17fc35_3_48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Ordenar mostra a observação inteira, não só o valor isolado. A primeira ação não deve ser remover a linha.</a:t>
            </a:r>
            <a:endParaRPr sz="900"/>
          </a:p>
        </p:txBody>
      </p:sp>
      <p:sp>
        <p:nvSpPr>
          <p:cNvPr id="515" name="Google Shape;515;h4e0d1e122a17fc35_3_48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h4e0d1e122a17fc3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h4e0d1e122a17fc3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4e0d1e122a17fc35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4e0d1e122a17fc3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h4e0d1e122a17fc35_3_50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h4e0d1e122a17fc35_3_50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Retomar Q1, Q3 e IQR da Aula 7. A regra sinaliza, não decide.</a:t>
            </a:r>
            <a:endParaRPr sz="900"/>
          </a:p>
        </p:txBody>
      </p:sp>
      <p:sp>
        <p:nvSpPr>
          <p:cNvPr id="635" name="Google Shape;635;h4e0d1e122a17fc35_3_50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h4e0d1e122a17fc35_3_51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h4e0d1e122a17fc35_3_51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 regra não sabe se o valor é erro, caso raro, paciente complexo ou evento clinicamente importante.</a:t>
            </a:r>
            <a:endParaRPr sz="900"/>
          </a:p>
        </p:txBody>
      </p:sp>
      <p:sp>
        <p:nvSpPr>
          <p:cNvPr id="647" name="Google Shape;647;h4e0d1e122a17fc35_3_51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4e0d1e122a17fc35_3_52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h4e0d1e122a17fc35_3_52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Mensagem central do bloco.</a:t>
            </a:r>
            <a:endParaRPr sz="900"/>
          </a:p>
        </p:txBody>
      </p:sp>
      <p:sp>
        <p:nvSpPr>
          <p:cNvPr id="660" name="Google Shape;660;h4e0d1e122a17fc35_3_52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h4e0d1e122a17fc35_3_54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h4e0d1e122a17fc35_3_54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Em vez de remover, registrar a sinalização numa coluna.</a:t>
            </a:r>
            <a:endParaRPr sz="900"/>
          </a:p>
        </p:txBody>
      </p:sp>
      <p:sp>
        <p:nvSpPr>
          <p:cNvPr id="672" name="Google Shape;672;h4e0d1e122a17fc35_3_54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4e0d1e122a17fc35_3_56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h4e0d1e122a17fc35_3_56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Perguntar também: há algo que sugira erro de digitação? A regra faz sentido para essa variável?</a:t>
            </a:r>
            <a:endParaRPr sz="900"/>
          </a:p>
        </p:txBody>
      </p:sp>
      <p:sp>
        <p:nvSpPr>
          <p:cNvPr id="696" name="Google Shape;696;h4e0d1e122a17fc35_3_56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4e0d1e122a17fc35_3_57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h4e0d1e122a17fc35_3_57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 média de readmissao_30d só é proporção porque a codificação 0/1 foi definida antes.</a:t>
            </a:r>
            <a:endParaRPr sz="900"/>
          </a:p>
        </p:txBody>
      </p:sp>
      <p:sp>
        <p:nvSpPr>
          <p:cNvPr id="709" name="Google Shape;709;h4e0d1e122a17fc35_3_57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h4e0d1e122a17fc35_3_59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h4e0d1e122a17fc35_3_59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Qual versão reportar depende da pergunta, da qualidade dos dados e do método. Toda exclusão futura precisa de justificativa documentada.</a:t>
            </a:r>
            <a:endParaRPr sz="900"/>
          </a:p>
        </p:txBody>
      </p:sp>
      <p:sp>
        <p:nvSpPr>
          <p:cNvPr id="722" name="Google Shape;722;h4e0d1e122a17fc35_3_59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h4e0d1e122a17fc35_3_60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h4e0d1e122a17fc35_3_60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Não construir regras por grupo nesta aula; mostrar que população e definição importam.</a:t>
            </a:r>
            <a:endParaRPr sz="900"/>
          </a:p>
        </p:txBody>
      </p:sp>
      <p:sp>
        <p:nvSpPr>
          <p:cNvPr id="735" name="Google Shape;735;h4e0d1e122a17fc35_3_60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h4e0d1e122a17fc35_3_6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h4e0d1e122a17fc35_3_6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750" name="Google Shape;750;h4e0d1e122a17fc35_3_6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h4e0d1e122a17fc35_3_62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h4e0d1e122a17fc35_3_62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Estrutura para transformar observações em perguntas analíticas.</a:t>
            </a:r>
            <a:endParaRPr sz="900"/>
          </a:p>
        </p:txBody>
      </p:sp>
      <p:sp>
        <p:nvSpPr>
          <p:cNvPr id="761" name="Google Shape;761;h4e0d1e122a17fc35_3_62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4e0d1e122a17fc35_3_64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h4e0d1e122a17fc35_3_64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 associação entre categorias volta na Aula 13, com o teste qui-quadrado.</a:t>
            </a:r>
            <a:endParaRPr sz="900"/>
          </a:p>
        </p:txBody>
      </p:sp>
      <p:sp>
        <p:nvSpPr>
          <p:cNvPr id="781" name="Google Shape;781;h4e0d1e122a17fc35_3_64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h4e0d1e122a17fc35_3_67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h4e0d1e122a17fc35_3_67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“A diferença é estatisticamente significativa” só vale se algum teste foi feito.</a:t>
            </a:r>
            <a:endParaRPr sz="900"/>
          </a:p>
        </p:txBody>
      </p:sp>
      <p:sp>
        <p:nvSpPr>
          <p:cNvPr id="806" name="Google Shape;806;h4e0d1e122a17fc35_3_67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h4e0d1e122a17fc35_3_68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h4e0d1e122a17fc35_3_68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Modelo para registrar em Markdown; reutilizado nas Aulas 9 a 11.</a:t>
            </a:r>
            <a:endParaRPr sz="900"/>
          </a:p>
        </p:txBody>
      </p:sp>
      <p:sp>
        <p:nvSpPr>
          <p:cNvPr id="820" name="Google Shape;820;h4e0d1e122a17fc35_3_68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h4e0d1e122a17fc35_3_71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h4e0d1e122a17fc35_3_71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Protocolo diante de uma diferença inesperada: tamanho dos grupos, distribuição, extremos e composição dos subgrupos.</a:t>
            </a:r>
            <a:endParaRPr sz="900"/>
          </a:p>
        </p:txBody>
      </p:sp>
      <p:sp>
        <p:nvSpPr>
          <p:cNvPr id="845" name="Google Shape;845;h4e0d1e122a17fc35_3_71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h7ef0cb416e19922f_9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h7ef0cb416e19922f_9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Gabarito para discussão: Cardio: 1/4 = 25% de readmissões; Neuro: 2/4 = 50%. Cardio: média 7 dias, mediana 3,5 dias. Neuro: média 5,5 dias, mediana 5,5 dias. O caso de 19 dias puxa a média de Cardio; não deve ser excluído automaticamente. Investigar se o tempo maior corresponde a paciente mais grave, procedimento diferente ou erro de registro. Observações descritivas não provam causalidade. Dados fictícios apenas para fins didáticos.</a:t>
            </a:r>
            <a:endParaRPr/>
          </a:p>
        </p:txBody>
      </p:sp>
      <p:sp>
        <p:nvSpPr>
          <p:cNvPr id="880" name="Google Shape;880;h7ef0cb416e19922f_9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h4e0d1e122a17fc35_3_74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h4e0d1e122a17fc35_3_74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Aula 14: distribuição do desfecho e classes desbalanceadas. Aula 15: rastreabilidade das regras de outlier e exclusão.</a:t>
            </a:r>
            <a:endParaRPr sz="900"/>
          </a:p>
        </p:txBody>
      </p:sp>
      <p:sp>
        <p:nvSpPr>
          <p:cNvPr id="947" name="Google Shape;947;h4e0d1e122a17fc35_3_74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h7ef0cb416e19922f_8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h7ef0cb416e19922f_8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Gabarito para discussão: Cardio: 1/4 = 25% de readmissões; Neuro: 2/4 = 50%. Cardio: média 7 dias, mediana 3,5 dias. Neuro: média 5,5 dias, mediana 5,5 dias. O caso de 19 dias puxa a média de Cardio; não deve ser excluído automaticamente. Investigar se o tempo maior corresponde a paciente mais grave, procedimento diferente ou erro de registro. Observações descritivas não provam causalidade. Dados fictícios apenas para fins didáticos.</a:t>
            </a:r>
            <a:endParaRPr/>
          </a:p>
        </p:txBody>
      </p:sp>
      <p:sp>
        <p:nvSpPr>
          <p:cNvPr id="965" name="Google Shape;965;h7ef0cb416e19922f_8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h4e0d1e122a17fc35_3_76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h4e0d1e122a17fc35_3_76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900"/>
              <a:t>Frase de transição para a Aula 9.</a:t>
            </a:r>
            <a:endParaRPr sz="900"/>
          </a:p>
        </p:txBody>
      </p:sp>
      <p:sp>
        <p:nvSpPr>
          <p:cNvPr id="1032" name="Google Shape;1032;h4e0d1e122a17fc35_3_76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09f09fc3c5408b2_11_0)">
  <p:cSld name="Generated (h309f09fc3c5408b2_11_0)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/>
          <p:nvPr/>
        </p:nvSpPr>
        <p:spPr>
          <a:xfrm>
            <a:off x="3728144" y="1131540"/>
            <a:ext cx="217975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7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Mestrado e Doutorado Stricto Sensu em Ciências da Saúde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7"/>
          <p:cNvSpPr/>
          <p:nvPr/>
        </p:nvSpPr>
        <p:spPr>
          <a:xfrm>
            <a:off x="2316065" y="1628626"/>
            <a:ext cx="4511796" cy="6164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2100"/>
              <a:buFont typeface="Source Serif 4"/>
              <a:buNone/>
            </a:pPr>
            <a:r>
              <a:rPr b="1" i="0" lang="pt-BR" sz="21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Padrões, outliers e formulação de hipóteses a partir dos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/>
          <p:nvPr/>
        </p:nvSpPr>
        <p:spPr>
          <a:xfrm>
            <a:off x="2650175" y="2330798"/>
            <a:ext cx="1318037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27/08 a 03/12/2026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3994026" y="2330798"/>
            <a:ext cx="79549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4124452" y="2330798"/>
            <a:ext cx="766658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19h às 21h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/>
          <p:nvPr/>
        </p:nvSpPr>
        <p:spPr>
          <a:xfrm>
            <a:off x="4941987" y="2330798"/>
            <a:ext cx="79549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5040927" y="2330798"/>
            <a:ext cx="145932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Ao vivo — Via Zoom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4343400" y="2657029"/>
            <a:ext cx="457200" cy="1428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3599479" y="2814191"/>
            <a:ext cx="194496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DOCENTES RESPONSÁVEIS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4744" y="3115121"/>
            <a:ext cx="628650" cy="6286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9" name="Google Shape;69;p17"/>
          <p:cNvSpPr/>
          <p:nvPr/>
        </p:nvSpPr>
        <p:spPr>
          <a:xfrm>
            <a:off x="2237199" y="3819972"/>
            <a:ext cx="1343740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erif 4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Fanchini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2329" y="3115121"/>
            <a:ext cx="628650" cy="6286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1" name="Google Shape;71;p17"/>
          <p:cNvSpPr/>
          <p:nvPr/>
        </p:nvSpPr>
        <p:spPr>
          <a:xfrm>
            <a:off x="3889668" y="3819972"/>
            <a:ext cx="1293971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erif 4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Mahlow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5260" y="3115121"/>
            <a:ext cx="628650" cy="6286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5488834" y="3819972"/>
            <a:ext cx="1421502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erif 4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Giovanni Franco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7" title="einstein_logo_branc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0608" y="1061225"/>
            <a:ext cx="537173" cy="4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4338563" y="1666726"/>
            <a:ext cx="466874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2848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4100"/>
              <a:buFont typeface="Source Serif 4"/>
              <a:buNone/>
            </a:pPr>
            <a:r>
              <a:rPr b="0" i="0" lang="pt-BR" sz="41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↺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2635058" y="2314426"/>
            <a:ext cx="3873810" cy="360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2391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400"/>
              <a:buFont typeface="Source Serif 4"/>
              <a:buNone/>
            </a:pPr>
            <a:r>
              <a:rPr b="1" i="0" lang="pt-BR" sz="24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Revisão da aula anterior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942022" y="2798639"/>
            <a:ext cx="7259955" cy="5161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531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400"/>
              <a:buFont typeface="Source Serif 4"/>
              <a:buNone/>
            </a:pPr>
            <a:r>
              <a:rPr b="0" i="0" lang="pt-BR" sz="1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Antes de iniciarmos o conteúdo de hoje, vamos recapitular com exercícios alguns conceitos fundamentais apresentados na última aula.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1880592" y="1200522"/>
            <a:ext cx="5382816" cy="3177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100"/>
              <a:buFont typeface="Source Serif 4"/>
              <a:buNone/>
            </a:pPr>
            <a:r>
              <a:rPr b="1" i="0" lang="pt-BR" sz="21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1 — Frequências e ausências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880592" y="1603995"/>
            <a:ext cx="5382816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200"/>
              <a:buFont typeface="Source Serif 4"/>
              <a:buNone/>
            </a:pPr>
            <a:r>
              <a:rPr b="0" i="0" lang="pt-BR" sz="12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1160711" y="1983061"/>
            <a:ext cx="6822579" cy="1023938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1389310" y="2173561"/>
            <a:ext cx="6570057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"servico": ["Cardio", "Neuro", "Cardio", None, "Orto"]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94861" y="3197498"/>
            <a:ext cx="7554278" cy="4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300"/>
              <a:buFont typeface="Source Serif 4"/>
              <a:buNone/>
            </a:pPr>
            <a:r>
              <a:rPr b="0" i="0" lang="pt-BR" sz="13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Compare value_counts(normalize=True) com value_counts(normalize=True, dropna=False). Qual é o percentual de Cardio em cada caso e por que ele muda?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9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1880592" y="1200522"/>
            <a:ext cx="5382816" cy="3177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100"/>
              <a:buFont typeface="Source Serif 4"/>
              <a:buNone/>
            </a:pPr>
            <a:r>
              <a:rPr b="1" i="0" lang="pt-BR" sz="21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2 — Média e mediana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1880592" y="1603995"/>
            <a:ext cx="5382816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200"/>
              <a:buFont typeface="Source Serif 4"/>
              <a:buNone/>
            </a:pPr>
            <a:r>
              <a:rPr b="0" i="0" lang="pt-BR" sz="12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1160711" y="1983061"/>
            <a:ext cx="6822579" cy="1023938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1389310" y="2173561"/>
            <a:ext cx="6570057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"tempo_internacao_dias": [2, 3, 3, 4, 28]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794861" y="3197498"/>
            <a:ext cx="7554278" cy="4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300"/>
              <a:buFont typeface="Source Serif 4"/>
              <a:buNone/>
            </a:pPr>
            <a:r>
              <a:rPr b="0" i="0" lang="pt-BR" sz="13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Calcule mean() e median(). Qual medida representa melhor o tempo típico de internação? O que a distância entre elas sugere?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0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476250" y="28575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2 — Média e Mediana</a:t>
            </a:r>
            <a:endParaRPr b="1" i="0" sz="2200" u="none" cap="none" strike="noStrike">
              <a:solidFill>
                <a:srgbClr val="0F2D4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476250" y="685800"/>
            <a:ext cx="8191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0608C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Cálculo das medidas de tendência central e impacto de valores extremos (outliers)</a:t>
            </a:r>
            <a:endParaRPr b="1" i="0" sz="1200" u="none" cap="none" strike="noStrike">
              <a:solidFill>
                <a:srgbClr val="00608C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grpSp>
        <p:nvGrpSpPr>
          <p:cNvPr id="121" name="Google Shape;121;p21"/>
          <p:cNvGrpSpPr/>
          <p:nvPr/>
        </p:nvGrpSpPr>
        <p:grpSpPr>
          <a:xfrm>
            <a:off x="476250" y="1047750"/>
            <a:ext cx="3905400" cy="3476700"/>
            <a:chOff x="0" y="0"/>
            <a:chExt cx="3905400" cy="3476700"/>
          </a:xfrm>
        </p:grpSpPr>
        <p:sp>
          <p:nvSpPr>
            <p:cNvPr id="122" name="Google Shape;122;p21"/>
            <p:cNvSpPr/>
            <p:nvPr/>
          </p:nvSpPr>
          <p:spPr>
            <a:xfrm>
              <a:off x="0" y="0"/>
              <a:ext cx="3905400" cy="3476700"/>
            </a:xfrm>
            <a:prstGeom prst="roundRect">
              <a:avLst>
                <a:gd fmla="val 2739" name="adj"/>
              </a:avLst>
            </a:prstGeom>
            <a:solidFill>
              <a:srgbClr val="FFFFFF"/>
            </a:solidFill>
            <a:ln cap="flat" cmpd="sng" w="14300">
              <a:solidFill>
                <a:srgbClr val="0060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1"/>
            <p:cNvSpPr txBox="1"/>
            <p:nvPr/>
          </p:nvSpPr>
          <p:spPr>
            <a:xfrm>
              <a:off x="0" y="0"/>
              <a:ext cx="3905400" cy="34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pt-BR" sz="130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Equações e Resolução</a:t>
              </a:r>
              <a:endParaRPr b="1" i="0" sz="13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991B1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1. Média (x̅)</a:t>
              </a:r>
              <a:endParaRPr b="1" i="0" sz="1100" u="none" cap="none" strike="noStrike">
                <a:solidFill>
                  <a:srgbClr val="991B1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pt-BR" sz="1050" u="none" cap="none" strike="noStrike">
                  <a:solidFill>
                    <a:srgbClr val="1E293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x̅ = (Σ xi) / n = (2 + 3 + 3 + 4 + 28) / 5</a:t>
              </a:r>
              <a:endParaRPr b="0" i="0" sz="1050" u="none" cap="none" strike="noStrike">
                <a:solidFill>
                  <a:srgbClr val="1E293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EF4444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x̅ = 40 / 5 = 8.0 dias</a:t>
              </a:r>
              <a:endParaRPr b="1" i="0" sz="1100" u="none" cap="none" strike="noStrike">
                <a:solidFill>
                  <a:srgbClr val="EF4444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65F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2. Mediana (x̃)</a:t>
              </a:r>
              <a:endParaRPr b="1" i="0" sz="1100" u="none" cap="none" strike="noStrike">
                <a:solidFill>
                  <a:srgbClr val="065F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pt-BR" sz="10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Rol: [2, 3, </a:t>
              </a:r>
              <a:r>
                <a:rPr b="1" i="0" lang="pt-BR" sz="1050" u="none" cap="none" strike="noStrike">
                  <a:solidFill>
                    <a:srgbClr val="10B981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3</a:t>
              </a:r>
              <a:r>
                <a:rPr b="0" i="0" lang="pt-BR" sz="10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, 4, 28] (Posição central n=5)</a:t>
              </a:r>
              <a:endParaRPr b="0" i="0" sz="1050" u="none" cap="none" strike="noStrike">
                <a:solidFill>
                  <a:srgbClr val="3341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10B981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x̃ = 3.0 dias</a:t>
              </a:r>
              <a:endParaRPr b="1" i="0" sz="1100" u="none" cap="none" strike="noStrike">
                <a:solidFill>
                  <a:srgbClr val="10B981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pt-BR" sz="105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Conclusão Visual:</a:t>
              </a:r>
              <a:endParaRPr b="1" i="0" sz="10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pt-BR" sz="100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 </a:t>
              </a:r>
              <a:r>
                <a:rPr b="1" i="0" lang="pt-BR" sz="100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mediana (3.0)</a:t>
              </a:r>
              <a:r>
                <a:rPr b="0" i="0" lang="pt-BR" sz="100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representa melhor o tempo típico. O valor </a:t>
              </a:r>
              <a:r>
                <a:rPr b="1" i="0" lang="pt-BR" sz="1000" u="none" cap="none" strike="noStrike">
                  <a:solidFill>
                    <a:srgbClr val="DC262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28 (outlier)</a:t>
              </a:r>
              <a:r>
                <a:rPr b="0" i="0" lang="pt-BR" sz="100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distorce a média para </a:t>
              </a:r>
              <a:r>
                <a:rPr b="1" i="0" lang="pt-BR" sz="1000" u="none" cap="none" strike="noStrike">
                  <a:solidFill>
                    <a:srgbClr val="DC262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8.0</a:t>
              </a:r>
              <a:r>
                <a:rPr b="0" i="0" lang="pt-BR" sz="100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, gerando assimetria à direita.</a:t>
              </a:r>
              <a:endParaRPr b="0" i="0" sz="1000" u="none" cap="none" strike="noStrike">
                <a:solidFill>
                  <a:srgbClr val="3341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24" name="Google Shape;124;p21"/>
          <p:cNvGrpSpPr/>
          <p:nvPr/>
        </p:nvGrpSpPr>
        <p:grpSpPr>
          <a:xfrm>
            <a:off x="4572000" y="1047750"/>
            <a:ext cx="4095900" cy="3476700"/>
            <a:chOff x="0" y="0"/>
            <a:chExt cx="4095900" cy="3476700"/>
          </a:xfrm>
        </p:grpSpPr>
        <p:sp>
          <p:nvSpPr>
            <p:cNvPr id="125" name="Google Shape;125;p21"/>
            <p:cNvSpPr/>
            <p:nvPr/>
          </p:nvSpPr>
          <p:spPr>
            <a:xfrm>
              <a:off x="0" y="0"/>
              <a:ext cx="4095900" cy="3476700"/>
            </a:xfrm>
            <a:prstGeom prst="roundRect">
              <a:avLst>
                <a:gd fmla="val 273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190500" y="142875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Distribuição dos Dados e Medidas</a:t>
              </a:r>
              <a:endParaRPr b="1" i="0" sz="1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238125" y="2571750"/>
              <a:ext cx="3619500" cy="96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21"/>
            <p:cNvCxnSpPr/>
            <p:nvPr/>
          </p:nvCxnSpPr>
          <p:spPr>
            <a:xfrm>
              <a:off x="5715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21"/>
            <p:cNvSpPr txBox="1"/>
            <p:nvPr/>
          </p:nvSpPr>
          <p:spPr>
            <a:xfrm>
              <a:off x="545011" y="2693670"/>
              <a:ext cx="531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0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30" name="Google Shape;130;p21"/>
            <p:cNvCxnSpPr/>
            <p:nvPr/>
          </p:nvCxnSpPr>
          <p:spPr>
            <a:xfrm>
              <a:off x="11430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21"/>
            <p:cNvSpPr txBox="1"/>
            <p:nvPr/>
          </p:nvSpPr>
          <p:spPr>
            <a:xfrm>
              <a:off x="1116511" y="2693670"/>
              <a:ext cx="531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5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32" name="Google Shape;132;p21"/>
            <p:cNvCxnSpPr/>
            <p:nvPr/>
          </p:nvCxnSpPr>
          <p:spPr>
            <a:xfrm>
              <a:off x="17145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1"/>
            <p:cNvSpPr txBox="1"/>
            <p:nvPr/>
          </p:nvSpPr>
          <p:spPr>
            <a:xfrm>
              <a:off x="1661522" y="2693670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10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34" name="Google Shape;134;p21"/>
            <p:cNvCxnSpPr/>
            <p:nvPr/>
          </p:nvCxnSpPr>
          <p:spPr>
            <a:xfrm>
              <a:off x="22860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21"/>
            <p:cNvSpPr txBox="1"/>
            <p:nvPr/>
          </p:nvSpPr>
          <p:spPr>
            <a:xfrm>
              <a:off x="2233022" y="2693670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15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36" name="Google Shape;136;p21"/>
            <p:cNvCxnSpPr/>
            <p:nvPr/>
          </p:nvCxnSpPr>
          <p:spPr>
            <a:xfrm>
              <a:off x="28575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21"/>
            <p:cNvSpPr txBox="1"/>
            <p:nvPr/>
          </p:nvSpPr>
          <p:spPr>
            <a:xfrm>
              <a:off x="2804522" y="2693670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20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38" name="Google Shape;138;p21"/>
            <p:cNvCxnSpPr/>
            <p:nvPr/>
          </p:nvCxnSpPr>
          <p:spPr>
            <a:xfrm>
              <a:off x="34290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" name="Google Shape;139;p21"/>
            <p:cNvSpPr txBox="1"/>
            <p:nvPr/>
          </p:nvSpPr>
          <p:spPr>
            <a:xfrm>
              <a:off x="3376022" y="2693670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25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140" name="Google Shape;140;p21"/>
            <p:cNvCxnSpPr/>
            <p:nvPr/>
          </p:nvCxnSpPr>
          <p:spPr>
            <a:xfrm>
              <a:off x="3771900" y="2524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21"/>
            <p:cNvSpPr txBox="1"/>
            <p:nvPr/>
          </p:nvSpPr>
          <p:spPr>
            <a:xfrm>
              <a:off x="3718922" y="2693670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0" i="0" lang="pt-BR" sz="675" u="none" cap="none" strike="noStrike">
                  <a:solidFill>
                    <a:srgbClr val="64748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28</a:t>
              </a:r>
              <a:endParaRPr b="0" i="0" sz="675" u="none" cap="none" strike="noStrike">
                <a:solidFill>
                  <a:srgbClr val="64748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714375" y="2343150"/>
              <a:ext cx="171600" cy="171600"/>
            </a:xfrm>
            <a:prstGeom prst="ellipse">
              <a:avLst/>
            </a:prstGeom>
            <a:solidFill>
              <a:srgbClr val="00608C">
                <a:alpha val="85098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1"/>
            <p:cNvSpPr txBox="1"/>
            <p:nvPr/>
          </p:nvSpPr>
          <p:spPr>
            <a:xfrm>
              <a:off x="776554" y="2396490"/>
              <a:ext cx="471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pt-BR" sz="600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</a:t>
              </a:r>
              <a:endParaRPr b="0" i="0" sz="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828675" y="2343150"/>
              <a:ext cx="171600" cy="171600"/>
            </a:xfrm>
            <a:prstGeom prst="ellipse">
              <a:avLst/>
            </a:prstGeom>
            <a:solidFill>
              <a:srgbClr val="00608C">
                <a:alpha val="85098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828675" y="2133600"/>
              <a:ext cx="171600" cy="171600"/>
            </a:xfrm>
            <a:prstGeom prst="ellipse">
              <a:avLst/>
            </a:prstGeom>
            <a:solidFill>
              <a:srgbClr val="00608C">
                <a:alpha val="85098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890854" y="2396490"/>
              <a:ext cx="471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pt-BR" sz="600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3</a:t>
              </a:r>
              <a:endParaRPr b="0" i="0" sz="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" name="Google Shape;147;p21"/>
            <p:cNvSpPr txBox="1"/>
            <p:nvPr/>
          </p:nvSpPr>
          <p:spPr>
            <a:xfrm>
              <a:off x="890854" y="2186940"/>
              <a:ext cx="471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pt-BR" sz="600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3</a:t>
              </a:r>
              <a:endParaRPr b="0" i="0" sz="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942975" y="2343150"/>
              <a:ext cx="171600" cy="171600"/>
            </a:xfrm>
            <a:prstGeom prst="ellipse">
              <a:avLst/>
            </a:prstGeom>
            <a:solidFill>
              <a:srgbClr val="00608C">
                <a:alpha val="85098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1"/>
            <p:cNvSpPr txBox="1"/>
            <p:nvPr/>
          </p:nvSpPr>
          <p:spPr>
            <a:xfrm>
              <a:off x="1005154" y="2396490"/>
              <a:ext cx="471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pt-BR" sz="600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4</a:t>
              </a:r>
              <a:endParaRPr b="0" i="0" sz="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3686175" y="2343150"/>
              <a:ext cx="171600" cy="171600"/>
            </a:xfrm>
            <a:prstGeom prst="ellipse">
              <a:avLst/>
            </a:prstGeom>
            <a:solidFill>
              <a:srgbClr val="DC2626">
                <a:alpha val="9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1"/>
            <p:cNvSpPr txBox="1"/>
            <p:nvPr/>
          </p:nvSpPr>
          <p:spPr>
            <a:xfrm>
              <a:off x="3724808" y="2396490"/>
              <a:ext cx="942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28</a:t>
              </a:r>
              <a:endParaRPr b="1" i="0" sz="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152" name="Google Shape;15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875" y="666750"/>
              <a:ext cx="19200" cy="18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1"/>
            <p:cNvSpPr/>
            <p:nvPr/>
          </p:nvSpPr>
          <p:spPr>
            <a:xfrm>
              <a:off x="485775" y="619125"/>
              <a:ext cx="857400" cy="247800"/>
            </a:xfrm>
            <a:prstGeom prst="roundRect">
              <a:avLst>
                <a:gd fmla="val 15384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596532" y="712470"/>
              <a:ext cx="635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pt-BR" sz="675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Mediana: 3.0</a:t>
              </a:r>
              <a:endParaRPr b="1" i="0" sz="675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155" name="Google Shape;15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6375" y="1095375"/>
              <a:ext cx="192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1"/>
            <p:cNvSpPr/>
            <p:nvPr/>
          </p:nvSpPr>
          <p:spPr>
            <a:xfrm>
              <a:off x="1104900" y="1047750"/>
              <a:ext cx="762000" cy="247800"/>
            </a:xfrm>
            <a:prstGeom prst="roundRect">
              <a:avLst>
                <a:gd fmla="val 15384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1221010" y="1141095"/>
              <a:ext cx="5298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pt-BR" sz="675" u="none" cap="none" strike="noStrike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Média: 8.0</a:t>
              </a:r>
              <a:endParaRPr b="1" i="0" sz="675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158" name="Google Shape;158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52763" y="1752600"/>
              <a:ext cx="728700" cy="4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21"/>
            <p:cNvSpPr/>
            <p:nvPr/>
          </p:nvSpPr>
          <p:spPr>
            <a:xfrm>
              <a:off x="2238375" y="1638300"/>
              <a:ext cx="1000200" cy="238200"/>
            </a:xfrm>
            <a:prstGeom prst="roundRect">
              <a:avLst>
                <a:gd fmla="val 16000" name="adj"/>
              </a:avLst>
            </a:prstGeom>
            <a:solidFill>
              <a:srgbClr val="FEE2E2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2438229" y="1725930"/>
              <a:ext cx="600300" cy="1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8"/>
                <a:buFont typeface="Arial"/>
                <a:buNone/>
              </a:pPr>
              <a:r>
                <a:rPr b="1" i="0" lang="pt-BR" sz="638" u="none" cap="none" strike="noStrike">
                  <a:solidFill>
                    <a:srgbClr val="991B1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 (28)</a:t>
              </a:r>
              <a:endParaRPr b="1" i="0" sz="638" u="none" cap="none" strike="noStrike">
                <a:solidFill>
                  <a:srgbClr val="991B1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238125" y="3000375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pt-BR" sz="900" u="none" cap="none" strike="noStrike">
                  <a:solidFill>
                    <a:srgbClr val="475569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Eixo em dias de internação (dias)</a:t>
              </a:r>
              <a:endParaRPr b="0" i="0" sz="900" u="none" cap="none" strike="noStrike">
                <a:solidFill>
                  <a:srgbClr val="475569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62" name="Google Shape;162;p21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6">
            <a:alphaModFix/>
          </a:blip>
          <a:srcRect b="0" l="199" r="209" t="0"/>
          <a:stretch/>
        </p:blipFill>
        <p:spPr>
          <a:xfrm>
            <a:off x="8486775" y="4867275"/>
            <a:ext cx="367200" cy="1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64" name="Google Shape;164;p21"/>
          <p:cNvSpPr/>
          <p:nvPr/>
        </p:nvSpPr>
        <p:spPr>
          <a:xfrm>
            <a:off x="333375" y="4791075"/>
            <a:ext cx="367200" cy="329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1" title="einstein_logo_branco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1880592" y="1200522"/>
            <a:ext cx="5382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100"/>
              <a:buFont typeface="Source Serif 4"/>
              <a:buNone/>
            </a:pPr>
            <a:r>
              <a:rPr b="1" i="0" lang="pt-BR" sz="21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3 — Dispersão e posição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880592" y="1603995"/>
            <a:ext cx="5382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200"/>
              <a:buFont typeface="Source Serif 4"/>
              <a:buNone/>
            </a:pPr>
            <a:r>
              <a:rPr b="0" i="0" lang="pt-BR" sz="12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160710" y="1983061"/>
            <a:ext cx="6822600" cy="1023900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1389310" y="2173561"/>
            <a:ext cx="65700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"idade": [30, 40, 50, 60, 70, 80, 95]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794861" y="3197498"/>
            <a:ext cx="75543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300"/>
              <a:buFont typeface="Source Serif 4"/>
              <a:buNone/>
            </a:pPr>
            <a:r>
              <a:rPr b="0" i="0" lang="pt-BR" sz="13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Calcule o desvio-padrão com std().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3"/>
            <a:ext cx="367084" cy="177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2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3"/>
            <a:ext cx="367084" cy="17710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3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476250" y="2857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3 — Dispersão e Posição</a:t>
            </a:r>
            <a:endParaRPr b="1" i="0" sz="2200" u="none" cap="none" strike="noStrike">
              <a:solidFill>
                <a:srgbClr val="0F2D4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76250" y="685800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00608C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Cálculo da amplitude e do desvio-padrão (std) com visualização da dispersão</a:t>
            </a:r>
            <a:endParaRPr b="1" i="0" sz="1200" u="none" cap="none" strike="noStrike">
              <a:solidFill>
                <a:srgbClr val="00608C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grpSp>
        <p:nvGrpSpPr>
          <p:cNvPr id="192" name="Google Shape;192;p23"/>
          <p:cNvGrpSpPr/>
          <p:nvPr/>
        </p:nvGrpSpPr>
        <p:grpSpPr>
          <a:xfrm>
            <a:off x="476250" y="1047750"/>
            <a:ext cx="3905400" cy="3476700"/>
            <a:chOff x="0" y="0"/>
            <a:chExt cx="3905400" cy="3476700"/>
          </a:xfrm>
        </p:grpSpPr>
        <p:sp>
          <p:nvSpPr>
            <p:cNvPr id="193" name="Google Shape;193;p23"/>
            <p:cNvSpPr/>
            <p:nvPr/>
          </p:nvSpPr>
          <p:spPr>
            <a:xfrm>
              <a:off x="0" y="0"/>
              <a:ext cx="3905400" cy="3476700"/>
            </a:xfrm>
            <a:prstGeom prst="roundRect">
              <a:avLst>
                <a:gd fmla="val 2739" name="adj"/>
              </a:avLst>
            </a:prstGeom>
            <a:solidFill>
              <a:srgbClr val="FFFFFF"/>
            </a:solidFill>
            <a:ln cap="flat" cmpd="sng" w="14300">
              <a:solidFill>
                <a:srgbClr val="0060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0" y="0"/>
              <a:ext cx="3905400" cy="34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71450" lIns="171450" spcFirstLastPara="1" rIns="171450" wrap="square" tIns="17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pt-BR" sz="135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Equações e Resolução</a:t>
              </a:r>
              <a:endParaRPr b="1" i="0" sz="13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1. Amplitude (A)</a:t>
              </a:r>
              <a:endParaRPr b="1" i="0" sz="11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pt-BR" sz="1050" u="none" cap="none" strike="noStrike">
                  <a:solidFill>
                    <a:srgbClr val="1E293B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 = Máx - Mín = 95 - 30</a:t>
              </a:r>
              <a:endParaRPr b="0" i="0" sz="1050" u="none" cap="none" strike="noStrike">
                <a:solidFill>
                  <a:srgbClr val="1E293B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 = 65.0 anos</a:t>
              </a:r>
              <a:endParaRPr b="1" i="0" sz="11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65F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2. Desvio-Padrão (s)</a:t>
              </a:r>
              <a:endParaRPr b="1" i="0" sz="1100" u="none" cap="none" strike="noStrike">
                <a:solidFill>
                  <a:srgbClr val="065F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pt-BR" sz="10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Média (x̅) = 425 / 7 = </a:t>
              </a:r>
              <a:r>
                <a:rPr b="1" i="0" lang="pt-BR" sz="105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60.71 anos</a:t>
              </a:r>
              <a:endParaRPr b="0" i="0" sz="1050" u="none" cap="none" strike="noStrike">
                <a:solidFill>
                  <a:srgbClr val="3341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pt-BR" sz="9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 = √[ Σ(xi - x̅)² / (n - 1) ]</a:t>
              </a:r>
              <a:endParaRPr b="0" i="0" sz="950" u="none" cap="none" strike="noStrike">
                <a:solidFill>
                  <a:srgbClr val="3341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10B981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 = std() ≈ 22.81 anos</a:t>
              </a:r>
              <a:endParaRPr b="1" i="0" sz="1100" u="none" cap="none" strike="noStrike">
                <a:solidFill>
                  <a:srgbClr val="10B981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pt-BR" sz="105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Conclusão Visual:</a:t>
              </a:r>
              <a:endParaRPr b="1" i="0" sz="10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pt-BR" sz="9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 </a:t>
              </a:r>
              <a:r>
                <a:rPr b="1" i="0" lang="pt-BR" sz="950" u="none" cap="none" strike="noStrike">
                  <a:solidFill>
                    <a:srgbClr val="0F2D4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amplitude (65)</a:t>
              </a:r>
              <a:r>
                <a:rPr b="0" i="0" lang="pt-BR" sz="9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mede a extensão total. O </a:t>
              </a:r>
              <a:r>
                <a:rPr b="1" i="0" lang="pt-BR" sz="950" u="none" cap="none" strike="noStrike">
                  <a:solidFill>
                    <a:srgbClr val="10B981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desvio-padrão (22.81)</a:t>
              </a:r>
              <a:r>
                <a:rPr b="0" i="0" lang="pt-BR" sz="950" u="none" cap="none" strike="noStrike">
                  <a:solidFill>
                    <a:srgbClr val="3341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representa a distância típica das idades em relação à média (60.71).</a:t>
              </a:r>
              <a:endParaRPr b="0" i="0" sz="950" u="none" cap="none" strike="noStrike">
                <a:solidFill>
                  <a:srgbClr val="3341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95" name="Google Shape;195;p23"/>
          <p:cNvSpPr txBox="1"/>
          <p:nvPr/>
        </p:nvSpPr>
        <p:spPr>
          <a:xfrm>
            <a:off x="4681728" y="1170432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30" u="none" cap="none" strike="noStrike">
                <a:solidFill>
                  <a:srgbClr val="00628E"/>
                </a:solidFill>
                <a:latin typeface="Arial"/>
                <a:ea typeface="Arial"/>
                <a:cs typeface="Arial"/>
                <a:sym typeface="Arial"/>
              </a:rPr>
              <a:t>DISTÂNCIA DE CADA IDADE ATÉ A MÉDIA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4681728" y="148132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Cada traço liga um valor observado à média.</a:t>
            </a:r>
            <a:endParaRPr/>
          </a:p>
        </p:txBody>
      </p:sp>
      <p:cxnSp>
        <p:nvCxnSpPr>
          <p:cNvPr id="197" name="Google Shape;197;p23"/>
          <p:cNvCxnSpPr/>
          <p:nvPr/>
        </p:nvCxnSpPr>
        <p:spPr>
          <a:xfrm>
            <a:off x="6587060" y="1810512"/>
            <a:ext cx="0" cy="2121408"/>
          </a:xfrm>
          <a:prstGeom prst="straightConnector1">
            <a:avLst/>
          </a:prstGeom>
          <a:noFill/>
          <a:ln cap="flat" cmpd="sng" w="26650">
            <a:solidFill>
              <a:srgbClr val="119A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23"/>
          <p:cNvSpPr txBox="1"/>
          <p:nvPr/>
        </p:nvSpPr>
        <p:spPr>
          <a:xfrm>
            <a:off x="5901260" y="1691640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10" u="none" cap="none" strike="noStrike">
                <a:solidFill>
                  <a:srgbClr val="119A7F"/>
                </a:solidFill>
                <a:latin typeface="Arial"/>
                <a:ea typeface="Arial"/>
                <a:cs typeface="Arial"/>
                <a:sym typeface="Arial"/>
              </a:rPr>
              <a:t>média = 60,71</a:t>
            </a:r>
            <a:endParaRPr/>
          </a:p>
        </p:txBody>
      </p:sp>
      <p:cxnSp>
        <p:nvCxnSpPr>
          <p:cNvPr id="199" name="Google Shape;199;p23"/>
          <p:cNvCxnSpPr/>
          <p:nvPr/>
        </p:nvCxnSpPr>
        <p:spPr>
          <a:xfrm>
            <a:off x="5308360" y="2075688"/>
            <a:ext cx="1278700" cy="0"/>
          </a:xfrm>
          <a:prstGeom prst="straightConnector1">
            <a:avLst/>
          </a:prstGeom>
          <a:noFill/>
          <a:ln cap="flat" cmpd="sng" w="34275">
            <a:solidFill>
              <a:srgbClr val="D565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23"/>
          <p:cNvSpPr/>
          <p:nvPr/>
        </p:nvSpPr>
        <p:spPr>
          <a:xfrm>
            <a:off x="5251668" y="2018995"/>
            <a:ext cx="113385" cy="113385"/>
          </a:xfrm>
          <a:prstGeom prst="ellipse">
            <a:avLst/>
          </a:prstGeom>
          <a:solidFill>
            <a:srgbClr val="D565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860304" y="1956816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cxnSp>
        <p:nvCxnSpPr>
          <p:cNvPr id="202" name="Google Shape;202;p23"/>
          <p:cNvCxnSpPr/>
          <p:nvPr/>
        </p:nvCxnSpPr>
        <p:spPr>
          <a:xfrm>
            <a:off x="5724681" y="2331720"/>
            <a:ext cx="862379" cy="0"/>
          </a:xfrm>
          <a:prstGeom prst="straightConnector1">
            <a:avLst/>
          </a:prstGeom>
          <a:noFill/>
          <a:ln cap="flat" cmpd="sng" w="34275">
            <a:solidFill>
              <a:srgbClr val="749A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3"/>
          <p:cNvSpPr/>
          <p:nvPr/>
        </p:nvSpPr>
        <p:spPr>
          <a:xfrm>
            <a:off x="5667989" y="2275027"/>
            <a:ext cx="113385" cy="113385"/>
          </a:xfrm>
          <a:prstGeom prst="ellipse">
            <a:avLst/>
          </a:prstGeom>
          <a:solidFill>
            <a:srgbClr val="0062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5276625" y="2212848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cxnSp>
        <p:nvCxnSpPr>
          <p:cNvPr id="205" name="Google Shape;205;p23"/>
          <p:cNvCxnSpPr/>
          <p:nvPr/>
        </p:nvCxnSpPr>
        <p:spPr>
          <a:xfrm>
            <a:off x="6141002" y="2587752"/>
            <a:ext cx="446058" cy="0"/>
          </a:xfrm>
          <a:prstGeom prst="straightConnector1">
            <a:avLst/>
          </a:prstGeom>
          <a:noFill/>
          <a:ln cap="flat" cmpd="sng" w="34275">
            <a:solidFill>
              <a:srgbClr val="749A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6" name="Google Shape;206;p23"/>
          <p:cNvSpPr/>
          <p:nvPr/>
        </p:nvSpPr>
        <p:spPr>
          <a:xfrm>
            <a:off x="6084310" y="2531059"/>
            <a:ext cx="113385" cy="113385"/>
          </a:xfrm>
          <a:prstGeom prst="ellipse">
            <a:avLst/>
          </a:prstGeom>
          <a:solidFill>
            <a:srgbClr val="0062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5692946" y="2468880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cxnSp>
        <p:nvCxnSpPr>
          <p:cNvPr id="208" name="Google Shape;208;p23"/>
          <p:cNvCxnSpPr/>
          <p:nvPr/>
        </p:nvCxnSpPr>
        <p:spPr>
          <a:xfrm>
            <a:off x="6557323" y="2843784"/>
            <a:ext cx="29737" cy="0"/>
          </a:xfrm>
          <a:prstGeom prst="straightConnector1">
            <a:avLst/>
          </a:prstGeom>
          <a:noFill/>
          <a:ln cap="flat" cmpd="sng" w="34275">
            <a:solidFill>
              <a:srgbClr val="749A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9" name="Google Shape;209;p23"/>
          <p:cNvSpPr/>
          <p:nvPr/>
        </p:nvSpPr>
        <p:spPr>
          <a:xfrm>
            <a:off x="6500630" y="2787091"/>
            <a:ext cx="113385" cy="113385"/>
          </a:xfrm>
          <a:prstGeom prst="ellipse">
            <a:avLst/>
          </a:prstGeom>
          <a:solidFill>
            <a:srgbClr val="0062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6109267" y="2724912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cxnSp>
        <p:nvCxnSpPr>
          <p:cNvPr id="211" name="Google Shape;211;p23"/>
          <p:cNvCxnSpPr/>
          <p:nvPr/>
        </p:nvCxnSpPr>
        <p:spPr>
          <a:xfrm>
            <a:off x="6587060" y="3099816"/>
            <a:ext cx="386584" cy="0"/>
          </a:xfrm>
          <a:prstGeom prst="straightConnector1">
            <a:avLst/>
          </a:prstGeom>
          <a:noFill/>
          <a:ln cap="flat" cmpd="sng" w="34275">
            <a:solidFill>
              <a:srgbClr val="749A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2" name="Google Shape;212;p23"/>
          <p:cNvSpPr/>
          <p:nvPr/>
        </p:nvSpPr>
        <p:spPr>
          <a:xfrm>
            <a:off x="6916951" y="3043123"/>
            <a:ext cx="113385" cy="113385"/>
          </a:xfrm>
          <a:prstGeom prst="ellipse">
            <a:avLst/>
          </a:prstGeom>
          <a:solidFill>
            <a:srgbClr val="0062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7083372" y="2980944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cxnSp>
        <p:nvCxnSpPr>
          <p:cNvPr id="214" name="Google Shape;214;p23"/>
          <p:cNvCxnSpPr/>
          <p:nvPr/>
        </p:nvCxnSpPr>
        <p:spPr>
          <a:xfrm>
            <a:off x="6587060" y="3355848"/>
            <a:ext cx="802905" cy="0"/>
          </a:xfrm>
          <a:prstGeom prst="straightConnector1">
            <a:avLst/>
          </a:prstGeom>
          <a:noFill/>
          <a:ln cap="flat" cmpd="sng" w="34275">
            <a:solidFill>
              <a:srgbClr val="749A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5" name="Google Shape;215;p23"/>
          <p:cNvSpPr/>
          <p:nvPr/>
        </p:nvSpPr>
        <p:spPr>
          <a:xfrm>
            <a:off x="7333272" y="3299155"/>
            <a:ext cx="113385" cy="113385"/>
          </a:xfrm>
          <a:prstGeom prst="ellipse">
            <a:avLst/>
          </a:prstGeom>
          <a:solidFill>
            <a:srgbClr val="0062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7499693" y="32369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cxnSp>
        <p:nvCxnSpPr>
          <p:cNvPr id="217" name="Google Shape;217;p23"/>
          <p:cNvCxnSpPr/>
          <p:nvPr/>
        </p:nvCxnSpPr>
        <p:spPr>
          <a:xfrm>
            <a:off x="6587060" y="3611880"/>
            <a:ext cx="1427387" cy="0"/>
          </a:xfrm>
          <a:prstGeom prst="straightConnector1">
            <a:avLst/>
          </a:prstGeom>
          <a:noFill/>
          <a:ln cap="flat" cmpd="sng" w="34275">
            <a:solidFill>
              <a:srgbClr val="D565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8" name="Google Shape;218;p23"/>
          <p:cNvSpPr/>
          <p:nvPr/>
        </p:nvSpPr>
        <p:spPr>
          <a:xfrm>
            <a:off x="7957754" y="3555187"/>
            <a:ext cx="113385" cy="113385"/>
          </a:xfrm>
          <a:prstGeom prst="ellipse">
            <a:avLst/>
          </a:prstGeom>
          <a:solidFill>
            <a:srgbClr val="D565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8124175" y="34930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40" u="none" cap="none" strike="noStrike">
                <a:solidFill>
                  <a:srgbClr val="13344E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/>
          </a:p>
        </p:txBody>
      </p:sp>
      <p:cxnSp>
        <p:nvCxnSpPr>
          <p:cNvPr id="220" name="Google Shape;220;p23"/>
          <p:cNvCxnSpPr/>
          <p:nvPr/>
        </p:nvCxnSpPr>
        <p:spPr>
          <a:xfrm>
            <a:off x="4892040" y="3968496"/>
            <a:ext cx="3538728" cy="0"/>
          </a:xfrm>
          <a:prstGeom prst="straightConnector1">
            <a:avLst/>
          </a:prstGeom>
          <a:noFill/>
          <a:ln cap="flat" cmpd="sng" w="114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1" name="Google Shape;221;p23"/>
          <p:cNvCxnSpPr/>
          <p:nvPr/>
        </p:nvCxnSpPr>
        <p:spPr>
          <a:xfrm>
            <a:off x="4892040" y="3941063"/>
            <a:ext cx="0" cy="73152"/>
          </a:xfrm>
          <a:prstGeom prst="straightConnector1">
            <a:avLst/>
          </a:prstGeom>
          <a:noFill/>
          <a:ln cap="flat" cmpd="sng" w="95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2" name="Google Shape;222;p23"/>
          <p:cNvSpPr txBox="1"/>
          <p:nvPr/>
        </p:nvSpPr>
        <p:spPr>
          <a:xfrm>
            <a:off x="4663440" y="40325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3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cxnSp>
        <p:nvCxnSpPr>
          <p:cNvPr id="223" name="Google Shape;223;p23"/>
          <p:cNvCxnSpPr/>
          <p:nvPr/>
        </p:nvCxnSpPr>
        <p:spPr>
          <a:xfrm>
            <a:off x="5724681" y="3941063"/>
            <a:ext cx="0" cy="73152"/>
          </a:xfrm>
          <a:prstGeom prst="straightConnector1">
            <a:avLst/>
          </a:prstGeom>
          <a:noFill/>
          <a:ln cap="flat" cmpd="sng" w="95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4" name="Google Shape;224;p23"/>
          <p:cNvSpPr txBox="1"/>
          <p:nvPr/>
        </p:nvSpPr>
        <p:spPr>
          <a:xfrm>
            <a:off x="5496081" y="40325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3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cxnSp>
        <p:nvCxnSpPr>
          <p:cNvPr id="225" name="Google Shape;225;p23"/>
          <p:cNvCxnSpPr/>
          <p:nvPr/>
        </p:nvCxnSpPr>
        <p:spPr>
          <a:xfrm>
            <a:off x="6557323" y="3941063"/>
            <a:ext cx="0" cy="73152"/>
          </a:xfrm>
          <a:prstGeom prst="straightConnector1">
            <a:avLst/>
          </a:prstGeom>
          <a:noFill/>
          <a:ln cap="flat" cmpd="sng" w="95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6" name="Google Shape;226;p23"/>
          <p:cNvSpPr txBox="1"/>
          <p:nvPr/>
        </p:nvSpPr>
        <p:spPr>
          <a:xfrm>
            <a:off x="6328723" y="40325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3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cxnSp>
        <p:nvCxnSpPr>
          <p:cNvPr id="227" name="Google Shape;227;p23"/>
          <p:cNvCxnSpPr/>
          <p:nvPr/>
        </p:nvCxnSpPr>
        <p:spPr>
          <a:xfrm>
            <a:off x="7389965" y="3941063"/>
            <a:ext cx="0" cy="73152"/>
          </a:xfrm>
          <a:prstGeom prst="straightConnector1">
            <a:avLst/>
          </a:prstGeom>
          <a:noFill/>
          <a:ln cap="flat" cmpd="sng" w="95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23"/>
          <p:cNvSpPr txBox="1"/>
          <p:nvPr/>
        </p:nvSpPr>
        <p:spPr>
          <a:xfrm>
            <a:off x="7161365" y="40325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3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cxnSp>
        <p:nvCxnSpPr>
          <p:cNvPr id="229" name="Google Shape;229;p23"/>
          <p:cNvCxnSpPr/>
          <p:nvPr/>
        </p:nvCxnSpPr>
        <p:spPr>
          <a:xfrm>
            <a:off x="8222607" y="3941063"/>
            <a:ext cx="0" cy="73152"/>
          </a:xfrm>
          <a:prstGeom prst="straightConnector1">
            <a:avLst/>
          </a:prstGeom>
          <a:noFill/>
          <a:ln cap="flat" cmpd="sng" w="9525">
            <a:solidFill>
              <a:srgbClr val="6678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0" name="Google Shape;230;p23"/>
          <p:cNvSpPr txBox="1"/>
          <p:nvPr/>
        </p:nvSpPr>
        <p:spPr>
          <a:xfrm>
            <a:off x="7994007" y="40325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3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815584" y="4270248"/>
            <a:ext cx="1709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90" u="none" cap="none" strike="noStrike">
                <a:solidFill>
                  <a:srgbClr val="667884"/>
                </a:solidFill>
                <a:latin typeface="Arial"/>
                <a:ea typeface="Arial"/>
                <a:cs typeface="Arial"/>
                <a:sym typeface="Arial"/>
              </a:rPr>
              <a:t>idade (anos)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645152" y="4562856"/>
            <a:ext cx="40142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628E"/>
                </a:solidFill>
                <a:latin typeface="Arial"/>
                <a:ea typeface="Arial"/>
                <a:cs typeface="Arial"/>
                <a:sym typeface="Arial"/>
              </a:rPr>
              <a:t>Desvio-padrão amostral: 22,81 anos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4452342" y="990526"/>
            <a:ext cx="23931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600"/>
              <a:buFont typeface="Source Serif 4"/>
              <a:buNone/>
            </a:pPr>
            <a:r>
              <a:rPr b="0" i="0" lang="pt-BR" sz="36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2243403" y="1342950"/>
            <a:ext cx="4657194" cy="22375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37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00"/>
              <a:buFont typeface="Source Serif 4"/>
              <a:buNone/>
            </a:pPr>
            <a:r>
              <a:rPr b="0" i="1" lang="pt-BR" sz="2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acontece quando colocamos duas ou mais características lado a lado? É aqui que a análise exploratória começa a produzir hipóteses, mas também é aqui que precisamos ter mais cuidado para não confundir padrão com prova.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703599" y="3747195"/>
            <a:ext cx="173672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Mensagem central da aula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204" y="4873972"/>
            <a:ext cx="302046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4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3936748" y="1824625"/>
            <a:ext cx="1270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844849" y="2643932"/>
            <a:ext cx="3454227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Das variáveis às relações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204" y="4873972"/>
            <a:ext cx="302046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/>
          <p:nvPr/>
        </p:nvSpPr>
        <p:spPr>
          <a:xfrm>
            <a:off x="2914444" y="1764879"/>
            <a:ext cx="3315037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Onde a Aula 7 terminou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2496031" y="2372916"/>
            <a:ext cx="4151864" cy="7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7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500"/>
              <a:buFont typeface="Source Serif 4"/>
              <a:buNone/>
            </a:pPr>
            <a:r>
              <a:rPr b="0" i="0" lang="pt-BR" sz="1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tempo de internação muito alto é apenas um valor extremo ou pertence a um perfil específico de paciente?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204" y="4873972"/>
            <a:ext cx="302046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6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2586780" y="1665313"/>
            <a:ext cx="3970441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 variável isolada à relação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1328261" y="2273349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1431941" y="2468017"/>
            <a:ext cx="3051144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Cada variável descrita por frequência, centro, dispersão e distribuição.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4557236" y="2273349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660916" y="2468017"/>
            <a:ext cx="3051143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uma variável se comporta quando condicionamos a análise a outra.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2052411" y="3056186"/>
            <a:ext cx="5039105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média ou frequência global pode esconder diferenças entre grupos.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204" y="4873972"/>
            <a:ext cx="302046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7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/>
          <p:nvPr/>
        </p:nvSpPr>
        <p:spPr>
          <a:xfrm>
            <a:off x="1051560" y="667512"/>
            <a:ext cx="7040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00"/>
              <a:buFont typeface="Source Serif 4"/>
              <a:buNone/>
            </a:pPr>
            <a:r>
              <a:rPr b="1" i="0" lang="pt-BR" sz="22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média geral pode esconder diferenças entre grupos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1280160" y="1362456"/>
            <a:ext cx="658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Source Serif 4"/>
              <a:buNone/>
            </a:pPr>
            <a:r>
              <a:rPr b="0" i="0" lang="pt-BR" sz="1200" u="none" cap="none" strike="noStrike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Exemplo ilustrativo: tempo médio de internação (dias)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8"/>
          <p:cNvCxnSpPr/>
          <p:nvPr/>
        </p:nvCxnSpPr>
        <p:spPr>
          <a:xfrm>
            <a:off x="1627632" y="3602736"/>
            <a:ext cx="5971032" cy="0"/>
          </a:xfrm>
          <a:prstGeom prst="straightConnector1">
            <a:avLst/>
          </a:prstGeom>
          <a:noFill/>
          <a:ln cap="flat" cmpd="sng" w="12700">
            <a:solidFill>
              <a:srgbClr val="B9C4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8"/>
          <p:cNvSpPr/>
          <p:nvPr/>
        </p:nvSpPr>
        <p:spPr>
          <a:xfrm>
            <a:off x="2029968" y="2493264"/>
            <a:ext cx="1133856" cy="1109472"/>
          </a:xfrm>
          <a:prstGeom prst="rect">
            <a:avLst/>
          </a:prstGeom>
          <a:solidFill>
            <a:srgbClr val="007BBA"/>
          </a:solidFill>
          <a:ln cap="flat" cmpd="sng" w="12700">
            <a:solidFill>
              <a:srgbClr val="1479A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1938528" y="2154936"/>
            <a:ext cx="131673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600"/>
              <a:buFont typeface="Source Serif 4"/>
              <a:buNone/>
            </a:pPr>
            <a:r>
              <a:rPr b="1" i="0" lang="pt-BR" sz="16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 dias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709928" y="3694176"/>
            <a:ext cx="177393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20"/>
              <a:buFont typeface="Source Serif 4"/>
              <a:buNone/>
            </a:pPr>
            <a:r>
              <a:rPr b="0" i="0" lang="pt-BR" sz="102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Todos os pacientes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3977640" y="3048000"/>
            <a:ext cx="1133856" cy="554736"/>
          </a:xfrm>
          <a:prstGeom prst="rect">
            <a:avLst/>
          </a:prstGeom>
          <a:solidFill>
            <a:srgbClr val="8DC5E2"/>
          </a:solidFill>
          <a:ln cap="flat" cmpd="sng" w="12700">
            <a:solidFill>
              <a:srgbClr val="6AAA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3886200" y="2709672"/>
            <a:ext cx="131673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600"/>
              <a:buFont typeface="Source Serif 4"/>
              <a:buNone/>
            </a:pPr>
            <a:r>
              <a:rPr b="1" i="0" lang="pt-BR" sz="16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 dias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3657600" y="3694176"/>
            <a:ext cx="177393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20"/>
              <a:buFont typeface="Source Serif 4"/>
              <a:buNone/>
            </a:pPr>
            <a:r>
              <a:rPr b="0" i="0" lang="pt-BR" sz="102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Pacientes jovens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5925312" y="1938528"/>
            <a:ext cx="1133856" cy="1664208"/>
          </a:xfrm>
          <a:prstGeom prst="rect">
            <a:avLst/>
          </a:prstGeom>
          <a:solidFill>
            <a:srgbClr val="8DC5E2"/>
          </a:solidFill>
          <a:ln cap="flat" cmpd="sng" w="12700">
            <a:solidFill>
              <a:srgbClr val="6AAA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5833872" y="1600200"/>
            <a:ext cx="131673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600"/>
              <a:buFont typeface="Source Serif 4"/>
              <a:buNone/>
            </a:pPr>
            <a:r>
              <a:rPr b="1" i="0" lang="pt-BR" sz="16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12 dias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5605272" y="3694176"/>
            <a:ext cx="177393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20"/>
              <a:buFont typeface="Source Serif 4"/>
              <a:buNone/>
            </a:pPr>
            <a:r>
              <a:rPr b="0" i="0" lang="pt-BR" sz="102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Pacientes idosos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1828800" y="4169664"/>
            <a:ext cx="5486400" cy="393192"/>
          </a:xfrm>
          <a:prstGeom prst="roundRect">
            <a:avLst>
              <a:gd fmla="val 18605" name="adj"/>
            </a:avLst>
          </a:prstGeom>
          <a:solidFill>
            <a:srgbClr val="E8F3F8"/>
          </a:solidFill>
          <a:ln cap="flat" cmpd="sng" w="9525">
            <a:solidFill>
              <a:srgbClr val="D0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1938528" y="4251960"/>
            <a:ext cx="5257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040"/>
              <a:buFont typeface="Source Serif 4"/>
              <a:buNone/>
            </a:pPr>
            <a:r>
              <a:rPr b="0" i="0" lang="pt-BR" sz="104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Ao considerar a faixa etária, aparecem diferenças que a média global não revela.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8" title="einstein_logo_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2074398" y="1185193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padrão tem várias explicações possíveis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1200150" y="2129805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1352550" y="2272680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1568798" y="2263155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Diferença real entre populações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3486150" y="2129805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3638550" y="2272680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3854798" y="2263155"/>
            <a:ext cx="1649224" cy="20039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Composição dos grupos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772150" y="2129805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924550" y="2272680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6140798" y="2263155"/>
            <a:ext cx="1044722" cy="20039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Viés de seleção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1200150" y="2873499"/>
            <a:ext cx="2171700" cy="453330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352550" y="3016374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1568797" y="3006849"/>
            <a:ext cx="1436400" cy="20039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Qualidade dos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3486150" y="2873499"/>
            <a:ext cx="2171700" cy="453330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3638550" y="3016374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3854801" y="3006850"/>
            <a:ext cx="604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5772150" y="2873499"/>
            <a:ext cx="2171700" cy="453330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5924550" y="3016374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6140797" y="3006849"/>
            <a:ext cx="1440656" cy="20039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Fatores não medidos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2909434" y="3536380"/>
            <a:ext cx="3325133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papel da EDA é localizar a pergunta relevante.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0" name="Google Shape;3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204" y="4873972"/>
            <a:ext cx="302046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9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29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/>
          <p:nvPr/>
        </p:nvSpPr>
        <p:spPr>
          <a:xfrm>
            <a:off x="2662966" y="1663303"/>
            <a:ext cx="3818068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Notebook e arquivo da aula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1328261" y="2271341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NOTEBOOK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456350" y="2489825"/>
            <a:ext cx="1087800" cy="152400"/>
          </a:xfrm>
          <a:prstGeom prst="roundRect">
            <a:avLst>
              <a:gd fmla="val 1875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2293150" y="2494575"/>
            <a:ext cx="1414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622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ourier New"/>
              <a:buNone/>
            </a:pPr>
            <a:r>
              <a:rPr lang="pt-BR" sz="900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aula8</a:t>
            </a:r>
            <a:r>
              <a:rPr b="0" i="0" lang="pt-BR" sz="9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900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ipynb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4557236" y="2271341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ARQUIVO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5219328" y="2489820"/>
            <a:ext cx="1934245" cy="152400"/>
          </a:xfrm>
          <a:prstGeom prst="roundRect">
            <a:avLst>
              <a:gd fmla="val 1875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160716" y="2499345"/>
            <a:ext cx="20514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622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pacientes_aula8_analise.csv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174269" y="2864867"/>
            <a:ext cx="4795388" cy="4057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mesma versão analítica da base mantém as comparações entre aulas rastreáveis.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0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/>
          <p:nvPr/>
        </p:nvSpPr>
        <p:spPr>
          <a:xfrm>
            <a:off x="2648787" y="1262137"/>
            <a:ext cx="3846427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e verificação inicial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1485346" y="1870174"/>
            <a:ext cx="65885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1515294" y="2104430"/>
            <a:ext cx="3943425" cy="1212057"/>
          </a:xfrm>
          <a:prstGeom prst="roundRect">
            <a:avLst>
              <a:gd fmla="val 78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1667693" y="2228255"/>
            <a:ext cx="3756927" cy="9834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pd.read_csv("pacientes_aula8_analise.csv")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df.head()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5580244" y="1870174"/>
            <a:ext cx="888786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ESTRUTURA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5620643" y="2104430"/>
            <a:ext cx="2007989" cy="826294"/>
          </a:xfrm>
          <a:prstGeom prst="roundRect">
            <a:avLst>
              <a:gd fmla="val 115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5773043" y="2228255"/>
            <a:ext cx="1763428" cy="5976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print(df.shape)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print(df.dtypes)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print(df.isna().sum())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2427472" y="3459361"/>
            <a:ext cx="4288981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Toda análise começa confirmando qual arquivo foi carregado.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4" name="Google Shape;3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31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/>
          <p:nvPr/>
        </p:nvSpPr>
        <p:spPr>
          <a:xfrm>
            <a:off x="3842959" y="1824625"/>
            <a:ext cx="1458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3124303" y="2643932"/>
            <a:ext cx="2895321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Cruzando categorias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5" name="Google Shape;3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32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/>
          <p:nvPr/>
        </p:nvSpPr>
        <p:spPr>
          <a:xfrm>
            <a:off x="3082377" y="1009799"/>
            <a:ext cx="2979172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Serviço × readmissão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2175123" y="1617836"/>
            <a:ext cx="4793754" cy="697111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2365623" y="1760711"/>
            <a:ext cx="4556567" cy="43041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tabela = pd.crosstab(df["servico"], df["readmissao_30d"])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tabela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1131093" y="2581647"/>
            <a:ext cx="225266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LINHAS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1131093" y="2776315"/>
            <a:ext cx="2252663" cy="2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serviços.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3445669" y="2581647"/>
            <a:ext cx="225266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COLUNAS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3445669" y="2776315"/>
            <a:ext cx="2252663" cy="2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categorias de readmissão.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5760244" y="2581647"/>
            <a:ext cx="225266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CÉLULAS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5831920" y="2776315"/>
            <a:ext cx="2109312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Quantos pacientes em cada combinação.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3585158" y="3154933"/>
            <a:ext cx="197353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PERGUNTA PARA A TURMA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2269694" y="3427288"/>
            <a:ext cx="4604538" cy="49678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646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Source Serif 4"/>
              <a:buNone/>
            </a:pPr>
            <a:r>
              <a:rPr b="0" i="1" lang="pt-BR" sz="14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Mais readmissões em número absoluto significam uma taxa maior?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3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33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/>
          <p:nvPr/>
        </p:nvSpPr>
        <p:spPr>
          <a:xfrm>
            <a:off x="2440616" y="1139726"/>
            <a:ext cx="4262694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 contagens para proporções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3513981" y="1747763"/>
            <a:ext cx="2115964" cy="1497806"/>
          </a:xfrm>
          <a:prstGeom prst="roundRect">
            <a:avLst>
              <a:gd fmla="val 63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3675906" y="1871588"/>
            <a:ext cx="1855593" cy="1269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tabela_pct = pd.crosstab(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df["servico"],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df["readmissao_30d"],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normalize="index"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).mul(100).round(1)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tabela_pct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174269" y="3388444"/>
            <a:ext cx="4795388" cy="4057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normalize="index" faz cada linha somar 100%. Uma proporção alta num grupo pequeno pede cautela.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8" name="Google Shape;4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4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34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/>
          <p:nvPr/>
        </p:nvSpPr>
        <p:spPr>
          <a:xfrm>
            <a:off x="2074398" y="1150070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Margens mantêm o denominador visível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3513981" y="2094682"/>
            <a:ext cx="2115964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3675906" y="2218507"/>
            <a:ext cx="1855593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pd.crosstab(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df["servico"],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df["readmissao_30d"],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margins=True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2174269" y="3378175"/>
            <a:ext cx="4795388" cy="4057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Percentual sem denominador pode ser enganoso. Em saúde, diferenças grandes podem se apoiar em poucos casos.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1" name="Google Shape;4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5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35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/>
          <p:nvPr/>
        </p:nvSpPr>
        <p:spPr>
          <a:xfrm>
            <a:off x="3976048" y="1752450"/>
            <a:ext cx="11919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3121850" y="2643932"/>
            <a:ext cx="2900226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Comparando grupos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2" name="Google Shape;4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36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/>
          <p:nvPr/>
        </p:nvSpPr>
        <p:spPr>
          <a:xfrm>
            <a:off x="2253291" y="1318320"/>
            <a:ext cx="4637419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Tempo de internação por serviço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1972866" y="1926357"/>
            <a:ext cx="5198269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2134791" y="2050182"/>
            <a:ext cx="5030367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resumo_servico = df.groupby("servico")["tempo_internacao_dias"].agg(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["count", "mean", "median", "std", "min", "max"]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resumo_servico.round(2)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2174269" y="3209851"/>
            <a:ext cx="4795388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Compare média e mediana. Uma diferença entre médias não mostra que o serviço é a causa.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5" name="Google Shape;4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7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37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"/>
          <p:cNvSpPr/>
          <p:nvPr/>
        </p:nvSpPr>
        <p:spPr>
          <a:xfrm>
            <a:off x="2277512" y="1318320"/>
            <a:ext cx="4588902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Pacientes com e sem readmissão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2582168" y="1926357"/>
            <a:ext cx="3979664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2744093" y="2050182"/>
            <a:ext cx="3775204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df.groupby("readmissao_30d")[[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]].agg(["count", "mean", "median", "std"]).round(2)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2174269" y="3209851"/>
            <a:ext cx="4795388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resposta é descritiva: “na amostra observada, o grupo apresenta valores maiores”. Significância fica para a Aula 13.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8" name="Google Shape;4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8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8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"/>
          <p:cNvSpPr/>
          <p:nvPr/>
        </p:nvSpPr>
        <p:spPr>
          <a:xfrm>
            <a:off x="3918410" y="1824625"/>
            <a:ext cx="13071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2896816" y="2643932"/>
            <a:ext cx="3350295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Composição dos grupos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9" name="Google Shape;46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9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39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/>
          <p:nvPr/>
        </p:nvSpPr>
        <p:spPr>
          <a:xfrm>
            <a:off x="2074398" y="1173436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Agrupando por mais de uma variável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1865338" y="2118048"/>
            <a:ext cx="5413251" cy="783431"/>
          </a:xfrm>
          <a:prstGeom prst="roundRect">
            <a:avLst>
              <a:gd fmla="val 121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2027263" y="2241873"/>
            <a:ext cx="5251799" cy="5548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df.groupby(["servico", "readmissao_30d"])["tempo_internacao_dias"].agg(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["count", "mean", "median"]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).round(2)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1328261" y="3168178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GANHO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1431941" y="3362846"/>
            <a:ext cx="3051144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Grupos menores revelam estrutura escondida pela média global.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4557236" y="3168178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CUSTO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4660916" y="3362846"/>
            <a:ext cx="3051143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Grupos pequenos tornam as estimativas instáveis.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5" name="Google Shape;4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0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40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/>
          <p:nvPr/>
        </p:nvSpPr>
        <p:spPr>
          <a:xfrm>
            <a:off x="2184693" y="1318320"/>
            <a:ext cx="4774540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Estratificar pode mudar a história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2976340" y="1926357"/>
            <a:ext cx="3191247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3138265" y="2050182"/>
            <a:ext cx="2963135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pd.crosstab(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[df["servico"], df["faixa_etaria"]],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df["readmissao_30d"],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normalize="index"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).mul(100).round(1)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2174269" y="3209851"/>
            <a:ext cx="4795388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padrão agregado pode enfraquecer, desaparecer ou inverter. Estratifique guiado por uma pergunta plausível.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8" name="Google Shape;4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1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41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"/>
          <p:cNvSpPr/>
          <p:nvPr/>
        </p:nvSpPr>
        <p:spPr>
          <a:xfrm>
            <a:off x="3872997" y="1881750"/>
            <a:ext cx="1398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2451575" y="2643932"/>
            <a:ext cx="4240850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Valores extremos em contexto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9" name="Google Shape;5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2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42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"/>
          <p:cNvSpPr/>
          <p:nvPr/>
        </p:nvSpPr>
        <p:spPr>
          <a:xfrm>
            <a:off x="2899268" y="1069256"/>
            <a:ext cx="3345389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Comece pela ordenação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912945" y="1677293"/>
            <a:ext cx="133023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MAIORES TEMPOS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973410" y="1911549"/>
            <a:ext cx="3478932" cy="1597819"/>
          </a:xfrm>
          <a:prstGeom prst="roundRect">
            <a:avLst>
              <a:gd fmla="val 59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1125811" y="2035374"/>
            <a:ext cx="3278500" cy="13692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df.nlargest(5, "tempo_internacao_dias")[[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"readmissao_30d"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4551931" y="1677293"/>
            <a:ext cx="137140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MENORES TEMPOS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4614267" y="1911549"/>
            <a:ext cx="3556322" cy="1404938"/>
          </a:xfrm>
          <a:prstGeom prst="roundRect">
            <a:avLst>
              <a:gd fmla="val 67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4766667" y="2035374"/>
            <a:ext cx="3358212" cy="11763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df.nsmallest(5, "tempo_internacao_dias")[[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"readmissao_30d"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3"/>
          <p:cNvSpPr/>
          <p:nvPr/>
        </p:nvSpPr>
        <p:spPr>
          <a:xfrm>
            <a:off x="2643895" y="3652242"/>
            <a:ext cx="3856211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outras colunas ajudam a julgar se o valor é plausível.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6" name="Google Shape;5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43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/>
        </p:nvSpPr>
        <p:spPr>
          <a:xfrm>
            <a:off x="1905000" y="428625"/>
            <a:ext cx="533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é um Outlier?</a:t>
            </a:r>
            <a:endParaRPr b="1" sz="220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534" name="Google Shape;534;p44"/>
          <p:cNvGrpSpPr/>
          <p:nvPr/>
        </p:nvGrpSpPr>
        <p:grpSpPr>
          <a:xfrm>
            <a:off x="571500" y="1047750"/>
            <a:ext cx="4381500" cy="3238500"/>
            <a:chOff x="0" y="0"/>
            <a:chExt cx="4381500" cy="3238500"/>
          </a:xfrm>
        </p:grpSpPr>
        <p:sp>
          <p:nvSpPr>
            <p:cNvPr id="535" name="Google Shape;535;p44"/>
            <p:cNvSpPr/>
            <p:nvPr/>
          </p:nvSpPr>
          <p:spPr>
            <a:xfrm>
              <a:off x="0" y="0"/>
              <a:ext cx="43815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6" name="Google Shape;536;p44"/>
            <p:cNvCxnSpPr/>
            <p:nvPr/>
          </p:nvCxnSpPr>
          <p:spPr>
            <a:xfrm>
              <a:off x="571500" y="266700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A0AE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44"/>
            <p:cNvCxnSpPr/>
            <p:nvPr/>
          </p:nvCxnSpPr>
          <p:spPr>
            <a:xfrm>
              <a:off x="571500" y="381000"/>
              <a:ext cx="0" cy="2286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A0AE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09073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51923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94773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4"/>
            <p:cNvSpPr/>
            <p:nvPr/>
          </p:nvSpPr>
          <p:spPr>
            <a:xfrm>
              <a:off x="809625" y="23336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4"/>
            <p:cNvSpPr/>
            <p:nvPr/>
          </p:nvSpPr>
          <p:spPr>
            <a:xfrm>
              <a:off x="1000125" y="219075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4"/>
            <p:cNvSpPr/>
            <p:nvPr/>
          </p:nvSpPr>
          <p:spPr>
            <a:xfrm>
              <a:off x="1190625" y="228600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4"/>
            <p:cNvSpPr/>
            <p:nvPr/>
          </p:nvSpPr>
          <p:spPr>
            <a:xfrm>
              <a:off x="1285875" y="204787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4"/>
            <p:cNvSpPr/>
            <p:nvPr/>
          </p:nvSpPr>
          <p:spPr>
            <a:xfrm>
              <a:off x="1476375" y="21431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4"/>
            <p:cNvSpPr/>
            <p:nvPr/>
          </p:nvSpPr>
          <p:spPr>
            <a:xfrm>
              <a:off x="1619250" y="19526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4"/>
            <p:cNvSpPr/>
            <p:nvPr/>
          </p:nvSpPr>
          <p:spPr>
            <a:xfrm>
              <a:off x="1762125" y="200025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4"/>
            <p:cNvSpPr/>
            <p:nvPr/>
          </p:nvSpPr>
          <p:spPr>
            <a:xfrm>
              <a:off x="1952625" y="185737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4"/>
            <p:cNvSpPr/>
            <p:nvPr/>
          </p:nvSpPr>
          <p:spPr>
            <a:xfrm>
              <a:off x="2095500" y="180975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4"/>
            <p:cNvSpPr/>
            <p:nvPr/>
          </p:nvSpPr>
          <p:spPr>
            <a:xfrm>
              <a:off x="2238375" y="190500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4"/>
            <p:cNvSpPr/>
            <p:nvPr/>
          </p:nvSpPr>
          <p:spPr>
            <a:xfrm>
              <a:off x="2428875" y="166687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4"/>
            <p:cNvSpPr/>
            <p:nvPr/>
          </p:nvSpPr>
          <p:spPr>
            <a:xfrm>
              <a:off x="2619375" y="17621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4"/>
            <p:cNvSpPr/>
            <p:nvPr/>
          </p:nvSpPr>
          <p:spPr>
            <a:xfrm>
              <a:off x="2762250" y="161925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4"/>
            <p:cNvSpPr/>
            <p:nvPr/>
          </p:nvSpPr>
          <p:spPr>
            <a:xfrm>
              <a:off x="2905125" y="152400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4"/>
            <p:cNvSpPr/>
            <p:nvPr/>
          </p:nvSpPr>
          <p:spPr>
            <a:xfrm>
              <a:off x="3095625" y="15716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4"/>
            <p:cNvSpPr/>
            <p:nvPr/>
          </p:nvSpPr>
          <p:spPr>
            <a:xfrm>
              <a:off x="3286125" y="142875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4"/>
            <p:cNvSpPr/>
            <p:nvPr/>
          </p:nvSpPr>
          <p:spPr>
            <a:xfrm>
              <a:off x="3476625" y="1333500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4"/>
            <p:cNvSpPr/>
            <p:nvPr/>
          </p:nvSpPr>
          <p:spPr>
            <a:xfrm>
              <a:off x="3667125" y="1381125"/>
              <a:ext cx="95400" cy="95400"/>
            </a:xfrm>
            <a:prstGeom prst="ellipse">
              <a:avLst/>
            </a:prstGeom>
            <a:solidFill>
              <a:srgbClr val="00608C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9613" y="1323975"/>
              <a:ext cx="3105300" cy="11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4"/>
            <p:cNvSpPr/>
            <p:nvPr/>
          </p:nvSpPr>
          <p:spPr>
            <a:xfrm>
              <a:off x="2124075" y="552450"/>
              <a:ext cx="133500" cy="133500"/>
            </a:xfrm>
            <a:prstGeom prst="ellipse">
              <a:avLst/>
            </a:prstGeom>
            <a:solidFill>
              <a:srgbClr val="D938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1" name="Google Shape;561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57400" y="4857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4"/>
            <p:cNvSpPr txBox="1"/>
            <p:nvPr/>
          </p:nvSpPr>
          <p:spPr>
            <a:xfrm>
              <a:off x="1333500" y="19050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90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Ponto Atípico (Outlier)</a:t>
              </a:r>
              <a:endParaRPr b="1" sz="900">
                <a:solidFill>
                  <a:srgbClr val="D9383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563" name="Google Shape;563;p44"/>
            <p:cNvSpPr txBox="1"/>
            <p:nvPr/>
          </p:nvSpPr>
          <p:spPr>
            <a:xfrm>
              <a:off x="1238325" y="2747963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Idade do Paciente</a:t>
              </a:r>
              <a:endParaRPr sz="8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564" name="Google Shape;564;p44"/>
            <p:cNvSpPr txBox="1"/>
            <p:nvPr/>
          </p:nvSpPr>
          <p:spPr>
            <a:xfrm rot="-5400000">
              <a:off x="-333450" y="14763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Tempo de Internação (dias)</a:t>
              </a:r>
              <a:endParaRPr sz="8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565" name="Google Shape;565;p44"/>
          <p:cNvGrpSpPr/>
          <p:nvPr/>
        </p:nvGrpSpPr>
        <p:grpSpPr>
          <a:xfrm>
            <a:off x="5191125" y="1047750"/>
            <a:ext cx="3381300" cy="952500"/>
            <a:chOff x="0" y="0"/>
            <a:chExt cx="3381300" cy="952500"/>
          </a:xfrm>
        </p:grpSpPr>
        <p:sp>
          <p:nvSpPr>
            <p:cNvPr id="566" name="Google Shape;566;p44"/>
            <p:cNvSpPr/>
            <p:nvPr/>
          </p:nvSpPr>
          <p:spPr>
            <a:xfrm>
              <a:off x="0" y="0"/>
              <a:ext cx="3381300" cy="952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0" y="0"/>
              <a:ext cx="47700" cy="952500"/>
            </a:xfrm>
            <a:prstGeom prst="roundRect">
              <a:avLst>
                <a:gd fmla="val 40000" name="adj"/>
              </a:avLst>
            </a:prstGeom>
            <a:solidFill>
              <a:srgbClr val="002D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 txBox="1"/>
            <p:nvPr/>
          </p:nvSpPr>
          <p:spPr>
            <a:xfrm>
              <a:off x="190500" y="114300"/>
              <a:ext cx="3048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Definição</a:t>
              </a:r>
              <a:endParaRPr b="1" sz="110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Um </a:t>
              </a:r>
              <a:r>
                <a:rPr b="1" lang="pt-BR" sz="95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</a:t>
              </a: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é uma observação que se afasta significativamente dos outros dados da mesma distribuição, fugindo do padrão geral dos dados.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569" name="Google Shape;569;p44"/>
          <p:cNvGrpSpPr/>
          <p:nvPr/>
        </p:nvGrpSpPr>
        <p:grpSpPr>
          <a:xfrm>
            <a:off x="5191125" y="2190750"/>
            <a:ext cx="3381300" cy="952500"/>
            <a:chOff x="0" y="0"/>
            <a:chExt cx="3381300" cy="952500"/>
          </a:xfrm>
        </p:grpSpPr>
        <p:sp>
          <p:nvSpPr>
            <p:cNvPr id="570" name="Google Shape;570;p44"/>
            <p:cNvSpPr/>
            <p:nvPr/>
          </p:nvSpPr>
          <p:spPr>
            <a:xfrm>
              <a:off x="0" y="0"/>
              <a:ext cx="3381300" cy="952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0" y="0"/>
              <a:ext cx="47700" cy="952500"/>
            </a:xfrm>
            <a:prstGeom prst="roundRect">
              <a:avLst>
                <a:gd fmla="val 40000" name="adj"/>
              </a:avLst>
            </a:prstGeom>
            <a:solidFill>
              <a:srgbClr val="007B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4"/>
            <p:cNvSpPr txBox="1"/>
            <p:nvPr/>
          </p:nvSpPr>
          <p:spPr>
            <a:xfrm>
              <a:off x="190500" y="114300"/>
              <a:ext cx="3048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Causas Comuns</a:t>
              </a:r>
              <a:endParaRPr b="1" sz="110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• Erros de digitação ou coleta de dados</a:t>
              </a:r>
              <a:b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</a:b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• Variabilidade natural extrema da população</a:t>
              </a:r>
              <a:b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</a:b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• Falhas de medição ou equipamentos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573" name="Google Shape;573;p44"/>
          <p:cNvGrpSpPr/>
          <p:nvPr/>
        </p:nvGrpSpPr>
        <p:grpSpPr>
          <a:xfrm>
            <a:off x="5191125" y="3333750"/>
            <a:ext cx="3381300" cy="952500"/>
            <a:chOff x="0" y="0"/>
            <a:chExt cx="3381300" cy="952500"/>
          </a:xfrm>
        </p:grpSpPr>
        <p:sp>
          <p:nvSpPr>
            <p:cNvPr id="574" name="Google Shape;574;p44"/>
            <p:cNvSpPr/>
            <p:nvPr/>
          </p:nvSpPr>
          <p:spPr>
            <a:xfrm>
              <a:off x="0" y="0"/>
              <a:ext cx="3381300" cy="952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0" y="0"/>
              <a:ext cx="47700" cy="952500"/>
            </a:xfrm>
            <a:prstGeom prst="roundRect">
              <a:avLst>
                <a:gd fmla="val 40000" name="adj"/>
              </a:avLst>
            </a:prstGeom>
            <a:solidFill>
              <a:srgbClr val="D938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4"/>
            <p:cNvSpPr txBox="1"/>
            <p:nvPr/>
          </p:nvSpPr>
          <p:spPr>
            <a:xfrm>
              <a:off x="190500" y="114300"/>
              <a:ext cx="3048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Por que Identificar?</a:t>
              </a:r>
              <a:endParaRPr b="1" sz="110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Outliers podem distorcer médias, desvios padrão e modelos de IA. Tratá-los garante estatísticas mais robustas e confiáveis.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577" name="Google Shape;577;p44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8" name="Google Shape;578;p44"/>
          <p:cNvPicPr preferRelativeResize="0"/>
          <p:nvPr/>
        </p:nvPicPr>
        <p:blipFill rotWithShape="1">
          <a:blip r:embed="rId6">
            <a:alphaModFix/>
          </a:blip>
          <a:srcRect b="0" l="199" r="209" t="0"/>
          <a:stretch/>
        </p:blipFill>
        <p:spPr>
          <a:xfrm>
            <a:off x="8491166" y="4873971"/>
            <a:ext cx="367200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4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44" title="einstein_logo_branco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5"/>
          <p:cNvSpPr txBox="1"/>
          <p:nvPr/>
        </p:nvSpPr>
        <p:spPr>
          <a:xfrm>
            <a:off x="762000" y="381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Regra do IQR (Intervalo Interquartil)</a:t>
            </a:r>
            <a:endParaRPr b="1" sz="220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586" name="Google Shape;586;p45"/>
          <p:cNvGrpSpPr/>
          <p:nvPr/>
        </p:nvGrpSpPr>
        <p:grpSpPr>
          <a:xfrm>
            <a:off x="571500" y="1000125"/>
            <a:ext cx="3619500" cy="3524400"/>
            <a:chOff x="0" y="0"/>
            <a:chExt cx="3619500" cy="3524400"/>
          </a:xfrm>
        </p:grpSpPr>
        <p:sp>
          <p:nvSpPr>
            <p:cNvPr id="587" name="Google Shape;587;p45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2162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0" y="0"/>
              <a:ext cx="3619500" cy="400200"/>
            </a:xfrm>
            <a:prstGeom prst="roundRect">
              <a:avLst>
                <a:gd fmla="val 19047" name="adj"/>
              </a:avLst>
            </a:prstGeom>
            <a:solidFill>
              <a:srgbClr val="002D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0" y="304800"/>
              <a:ext cx="3619500" cy="95400"/>
            </a:xfrm>
            <a:prstGeom prst="rect">
              <a:avLst/>
            </a:prstGeom>
            <a:solidFill>
              <a:srgbClr val="002D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5"/>
            <p:cNvSpPr txBox="1"/>
            <p:nvPr/>
          </p:nvSpPr>
          <p:spPr>
            <a:xfrm>
              <a:off x="171450" y="76200"/>
              <a:ext cx="3276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Conceito &amp; Equações Fundamentais</a:t>
              </a:r>
              <a:endParaRPr b="1" sz="11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591" name="Google Shape;591;p45"/>
            <p:cNvSpPr txBox="1"/>
            <p:nvPr/>
          </p:nvSpPr>
          <p:spPr>
            <a:xfrm>
              <a:off x="190500" y="495300"/>
              <a:ext cx="32385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1. Intervalo Interquartil (IQR)</a:t>
              </a:r>
              <a:endParaRPr b="1" sz="105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Mede a dispersão central dos dados (50% centrais), sendo robusto contra valores extremos.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2D46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IQR = Q₃ - Q₁</a:t>
              </a:r>
              <a:endParaRPr b="1" sz="1100">
                <a:solidFill>
                  <a:srgbClr val="002D46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2. Limites de Detecção (Whiskers)</a:t>
              </a:r>
              <a:endParaRPr b="1" sz="105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Define a faixa de amplitude aceitável baseada na amplitude interquartílica (fator 1.5):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rgbClr val="002D46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Limite Inferior = Q₁ - 1.5 × IQR</a:t>
              </a:r>
              <a:endParaRPr b="1" sz="1000">
                <a:solidFill>
                  <a:srgbClr val="002D46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rgbClr val="002D46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Limite Superior = Q₃ + 1.5 × IQR</a:t>
              </a:r>
              <a:endParaRPr b="1" sz="1000">
                <a:solidFill>
                  <a:srgbClr val="002D46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3. Critério de Outlier</a:t>
              </a:r>
              <a:endParaRPr b="1" sz="1050">
                <a:solidFill>
                  <a:srgbClr val="D9383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Qualquer observação </a:t>
              </a:r>
              <a:r>
                <a:rPr b="1" lang="pt-BR" sz="95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x &lt; Limite Inferior</a:t>
              </a: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ou </a:t>
              </a:r>
              <a:r>
                <a:rPr b="1" lang="pt-BR" sz="95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x &gt; Limite Superior</a:t>
              </a: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é classificada como um </a:t>
              </a:r>
              <a:r>
                <a:rPr b="1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</a:t>
              </a:r>
              <a:r>
                <a:rPr b="0" lang="pt-BR" sz="9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.</a:t>
              </a:r>
              <a:endParaRPr b="0" sz="9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592" name="Google Shape;592;p45"/>
          <p:cNvGrpSpPr/>
          <p:nvPr/>
        </p:nvGrpSpPr>
        <p:grpSpPr>
          <a:xfrm>
            <a:off x="4381500" y="1000125"/>
            <a:ext cx="4191000" cy="3524400"/>
            <a:chOff x="0" y="0"/>
            <a:chExt cx="4191000" cy="3524400"/>
          </a:xfrm>
        </p:grpSpPr>
        <p:sp>
          <p:nvSpPr>
            <p:cNvPr id="593" name="Google Shape;593;p45"/>
            <p:cNvSpPr/>
            <p:nvPr/>
          </p:nvSpPr>
          <p:spPr>
            <a:xfrm>
              <a:off x="0" y="0"/>
              <a:ext cx="4191000" cy="3524400"/>
            </a:xfrm>
            <a:prstGeom prst="roundRect">
              <a:avLst>
                <a:gd fmla="val 2162" name="adj"/>
              </a:avLst>
            </a:prstGeom>
            <a:solidFill>
              <a:srgbClr val="FFFFFF"/>
            </a:solidFill>
            <a:ln cap="flat" cmpd="sng" w="9525">
              <a:solidFill>
                <a:srgbClr val="D1E3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5"/>
            <p:cNvSpPr/>
            <p:nvPr/>
          </p:nvSpPr>
          <p:spPr>
            <a:xfrm>
              <a:off x="0" y="0"/>
              <a:ext cx="4191000" cy="400200"/>
            </a:xfrm>
            <a:prstGeom prst="roundRect">
              <a:avLst>
                <a:gd fmla="val 19047" name="adj"/>
              </a:avLst>
            </a:prstGeom>
            <a:solidFill>
              <a:srgbClr val="002D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5"/>
            <p:cNvSpPr/>
            <p:nvPr/>
          </p:nvSpPr>
          <p:spPr>
            <a:xfrm>
              <a:off x="0" y="304800"/>
              <a:ext cx="4191000" cy="95400"/>
            </a:xfrm>
            <a:prstGeom prst="rect">
              <a:avLst/>
            </a:prstGeom>
            <a:solidFill>
              <a:srgbClr val="002D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5"/>
            <p:cNvSpPr txBox="1"/>
            <p:nvPr/>
          </p:nvSpPr>
          <p:spPr>
            <a:xfrm>
              <a:off x="171450" y="76200"/>
              <a:ext cx="3848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Representação Gráfica (Boxplot)</a:t>
              </a:r>
              <a:endParaRPr b="1" sz="11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597" name="Google Shape;597;p45"/>
            <p:cNvCxnSpPr/>
            <p:nvPr/>
          </p:nvCxnSpPr>
          <p:spPr>
            <a:xfrm>
              <a:off x="381000" y="266700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A0AE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45"/>
            <p:cNvSpPr/>
            <p:nvPr/>
          </p:nvSpPr>
          <p:spPr>
            <a:xfrm>
              <a:off x="466725" y="1657350"/>
              <a:ext cx="114300" cy="114300"/>
            </a:xfrm>
            <a:prstGeom prst="ellipse">
              <a:avLst/>
            </a:prstGeom>
            <a:solidFill>
              <a:srgbClr val="D938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99" name="Google Shape;59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575" y="16002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9113" y="1857375"/>
              <a:ext cx="9600" cy="7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5"/>
            <p:cNvSpPr txBox="1"/>
            <p:nvPr/>
          </p:nvSpPr>
          <p:spPr>
            <a:xfrm>
              <a:off x="238125" y="2733675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5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</a:t>
              </a:r>
              <a:endParaRPr b="1" sz="750">
                <a:solidFill>
                  <a:srgbClr val="D9383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602" name="Google Shape;602;p45"/>
            <p:cNvCxnSpPr/>
            <p:nvPr/>
          </p:nvCxnSpPr>
          <p:spPr>
            <a:xfrm>
              <a:off x="1000125" y="17145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2D4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45"/>
            <p:cNvCxnSpPr/>
            <p:nvPr/>
          </p:nvCxnSpPr>
          <p:spPr>
            <a:xfrm>
              <a:off x="1000125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2D4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604" name="Google Shape;604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5363" y="1905000"/>
              <a:ext cx="9600" cy="7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45"/>
            <p:cNvSpPr txBox="1"/>
            <p:nvPr/>
          </p:nvSpPr>
          <p:spPr>
            <a:xfrm>
              <a:off x="666750" y="2733675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5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Lim. Inf.</a:t>
              </a:r>
              <a:endParaRPr b="1" sz="75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Q₁ - 1.5×IQR</a:t>
              </a:r>
              <a:endParaRPr sz="6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06" name="Google Shape;606;p45"/>
            <p:cNvSpPr/>
            <p:nvPr/>
          </p:nvSpPr>
          <p:spPr>
            <a:xfrm>
              <a:off x="1571625" y="1381125"/>
              <a:ext cx="1333500" cy="666900"/>
            </a:xfrm>
            <a:prstGeom prst="roundRect">
              <a:avLst>
                <a:gd fmla="val 2857" name="adj"/>
              </a:avLst>
            </a:prstGeom>
            <a:solidFill>
              <a:srgbClr val="EBF8FF"/>
            </a:solidFill>
            <a:ln cap="flat" cmpd="sng" w="19050">
              <a:solidFill>
                <a:srgbClr val="007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7" name="Google Shape;607;p45"/>
            <p:cNvCxnSpPr/>
            <p:nvPr/>
          </p:nvCxnSpPr>
          <p:spPr>
            <a:xfrm>
              <a:off x="2143125" y="1381125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7B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608" name="Google Shape;608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6863" y="2047875"/>
              <a:ext cx="9600" cy="5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5"/>
            <p:cNvSpPr txBox="1"/>
            <p:nvPr/>
          </p:nvSpPr>
          <p:spPr>
            <a:xfrm>
              <a:off x="1333500" y="2733675"/>
              <a:ext cx="47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Q₁</a:t>
              </a:r>
              <a:endParaRPr b="1" sz="80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650">
                  <a:solidFill>
                    <a:srgbClr val="71809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(25%)</a:t>
              </a:r>
              <a:endParaRPr b="0" sz="650">
                <a:solidFill>
                  <a:srgbClr val="71809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610" name="Google Shape;610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8363" y="2047875"/>
              <a:ext cx="9600" cy="5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45"/>
            <p:cNvSpPr txBox="1"/>
            <p:nvPr/>
          </p:nvSpPr>
          <p:spPr>
            <a:xfrm>
              <a:off x="1857375" y="2733675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Mediana</a:t>
              </a:r>
              <a:endParaRPr b="1" sz="800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650">
                  <a:solidFill>
                    <a:srgbClr val="71809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(Q₂ / 50%)</a:t>
              </a:r>
              <a:endParaRPr b="0" sz="650">
                <a:solidFill>
                  <a:srgbClr val="71809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612" name="Google Shape;612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00363" y="2047875"/>
              <a:ext cx="9600" cy="5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5"/>
            <p:cNvSpPr txBox="1"/>
            <p:nvPr/>
          </p:nvSpPr>
          <p:spPr>
            <a:xfrm>
              <a:off x="2667000" y="2733675"/>
              <a:ext cx="47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Q₃</a:t>
              </a:r>
              <a:endParaRPr b="1" sz="80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650">
                  <a:solidFill>
                    <a:srgbClr val="71809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(75%)</a:t>
              </a:r>
              <a:endParaRPr b="0" sz="650">
                <a:solidFill>
                  <a:srgbClr val="71809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cxnSp>
          <p:nvCxnSpPr>
            <p:cNvPr id="614" name="Google Shape;614;p45"/>
            <p:cNvCxnSpPr/>
            <p:nvPr/>
          </p:nvCxnSpPr>
          <p:spPr>
            <a:xfrm>
              <a:off x="2905125" y="17145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2D4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45"/>
            <p:cNvCxnSpPr/>
            <p:nvPr/>
          </p:nvCxnSpPr>
          <p:spPr>
            <a:xfrm>
              <a:off x="3476625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2D4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616" name="Google Shape;616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71863" y="1905000"/>
              <a:ext cx="9600" cy="7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3143250" y="2733675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50">
                  <a:solidFill>
                    <a:srgbClr val="002D46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Lim. Sup.</a:t>
              </a:r>
              <a:endParaRPr b="1" sz="750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5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Q₃ + 1.5×IQR</a:t>
              </a:r>
              <a:endParaRPr sz="65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18" name="Google Shape;618;p45"/>
            <p:cNvSpPr/>
            <p:nvPr/>
          </p:nvSpPr>
          <p:spPr>
            <a:xfrm>
              <a:off x="3705225" y="1657350"/>
              <a:ext cx="114300" cy="114300"/>
            </a:xfrm>
            <a:prstGeom prst="ellipse">
              <a:avLst/>
            </a:prstGeom>
            <a:solidFill>
              <a:srgbClr val="D938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19" name="Google Shape;619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48075" y="16002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57613" y="1857375"/>
              <a:ext cx="9600" cy="7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45"/>
            <p:cNvSpPr txBox="1"/>
            <p:nvPr/>
          </p:nvSpPr>
          <p:spPr>
            <a:xfrm>
              <a:off x="3476625" y="2662163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50">
                  <a:solidFill>
                    <a:srgbClr val="D9383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Outlier</a:t>
              </a:r>
              <a:endParaRPr b="1" sz="750">
                <a:solidFill>
                  <a:srgbClr val="D9383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1571625" y="1143000"/>
              <a:ext cx="1333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7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5"/>
            <p:cNvSpPr txBox="1"/>
            <p:nvPr/>
          </p:nvSpPr>
          <p:spPr>
            <a:xfrm>
              <a:off x="1905000" y="93345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900">
                  <a:solidFill>
                    <a:srgbClr val="007BBA"/>
                  </a:solidFill>
                  <a:highlight>
                    <a:srgbClr val="FFFFFF"/>
                  </a:highlight>
                  <a:latin typeface="Source Serif 4"/>
                  <a:ea typeface="Source Serif 4"/>
                  <a:cs typeface="Source Serif 4"/>
                  <a:sym typeface="Source Serif 4"/>
                </a:rPr>
                <a:t>IQR (50%)</a:t>
              </a:r>
              <a:endParaRPr b="1" sz="900">
                <a:solidFill>
                  <a:srgbClr val="007BBA"/>
                </a:solidFill>
                <a:highlight>
                  <a:srgbClr val="FFFFFF"/>
                </a:highlight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24" name="Google Shape;624;p45"/>
            <p:cNvSpPr/>
            <p:nvPr/>
          </p:nvSpPr>
          <p:spPr>
            <a:xfrm>
              <a:off x="1000125" y="619125"/>
              <a:ext cx="5715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7180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5"/>
            <p:cNvSpPr txBox="1"/>
            <p:nvPr/>
          </p:nvSpPr>
          <p:spPr>
            <a:xfrm>
              <a:off x="857250" y="457200"/>
              <a:ext cx="8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1.5 × IQR</a:t>
              </a:r>
              <a:endParaRPr sz="70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26" name="Google Shape;626;p45"/>
            <p:cNvSpPr/>
            <p:nvPr/>
          </p:nvSpPr>
          <p:spPr>
            <a:xfrm>
              <a:off x="2905125" y="619125"/>
              <a:ext cx="5715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7180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5"/>
            <p:cNvSpPr txBox="1"/>
            <p:nvPr/>
          </p:nvSpPr>
          <p:spPr>
            <a:xfrm>
              <a:off x="2762250" y="457200"/>
              <a:ext cx="8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rgbClr val="4A5568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1.5 × IQR</a:t>
              </a:r>
              <a:endParaRPr sz="700">
                <a:solidFill>
                  <a:srgbClr val="4A5568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628" name="Google Shape;628;p45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9" name="Google Shape;629;p45"/>
          <p:cNvPicPr preferRelativeResize="0"/>
          <p:nvPr/>
        </p:nvPicPr>
        <p:blipFill rotWithShape="1">
          <a:blip r:embed="rId8">
            <a:alphaModFix/>
          </a:blip>
          <a:srcRect b="0" l="199" r="209" t="0"/>
          <a:stretch/>
        </p:blipFill>
        <p:spPr>
          <a:xfrm>
            <a:off x="8491166" y="4873971"/>
            <a:ext cx="367200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45" title="einstein_logo_branco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6"/>
          <p:cNvSpPr/>
          <p:nvPr/>
        </p:nvSpPr>
        <p:spPr>
          <a:xfrm>
            <a:off x="3651093" y="1225898"/>
            <a:ext cx="1841738" cy="5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Regra do IQR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6"/>
          <p:cNvSpPr/>
          <p:nvPr/>
        </p:nvSpPr>
        <p:spPr>
          <a:xfrm>
            <a:off x="2582168" y="1833935"/>
            <a:ext cx="3979664" cy="1854994"/>
          </a:xfrm>
          <a:prstGeom prst="roundRect">
            <a:avLst>
              <a:gd fmla="val 51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6"/>
          <p:cNvSpPr/>
          <p:nvPr/>
        </p:nvSpPr>
        <p:spPr>
          <a:xfrm>
            <a:off x="2744093" y="1957760"/>
            <a:ext cx="3775204" cy="16263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q1 = df["tempo_internacao_dias"].quantile(0.25)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q3 = df["tempo_internacao_dias"].quantile(0.75)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iqr = q3 - 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limite_inferior = q1 - 1.5 * iqr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limite_superior = q3 + 1.5 * iqr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print("Q1:", q1, "| Q3:", q3, "| IQR:", iqr)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print("Limites:", limite_inferior, limite_superior)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6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1" name="Google Shape;6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46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3" name="Google Shape;643;p46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/>
          <p:cNvSpPr/>
          <p:nvPr/>
        </p:nvSpPr>
        <p:spPr>
          <a:xfrm>
            <a:off x="2074398" y="1068140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Selecionando os valores sinalizados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7"/>
          <p:cNvSpPr/>
          <p:nvPr/>
        </p:nvSpPr>
        <p:spPr>
          <a:xfrm>
            <a:off x="2510433" y="2012752"/>
            <a:ext cx="4123060" cy="1497807"/>
          </a:xfrm>
          <a:prstGeom prst="roundRect">
            <a:avLst>
              <a:gd fmla="val 63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7"/>
          <p:cNvSpPr/>
          <p:nvPr/>
        </p:nvSpPr>
        <p:spPr>
          <a:xfrm>
            <a:off x="2672358" y="2136577"/>
            <a:ext cx="3922902" cy="12692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mask_outlier =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(df["tempo_internacao_dias"] &lt; limite_inferior) 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(df["tempo_internacao_dias"] &gt; limite_superior)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outliers_tempo = df.loc[mask_outlier]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outliers_tempo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7"/>
          <p:cNvSpPr/>
          <p:nvPr/>
        </p:nvSpPr>
        <p:spPr>
          <a:xfrm>
            <a:off x="2201060" y="3653433"/>
            <a:ext cx="4741806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regra identifica valores distantes da região central da distribuição.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7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4" name="Google Shape;65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7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47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8"/>
          <p:cNvSpPr/>
          <p:nvPr/>
        </p:nvSpPr>
        <p:spPr>
          <a:xfrm>
            <a:off x="4452342" y="1782887"/>
            <a:ext cx="23931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600"/>
              <a:buFont typeface="Source Serif 4"/>
              <a:buNone/>
            </a:pPr>
            <a:r>
              <a:rPr b="0" i="0" lang="pt-BR" sz="36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2243403" y="2135312"/>
            <a:ext cx="4657194" cy="65290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37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00"/>
              <a:buFont typeface="Source Serif 4"/>
              <a:buNone/>
            </a:pPr>
            <a:r>
              <a:rPr b="0" i="1" lang="pt-BR" sz="2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“Outlier estatístico” não é sinônimo de “dado inválido”.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8"/>
          <p:cNvSpPr/>
          <p:nvPr/>
        </p:nvSpPr>
        <p:spPr>
          <a:xfrm>
            <a:off x="3963081" y="2954908"/>
            <a:ext cx="1217764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Mensagem central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8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6" name="Google Shape;6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8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8" name="Google Shape;668;p48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9"/>
          <p:cNvSpPr/>
          <p:nvPr/>
        </p:nvSpPr>
        <p:spPr>
          <a:xfrm>
            <a:off x="3106902" y="803598"/>
            <a:ext cx="2930195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Sinalizar sem apagar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2910557" y="1411635"/>
            <a:ext cx="3322886" cy="697111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9"/>
          <p:cNvSpPr/>
          <p:nvPr/>
        </p:nvSpPr>
        <p:spPr>
          <a:xfrm>
            <a:off x="3101057" y="1554510"/>
            <a:ext cx="3041572" cy="43041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df["outlier_tempo_iqr"] = mask_outlier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df["outlier_tempo_iqr"].value_counts()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1200150" y="2375446"/>
            <a:ext cx="2171700" cy="810741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1352550" y="2518321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9"/>
          <p:cNvSpPr/>
          <p:nvPr/>
        </p:nvSpPr>
        <p:spPr>
          <a:xfrm>
            <a:off x="1568798" y="2508796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Preserva todas as observações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9"/>
          <p:cNvSpPr/>
          <p:nvPr/>
        </p:nvSpPr>
        <p:spPr>
          <a:xfrm>
            <a:off x="3486150" y="2375446"/>
            <a:ext cx="2171700" cy="810741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9"/>
          <p:cNvSpPr/>
          <p:nvPr/>
        </p:nvSpPr>
        <p:spPr>
          <a:xfrm>
            <a:off x="3638550" y="2518321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3854797" y="2508796"/>
            <a:ext cx="1700172" cy="5630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Permite comparar resultados com e sem extremos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9"/>
          <p:cNvSpPr/>
          <p:nvPr/>
        </p:nvSpPr>
        <p:spPr>
          <a:xfrm>
            <a:off x="5772150" y="2375446"/>
            <a:ext cx="2171700" cy="810741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5924550" y="2518321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9"/>
          <p:cNvSpPr/>
          <p:nvPr/>
        </p:nvSpPr>
        <p:spPr>
          <a:xfrm>
            <a:off x="6140797" y="2508796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Mantém a regra aplicada rastreável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9"/>
          <p:cNvSpPr/>
          <p:nvPr/>
        </p:nvSpPr>
        <p:spPr>
          <a:xfrm>
            <a:off x="3486150" y="3300487"/>
            <a:ext cx="2171700" cy="810741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9"/>
          <p:cNvSpPr/>
          <p:nvPr/>
        </p:nvSpPr>
        <p:spPr>
          <a:xfrm>
            <a:off x="3638550" y="3443362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3854797" y="3433837"/>
            <a:ext cx="1700172" cy="5630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Mostra se os extremos se concentram em algum grupo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0" name="Google Shape;69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49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2" name="Google Shape;692;p49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"/>
          <p:cNvSpPr/>
          <p:nvPr/>
        </p:nvSpPr>
        <p:spPr>
          <a:xfrm>
            <a:off x="2074398" y="1150070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Quem são as observações sinalizadas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2402979" y="2094682"/>
            <a:ext cx="4338042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0"/>
          <p:cNvSpPr/>
          <p:nvPr/>
        </p:nvSpPr>
        <p:spPr>
          <a:xfrm>
            <a:off x="2564904" y="2218507"/>
            <a:ext cx="4144334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df.loc[df["outlier_tempo_iqr"], 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"idade", "faixa_etaria", "servico",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"internacoes_anteriores", "readmissao_30d"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]].sort_values("tempo_internacao_dias", ascending=False)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0"/>
          <p:cNvSpPr/>
          <p:nvPr/>
        </p:nvSpPr>
        <p:spPr>
          <a:xfrm>
            <a:off x="2174269" y="3378175"/>
            <a:ext cx="4795388" cy="4057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Concentram-se num serviço, numa faixa etária? Têm mais internações anteriores?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3" name="Google Shape;7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50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" name="Google Shape;705;p50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1"/>
          <p:cNvSpPr/>
          <p:nvPr/>
        </p:nvSpPr>
        <p:spPr>
          <a:xfrm>
            <a:off x="2299968" y="1318320"/>
            <a:ext cx="4544064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Comparando extremos e demais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1"/>
          <p:cNvSpPr/>
          <p:nvPr/>
        </p:nvSpPr>
        <p:spPr>
          <a:xfrm>
            <a:off x="2833018" y="1926357"/>
            <a:ext cx="3477890" cy="1140619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1"/>
          <p:cNvSpPr/>
          <p:nvPr/>
        </p:nvSpPr>
        <p:spPr>
          <a:xfrm>
            <a:off x="2994943" y="2050182"/>
            <a:ext cx="3258377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df.groupby("outlier_tempo_iqr")[[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"readmissao_30d"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]].agg(["count", "mean", "median"]).round(2)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1"/>
          <p:cNvSpPr/>
          <p:nvPr/>
        </p:nvSpPr>
        <p:spPr>
          <a:xfrm>
            <a:off x="2174269" y="3209851"/>
            <a:ext cx="4795388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sugere uma pergunta. Não mostra que o tempo extremo provoca readmissão.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6" name="Google Shape;71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1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8" name="Google Shape;718;p51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2"/>
          <p:cNvSpPr/>
          <p:nvPr/>
        </p:nvSpPr>
        <p:spPr>
          <a:xfrm>
            <a:off x="2082753" y="1325687"/>
            <a:ext cx="4978419" cy="5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extremos mexem mais na média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2"/>
          <p:cNvSpPr/>
          <p:nvPr/>
        </p:nvSpPr>
        <p:spPr>
          <a:xfrm>
            <a:off x="2116262" y="1933724"/>
            <a:ext cx="4911477" cy="1319213"/>
          </a:xfrm>
          <a:prstGeom prst="roundRect">
            <a:avLst>
              <a:gd fmla="val 72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2"/>
          <p:cNvSpPr/>
          <p:nvPr/>
        </p:nvSpPr>
        <p:spPr>
          <a:xfrm>
            <a:off x="2278187" y="2057549"/>
            <a:ext cx="4734972" cy="10906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sem_extremos = df.loc[~df["outlier_tempo_iqr"]]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tempo_todos = df["tempo_internacao_dias"]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tempo_sem = sem_extremos["tempo_internacao_dias"]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print("Média:", tempo_todos.mean(), "→", tempo_sem.mean())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print("Mediana:", tempo_todos.median(), "→", tempo_sem.median())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2"/>
          <p:cNvSpPr/>
          <p:nvPr/>
        </p:nvSpPr>
        <p:spPr>
          <a:xfrm>
            <a:off x="2729597" y="3395811"/>
            <a:ext cx="3684806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cálculo avalia sensibilidade. Não justifica exclusão.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52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9" name="Google Shape;72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2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52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3"/>
          <p:cNvSpPr/>
          <p:nvPr/>
        </p:nvSpPr>
        <p:spPr>
          <a:xfrm>
            <a:off x="2074398" y="958751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Outlier não é propriedade do paciente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3"/>
          <p:cNvSpPr/>
          <p:nvPr/>
        </p:nvSpPr>
        <p:spPr>
          <a:xfrm>
            <a:off x="2402979" y="1903363"/>
            <a:ext cx="4338042" cy="783431"/>
          </a:xfrm>
          <a:prstGeom prst="roundRect">
            <a:avLst>
              <a:gd fmla="val 121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3"/>
          <p:cNvSpPr/>
          <p:nvPr/>
        </p:nvSpPr>
        <p:spPr>
          <a:xfrm>
            <a:off x="2564904" y="2027188"/>
            <a:ext cx="4144334" cy="5548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df.groupby("servico")["tempo_internacao_dias"].quantile(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[0.25, 0.50, 0.75]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).unstack()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3"/>
          <p:cNvSpPr/>
          <p:nvPr/>
        </p:nvSpPr>
        <p:spPr>
          <a:xfrm>
            <a:off x="2174269" y="2829669"/>
            <a:ext cx="4795388" cy="4057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 dias pode ser raro na população geral e esperado num subgrupo de alta complexidade.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3"/>
          <p:cNvSpPr/>
          <p:nvPr/>
        </p:nvSpPr>
        <p:spPr>
          <a:xfrm>
            <a:off x="3585232" y="3444925"/>
            <a:ext cx="197353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PERGUNTA PARA A TURMA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3"/>
          <p:cNvSpPr/>
          <p:nvPr/>
        </p:nvSpPr>
        <p:spPr>
          <a:xfrm>
            <a:off x="2203430" y="3717280"/>
            <a:ext cx="4737139" cy="2579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646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400"/>
              <a:buFont typeface="Source Serif 4"/>
              <a:buNone/>
            </a:pPr>
            <a:r>
              <a:rPr b="0" i="1" lang="pt-BR" sz="14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Faz sentido aplicar o mesmo limite a todos os serviços?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3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4" name="Google Shape;7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3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6" name="Google Shape;746;p53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4"/>
          <p:cNvSpPr/>
          <p:nvPr/>
        </p:nvSpPr>
        <p:spPr>
          <a:xfrm>
            <a:off x="3784046" y="1824625"/>
            <a:ext cx="15759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Source Serif 4"/>
              <a:buNone/>
            </a:pPr>
            <a:r>
              <a:rPr b="1" i="0" lang="pt-BR" sz="63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6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3095406" y="2643932"/>
            <a:ext cx="2953189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 padrão à hipótese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4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4182A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5" name="Google Shape;75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4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54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5"/>
          <p:cNvSpPr/>
          <p:nvPr/>
        </p:nvSpPr>
        <p:spPr>
          <a:xfrm>
            <a:off x="2172046" y="1733029"/>
            <a:ext cx="4799910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 achado exploratório à hipótese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5"/>
          <p:cNvSpPr/>
          <p:nvPr/>
        </p:nvSpPr>
        <p:spPr>
          <a:xfrm>
            <a:off x="1914525" y="2341067"/>
            <a:ext cx="1619250" cy="358453"/>
          </a:xfrm>
          <a:prstGeom prst="roundRect">
            <a:avLst>
              <a:gd fmla="val 2923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5"/>
          <p:cNvSpPr/>
          <p:nvPr/>
        </p:nvSpPr>
        <p:spPr>
          <a:xfrm>
            <a:off x="2014062" y="2436317"/>
            <a:ext cx="1420177" cy="187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Observação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5"/>
          <p:cNvSpPr/>
          <p:nvPr/>
        </p:nvSpPr>
        <p:spPr>
          <a:xfrm>
            <a:off x="3762375" y="2341067"/>
            <a:ext cx="1619250" cy="358453"/>
          </a:xfrm>
          <a:prstGeom prst="roundRect">
            <a:avLst>
              <a:gd fmla="val 2923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5"/>
          <p:cNvSpPr/>
          <p:nvPr/>
        </p:nvSpPr>
        <p:spPr>
          <a:xfrm>
            <a:off x="3861911" y="2436317"/>
            <a:ext cx="1420178" cy="187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Pergunta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5"/>
          <p:cNvSpPr/>
          <p:nvPr/>
        </p:nvSpPr>
        <p:spPr>
          <a:xfrm>
            <a:off x="5610225" y="2341067"/>
            <a:ext cx="1619250" cy="358453"/>
          </a:xfrm>
          <a:prstGeom prst="roundRect">
            <a:avLst>
              <a:gd fmla="val 2923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5"/>
          <p:cNvSpPr/>
          <p:nvPr/>
        </p:nvSpPr>
        <p:spPr>
          <a:xfrm>
            <a:off x="5709761" y="2436317"/>
            <a:ext cx="1420178" cy="187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Hipótese preliminar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5"/>
          <p:cNvSpPr/>
          <p:nvPr/>
        </p:nvSpPr>
        <p:spPr>
          <a:xfrm>
            <a:off x="2838450" y="2823344"/>
            <a:ext cx="1619250" cy="358453"/>
          </a:xfrm>
          <a:prstGeom prst="roundRect">
            <a:avLst>
              <a:gd fmla="val 2923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5"/>
          <p:cNvSpPr/>
          <p:nvPr/>
        </p:nvSpPr>
        <p:spPr>
          <a:xfrm>
            <a:off x="2937987" y="2918594"/>
            <a:ext cx="1420177" cy="187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Alternativas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55"/>
          <p:cNvSpPr/>
          <p:nvPr/>
        </p:nvSpPr>
        <p:spPr>
          <a:xfrm>
            <a:off x="4686300" y="2823344"/>
            <a:ext cx="1619250" cy="358453"/>
          </a:xfrm>
          <a:prstGeom prst="roundRect">
            <a:avLst>
              <a:gd fmla="val 2923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5"/>
          <p:cNvSpPr/>
          <p:nvPr/>
        </p:nvSpPr>
        <p:spPr>
          <a:xfrm>
            <a:off x="4785836" y="2918594"/>
            <a:ext cx="1420178" cy="187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Evidência necessária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5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5" name="Google Shape;77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5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7" name="Google Shape;777;p55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6"/>
          <p:cNvSpPr/>
          <p:nvPr/>
        </p:nvSpPr>
        <p:spPr>
          <a:xfrm>
            <a:off x="3030641" y="1104156"/>
            <a:ext cx="3082645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Exemplo no caso-guia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6"/>
          <p:cNvSpPr/>
          <p:nvPr/>
        </p:nvSpPr>
        <p:spPr>
          <a:xfrm>
            <a:off x="1200150" y="1712193"/>
            <a:ext cx="2171700" cy="992089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6"/>
          <p:cNvSpPr/>
          <p:nvPr/>
        </p:nvSpPr>
        <p:spPr>
          <a:xfrm>
            <a:off x="1352550" y="1855068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6"/>
          <p:cNvSpPr/>
          <p:nvPr/>
        </p:nvSpPr>
        <p:spPr>
          <a:xfrm>
            <a:off x="1568798" y="1845543"/>
            <a:ext cx="1700172" cy="5630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Observação: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serviço apresentou maior proporção de readmissão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6"/>
          <p:cNvSpPr/>
          <p:nvPr/>
        </p:nvSpPr>
        <p:spPr>
          <a:xfrm>
            <a:off x="3486150" y="1712193"/>
            <a:ext cx="2171700" cy="992089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6"/>
          <p:cNvSpPr/>
          <p:nvPr/>
        </p:nvSpPr>
        <p:spPr>
          <a:xfrm>
            <a:off x="3638550" y="1855068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6"/>
          <p:cNvSpPr/>
          <p:nvPr/>
        </p:nvSpPr>
        <p:spPr>
          <a:xfrm>
            <a:off x="3854797" y="1845543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Pergunta: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readmissão difere entre serviços?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6"/>
          <p:cNvSpPr/>
          <p:nvPr/>
        </p:nvSpPr>
        <p:spPr>
          <a:xfrm>
            <a:off x="5772150" y="1712193"/>
            <a:ext cx="2171700" cy="992089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6"/>
          <p:cNvSpPr/>
          <p:nvPr/>
        </p:nvSpPr>
        <p:spPr>
          <a:xfrm>
            <a:off x="5924550" y="1855068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6"/>
          <p:cNvSpPr/>
          <p:nvPr/>
        </p:nvSpPr>
        <p:spPr>
          <a:xfrm>
            <a:off x="6140797" y="1845543"/>
            <a:ext cx="1700172" cy="74443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Hipótese: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alguns serviços podem ter maior probabilidade de readmissão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6"/>
          <p:cNvSpPr/>
          <p:nvPr/>
        </p:nvSpPr>
        <p:spPr>
          <a:xfrm>
            <a:off x="2343150" y="2818582"/>
            <a:ext cx="2171700" cy="992088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6"/>
          <p:cNvSpPr/>
          <p:nvPr/>
        </p:nvSpPr>
        <p:spPr>
          <a:xfrm>
            <a:off x="2495550" y="2961457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6"/>
          <p:cNvSpPr/>
          <p:nvPr/>
        </p:nvSpPr>
        <p:spPr>
          <a:xfrm>
            <a:off x="2711797" y="2951932"/>
            <a:ext cx="1700172" cy="7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Alternativas: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idade, gravidade, grupos pequenos, variáveis não observadas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6"/>
          <p:cNvSpPr/>
          <p:nvPr/>
        </p:nvSpPr>
        <p:spPr>
          <a:xfrm>
            <a:off x="4629150" y="2818582"/>
            <a:ext cx="2171700" cy="992088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6"/>
          <p:cNvSpPr/>
          <p:nvPr/>
        </p:nvSpPr>
        <p:spPr>
          <a:xfrm>
            <a:off x="4781550" y="2961457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6"/>
          <p:cNvSpPr/>
          <p:nvPr/>
        </p:nvSpPr>
        <p:spPr>
          <a:xfrm>
            <a:off x="4997797" y="2951932"/>
            <a:ext cx="1700172" cy="7444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Evidência: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caracterizar os grupos e, depois, aplicar métodos inferenciais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6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0" name="Google Shape;8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56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2" name="Google Shape;802;p56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7"/>
          <p:cNvSpPr/>
          <p:nvPr/>
        </p:nvSpPr>
        <p:spPr>
          <a:xfrm>
            <a:off x="2074398" y="1414537"/>
            <a:ext cx="4995204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descrever o que foi encontrado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7"/>
          <p:cNvSpPr/>
          <p:nvPr/>
        </p:nvSpPr>
        <p:spPr>
          <a:xfrm>
            <a:off x="1328261" y="2359149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PREFERIR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7"/>
          <p:cNvSpPr/>
          <p:nvPr/>
        </p:nvSpPr>
        <p:spPr>
          <a:xfrm>
            <a:off x="1431941" y="2553816"/>
            <a:ext cx="3051144" cy="96559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“Na amostra observada, o serviço A apresentou maior proporção de readmissão.” “Esse padrão sugere uma hipótese a investigar.”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7"/>
          <p:cNvSpPr/>
          <p:nvPr/>
        </p:nvSpPr>
        <p:spPr>
          <a:xfrm>
            <a:off x="4557236" y="2359149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EVITAR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7"/>
          <p:cNvSpPr/>
          <p:nvPr/>
        </p:nvSpPr>
        <p:spPr>
          <a:xfrm>
            <a:off x="4660916" y="2553816"/>
            <a:ext cx="3051143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“O serviço A causa mais readmissões.” “Os outliers são erros e devem ser removidos.”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7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4" name="Google Shape;81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7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p57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8"/>
          <p:cNvSpPr/>
          <p:nvPr/>
        </p:nvSpPr>
        <p:spPr>
          <a:xfrm>
            <a:off x="2184233" y="1285503"/>
            <a:ext cx="4775459" cy="5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Registrando achados no notebook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1200150" y="1893540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8"/>
          <p:cNvSpPr/>
          <p:nvPr/>
        </p:nvSpPr>
        <p:spPr>
          <a:xfrm>
            <a:off x="1352550" y="2036415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8"/>
          <p:cNvSpPr/>
          <p:nvPr/>
        </p:nvSpPr>
        <p:spPr>
          <a:xfrm>
            <a:off x="1568798" y="2026890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Achado: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descrição objetiva do padrão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8"/>
          <p:cNvSpPr/>
          <p:nvPr/>
        </p:nvSpPr>
        <p:spPr>
          <a:xfrm>
            <a:off x="3486150" y="1893540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8"/>
          <p:cNvSpPr/>
          <p:nvPr/>
        </p:nvSpPr>
        <p:spPr>
          <a:xfrm>
            <a:off x="3638550" y="2036415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8"/>
          <p:cNvSpPr/>
          <p:nvPr/>
        </p:nvSpPr>
        <p:spPr>
          <a:xfrm>
            <a:off x="3854797" y="2026890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Evidência: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tabela ou resumo que o sustenta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8"/>
          <p:cNvSpPr/>
          <p:nvPr/>
        </p:nvSpPr>
        <p:spPr>
          <a:xfrm>
            <a:off x="5772150" y="1893540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8"/>
          <p:cNvSpPr/>
          <p:nvPr/>
        </p:nvSpPr>
        <p:spPr>
          <a:xfrm>
            <a:off x="5924550" y="2036415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8"/>
          <p:cNvSpPr/>
          <p:nvPr/>
        </p:nvSpPr>
        <p:spPr>
          <a:xfrm>
            <a:off x="6140797" y="2026890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Hipótese: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interpretação a investigar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2343150" y="2637235"/>
            <a:ext cx="2171700" cy="992089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8"/>
          <p:cNvSpPr/>
          <p:nvPr/>
        </p:nvSpPr>
        <p:spPr>
          <a:xfrm>
            <a:off x="2495550" y="2780110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8"/>
          <p:cNvSpPr/>
          <p:nvPr/>
        </p:nvSpPr>
        <p:spPr>
          <a:xfrm>
            <a:off x="2711797" y="2770585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Limitação: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por que ainda não se conclui 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8"/>
          <p:cNvSpPr/>
          <p:nvPr/>
        </p:nvSpPr>
        <p:spPr>
          <a:xfrm>
            <a:off x="4629150" y="2637235"/>
            <a:ext cx="2171700" cy="992089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8"/>
          <p:cNvSpPr/>
          <p:nvPr/>
        </p:nvSpPr>
        <p:spPr>
          <a:xfrm>
            <a:off x="4781550" y="2780110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8"/>
          <p:cNvSpPr/>
          <p:nvPr/>
        </p:nvSpPr>
        <p:spPr>
          <a:xfrm>
            <a:off x="4997797" y="2770585"/>
            <a:ext cx="1700172" cy="74443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1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Próximo passo: </a:t>
            </a: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visualização, estratificação ou método estatístico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8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9" name="Google Shape;83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8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1" name="Google Shape;841;p58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9"/>
          <p:cNvSpPr/>
          <p:nvPr/>
        </p:nvSpPr>
        <p:spPr>
          <a:xfrm>
            <a:off x="3588320" y="893564"/>
            <a:ext cx="1967285" cy="5318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Erros comuns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9"/>
          <p:cNvSpPr/>
          <p:nvPr/>
        </p:nvSpPr>
        <p:spPr>
          <a:xfrm>
            <a:off x="1200150" y="1501602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1352550" y="1644477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9"/>
          <p:cNvSpPr/>
          <p:nvPr/>
        </p:nvSpPr>
        <p:spPr>
          <a:xfrm>
            <a:off x="1568798" y="1634952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Comparar só contagens absolutas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9"/>
          <p:cNvSpPr/>
          <p:nvPr/>
        </p:nvSpPr>
        <p:spPr>
          <a:xfrm>
            <a:off x="3486150" y="1501602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9"/>
          <p:cNvSpPr/>
          <p:nvPr/>
        </p:nvSpPr>
        <p:spPr>
          <a:xfrm>
            <a:off x="3638550" y="1644477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9"/>
          <p:cNvSpPr/>
          <p:nvPr/>
        </p:nvSpPr>
        <p:spPr>
          <a:xfrm>
            <a:off x="3854797" y="1634952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Mostrar percentuais sem denominador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9"/>
          <p:cNvSpPr/>
          <p:nvPr/>
        </p:nvSpPr>
        <p:spPr>
          <a:xfrm>
            <a:off x="5772150" y="1501602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9"/>
          <p:cNvSpPr/>
          <p:nvPr/>
        </p:nvSpPr>
        <p:spPr>
          <a:xfrm>
            <a:off x="5924550" y="1644477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9"/>
          <p:cNvSpPr/>
          <p:nvPr/>
        </p:nvSpPr>
        <p:spPr>
          <a:xfrm>
            <a:off x="6140797" y="1634952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Ler diferença descritiva como significativa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9"/>
          <p:cNvSpPr/>
          <p:nvPr/>
        </p:nvSpPr>
        <p:spPr>
          <a:xfrm>
            <a:off x="1200150" y="2245296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9"/>
          <p:cNvSpPr/>
          <p:nvPr/>
        </p:nvSpPr>
        <p:spPr>
          <a:xfrm>
            <a:off x="1352550" y="2388171"/>
            <a:ext cx="159098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9"/>
          <p:cNvSpPr/>
          <p:nvPr/>
        </p:nvSpPr>
        <p:spPr>
          <a:xfrm>
            <a:off x="1568798" y="2378646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Concluir causa a partir de uma tabela cruzada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9"/>
          <p:cNvSpPr/>
          <p:nvPr/>
        </p:nvSpPr>
        <p:spPr>
          <a:xfrm>
            <a:off x="3486150" y="2245296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9"/>
          <p:cNvSpPr/>
          <p:nvPr/>
        </p:nvSpPr>
        <p:spPr>
          <a:xfrm>
            <a:off x="3638550" y="2388171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9"/>
          <p:cNvSpPr/>
          <p:nvPr/>
        </p:nvSpPr>
        <p:spPr>
          <a:xfrm>
            <a:off x="3854797" y="2378646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Subdividir até restarem poucos casos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9"/>
          <p:cNvSpPr/>
          <p:nvPr/>
        </p:nvSpPr>
        <p:spPr>
          <a:xfrm>
            <a:off x="5772150" y="2245296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9"/>
          <p:cNvSpPr/>
          <p:nvPr/>
        </p:nvSpPr>
        <p:spPr>
          <a:xfrm>
            <a:off x="5924550" y="2388171"/>
            <a:ext cx="1590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9"/>
          <p:cNvSpPr/>
          <p:nvPr/>
        </p:nvSpPr>
        <p:spPr>
          <a:xfrm>
            <a:off x="6140797" y="2378646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Tratar todo valor além de 1,5 × IQR como erro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9"/>
          <p:cNvSpPr/>
          <p:nvPr/>
        </p:nvSpPr>
        <p:spPr>
          <a:xfrm>
            <a:off x="2343150" y="2988989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9"/>
          <p:cNvSpPr/>
          <p:nvPr/>
        </p:nvSpPr>
        <p:spPr>
          <a:xfrm>
            <a:off x="2495550" y="3131865"/>
            <a:ext cx="159097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9"/>
          <p:cNvSpPr/>
          <p:nvPr/>
        </p:nvSpPr>
        <p:spPr>
          <a:xfrm>
            <a:off x="2711797" y="3122339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Remover outliers antes de inspecionar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9"/>
          <p:cNvSpPr/>
          <p:nvPr/>
        </p:nvSpPr>
        <p:spPr>
          <a:xfrm>
            <a:off x="4629150" y="2988989"/>
            <a:ext cx="2171700" cy="629394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9"/>
          <p:cNvSpPr/>
          <p:nvPr/>
        </p:nvSpPr>
        <p:spPr>
          <a:xfrm>
            <a:off x="4781550" y="3131865"/>
            <a:ext cx="159097" cy="19615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9"/>
          <p:cNvSpPr/>
          <p:nvPr/>
        </p:nvSpPr>
        <p:spPr>
          <a:xfrm>
            <a:off x="4997797" y="3122339"/>
            <a:ext cx="1700172" cy="381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Escolher o resultado “mais bonito”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9"/>
          <p:cNvSpPr/>
          <p:nvPr/>
        </p:nvSpPr>
        <p:spPr>
          <a:xfrm>
            <a:off x="2020483" y="3827934"/>
            <a:ext cx="5103034" cy="2123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Antes de concluir, verifique grupos, distribuição, extremos e composição.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9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4" name="Google Shape;8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59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p59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7FC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0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0638E"/>
          </a:solidFill>
          <a:ln cap="flat" cmpd="sng" w="12700">
            <a:solidFill>
              <a:srgbClr val="0063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0"/>
          <p:cNvSpPr/>
          <p:nvPr/>
        </p:nvSpPr>
        <p:spPr>
          <a:xfrm>
            <a:off x="402336" y="4901184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0"/>
          <p:cNvSpPr/>
          <p:nvPr/>
        </p:nvSpPr>
        <p:spPr>
          <a:xfrm>
            <a:off x="5321808" y="4901184"/>
            <a:ext cx="32918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Einstein Hospital Israelita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0"/>
          <p:cNvSpPr/>
          <p:nvPr/>
        </p:nvSpPr>
        <p:spPr>
          <a:xfrm>
            <a:off x="9144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Exercício final — investigando padrões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0"/>
          <p:cNvSpPr/>
          <p:nvPr/>
        </p:nvSpPr>
        <p:spPr>
          <a:xfrm>
            <a:off x="941832" y="10789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Considere os dados fictícios de 8 pacientes: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60"/>
          <p:cNvSpPr/>
          <p:nvPr/>
        </p:nvSpPr>
        <p:spPr>
          <a:xfrm>
            <a:off x="969264" y="1490472"/>
            <a:ext cx="2240280" cy="292608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0"/>
          <p:cNvSpPr/>
          <p:nvPr/>
        </p:nvSpPr>
        <p:spPr>
          <a:xfrm>
            <a:off x="1042416" y="1540764"/>
            <a:ext cx="21305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Paciente / serviço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60"/>
          <p:cNvSpPr/>
          <p:nvPr/>
        </p:nvSpPr>
        <p:spPr>
          <a:xfrm>
            <a:off x="3209544" y="1490472"/>
            <a:ext cx="2331720" cy="292608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0"/>
          <p:cNvSpPr/>
          <p:nvPr/>
        </p:nvSpPr>
        <p:spPr>
          <a:xfrm>
            <a:off x="3282696" y="1540764"/>
            <a:ext cx="22219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Internação (dias)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0"/>
          <p:cNvSpPr/>
          <p:nvPr/>
        </p:nvSpPr>
        <p:spPr>
          <a:xfrm>
            <a:off x="5541264" y="1490472"/>
            <a:ext cx="2487168" cy="292608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0"/>
          <p:cNvSpPr/>
          <p:nvPr/>
        </p:nvSpPr>
        <p:spPr>
          <a:xfrm>
            <a:off x="5614416" y="1540764"/>
            <a:ext cx="2377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Readmissão em 30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0"/>
          <p:cNvSpPr/>
          <p:nvPr/>
        </p:nvSpPr>
        <p:spPr>
          <a:xfrm>
            <a:off x="969264" y="1783080"/>
            <a:ext cx="2240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60"/>
          <p:cNvSpPr/>
          <p:nvPr/>
        </p:nvSpPr>
        <p:spPr>
          <a:xfrm>
            <a:off x="1042416" y="18379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P1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0"/>
          <p:cNvSpPr/>
          <p:nvPr/>
        </p:nvSpPr>
        <p:spPr>
          <a:xfrm>
            <a:off x="3209544" y="1783080"/>
            <a:ext cx="233172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0"/>
          <p:cNvSpPr/>
          <p:nvPr/>
        </p:nvSpPr>
        <p:spPr>
          <a:xfrm>
            <a:off x="3282696" y="183794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0"/>
          <p:cNvSpPr/>
          <p:nvPr/>
        </p:nvSpPr>
        <p:spPr>
          <a:xfrm>
            <a:off x="5541264" y="1783080"/>
            <a:ext cx="2487168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0"/>
          <p:cNvSpPr/>
          <p:nvPr/>
        </p:nvSpPr>
        <p:spPr>
          <a:xfrm>
            <a:off x="5614416" y="1837944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0"/>
          <p:cNvSpPr/>
          <p:nvPr/>
        </p:nvSpPr>
        <p:spPr>
          <a:xfrm>
            <a:off x="969264" y="2075688"/>
            <a:ext cx="224028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0"/>
          <p:cNvSpPr/>
          <p:nvPr/>
        </p:nvSpPr>
        <p:spPr>
          <a:xfrm>
            <a:off x="1042416" y="213055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P2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0"/>
          <p:cNvSpPr/>
          <p:nvPr/>
        </p:nvSpPr>
        <p:spPr>
          <a:xfrm>
            <a:off x="3209544" y="2075688"/>
            <a:ext cx="233172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60"/>
          <p:cNvSpPr/>
          <p:nvPr/>
        </p:nvSpPr>
        <p:spPr>
          <a:xfrm>
            <a:off x="3282696" y="213055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0"/>
          <p:cNvSpPr/>
          <p:nvPr/>
        </p:nvSpPr>
        <p:spPr>
          <a:xfrm>
            <a:off x="5541264" y="2075688"/>
            <a:ext cx="2487168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0"/>
          <p:cNvSpPr/>
          <p:nvPr/>
        </p:nvSpPr>
        <p:spPr>
          <a:xfrm>
            <a:off x="5614416" y="2130552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0"/>
          <p:cNvSpPr/>
          <p:nvPr/>
        </p:nvSpPr>
        <p:spPr>
          <a:xfrm>
            <a:off x="969264" y="2368296"/>
            <a:ext cx="2240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0"/>
          <p:cNvSpPr/>
          <p:nvPr/>
        </p:nvSpPr>
        <p:spPr>
          <a:xfrm>
            <a:off x="1042416" y="242316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P3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0"/>
          <p:cNvSpPr/>
          <p:nvPr/>
        </p:nvSpPr>
        <p:spPr>
          <a:xfrm>
            <a:off x="3209544" y="2368296"/>
            <a:ext cx="233172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60"/>
          <p:cNvSpPr/>
          <p:nvPr/>
        </p:nvSpPr>
        <p:spPr>
          <a:xfrm>
            <a:off x="3282696" y="242316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0"/>
          <p:cNvSpPr/>
          <p:nvPr/>
        </p:nvSpPr>
        <p:spPr>
          <a:xfrm>
            <a:off x="5541264" y="2368296"/>
            <a:ext cx="2487168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0"/>
          <p:cNvSpPr/>
          <p:nvPr/>
        </p:nvSpPr>
        <p:spPr>
          <a:xfrm>
            <a:off x="5614416" y="2423160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0"/>
          <p:cNvSpPr/>
          <p:nvPr/>
        </p:nvSpPr>
        <p:spPr>
          <a:xfrm>
            <a:off x="969264" y="2660904"/>
            <a:ext cx="224028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0"/>
          <p:cNvSpPr/>
          <p:nvPr/>
        </p:nvSpPr>
        <p:spPr>
          <a:xfrm>
            <a:off x="1042416" y="271576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P4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0"/>
          <p:cNvSpPr/>
          <p:nvPr/>
        </p:nvSpPr>
        <p:spPr>
          <a:xfrm>
            <a:off x="3209544" y="2660904"/>
            <a:ext cx="233172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0"/>
          <p:cNvSpPr/>
          <p:nvPr/>
        </p:nvSpPr>
        <p:spPr>
          <a:xfrm>
            <a:off x="3282696" y="27157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60"/>
          <p:cNvSpPr/>
          <p:nvPr/>
        </p:nvSpPr>
        <p:spPr>
          <a:xfrm>
            <a:off x="5541264" y="2660904"/>
            <a:ext cx="2487168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0"/>
          <p:cNvSpPr/>
          <p:nvPr/>
        </p:nvSpPr>
        <p:spPr>
          <a:xfrm>
            <a:off x="5614416" y="2715768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0"/>
          <p:cNvSpPr/>
          <p:nvPr/>
        </p:nvSpPr>
        <p:spPr>
          <a:xfrm>
            <a:off x="969264" y="2953512"/>
            <a:ext cx="2240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0"/>
          <p:cNvSpPr/>
          <p:nvPr/>
        </p:nvSpPr>
        <p:spPr>
          <a:xfrm>
            <a:off x="1042416" y="3008376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P5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0"/>
          <p:cNvSpPr/>
          <p:nvPr/>
        </p:nvSpPr>
        <p:spPr>
          <a:xfrm>
            <a:off x="3209544" y="2953512"/>
            <a:ext cx="233172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0"/>
          <p:cNvSpPr/>
          <p:nvPr/>
        </p:nvSpPr>
        <p:spPr>
          <a:xfrm>
            <a:off x="3282696" y="300837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60"/>
          <p:cNvSpPr/>
          <p:nvPr/>
        </p:nvSpPr>
        <p:spPr>
          <a:xfrm>
            <a:off x="5541264" y="2953512"/>
            <a:ext cx="2487168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60"/>
          <p:cNvSpPr/>
          <p:nvPr/>
        </p:nvSpPr>
        <p:spPr>
          <a:xfrm>
            <a:off x="5614416" y="3008376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0"/>
          <p:cNvSpPr/>
          <p:nvPr/>
        </p:nvSpPr>
        <p:spPr>
          <a:xfrm>
            <a:off x="969264" y="3246120"/>
            <a:ext cx="224028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0"/>
          <p:cNvSpPr/>
          <p:nvPr/>
        </p:nvSpPr>
        <p:spPr>
          <a:xfrm>
            <a:off x="1042416" y="330098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P6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0"/>
          <p:cNvSpPr/>
          <p:nvPr/>
        </p:nvSpPr>
        <p:spPr>
          <a:xfrm>
            <a:off x="3209544" y="3246120"/>
            <a:ext cx="233172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0"/>
          <p:cNvSpPr/>
          <p:nvPr/>
        </p:nvSpPr>
        <p:spPr>
          <a:xfrm>
            <a:off x="3282696" y="330098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0"/>
          <p:cNvSpPr/>
          <p:nvPr/>
        </p:nvSpPr>
        <p:spPr>
          <a:xfrm>
            <a:off x="5541264" y="3246120"/>
            <a:ext cx="2487168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0"/>
          <p:cNvSpPr/>
          <p:nvPr/>
        </p:nvSpPr>
        <p:spPr>
          <a:xfrm>
            <a:off x="5614416" y="3300984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60"/>
          <p:cNvSpPr/>
          <p:nvPr/>
        </p:nvSpPr>
        <p:spPr>
          <a:xfrm>
            <a:off x="969264" y="3538728"/>
            <a:ext cx="2240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0"/>
          <p:cNvSpPr/>
          <p:nvPr/>
        </p:nvSpPr>
        <p:spPr>
          <a:xfrm>
            <a:off x="1042416" y="359359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P7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0"/>
          <p:cNvSpPr/>
          <p:nvPr/>
        </p:nvSpPr>
        <p:spPr>
          <a:xfrm>
            <a:off x="3209544" y="3538728"/>
            <a:ext cx="233172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0"/>
          <p:cNvSpPr/>
          <p:nvPr/>
        </p:nvSpPr>
        <p:spPr>
          <a:xfrm>
            <a:off x="3282696" y="359359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60"/>
          <p:cNvSpPr/>
          <p:nvPr/>
        </p:nvSpPr>
        <p:spPr>
          <a:xfrm>
            <a:off x="5541264" y="3538728"/>
            <a:ext cx="2487168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60"/>
          <p:cNvSpPr/>
          <p:nvPr/>
        </p:nvSpPr>
        <p:spPr>
          <a:xfrm>
            <a:off x="5614416" y="3593592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0"/>
          <p:cNvSpPr/>
          <p:nvPr/>
        </p:nvSpPr>
        <p:spPr>
          <a:xfrm>
            <a:off x="969264" y="3831336"/>
            <a:ext cx="224028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0"/>
          <p:cNvSpPr/>
          <p:nvPr/>
        </p:nvSpPr>
        <p:spPr>
          <a:xfrm>
            <a:off x="1042416" y="388620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P8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0"/>
          <p:cNvSpPr/>
          <p:nvPr/>
        </p:nvSpPr>
        <p:spPr>
          <a:xfrm>
            <a:off x="3209544" y="3831336"/>
            <a:ext cx="2331720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0"/>
          <p:cNvSpPr/>
          <p:nvPr/>
        </p:nvSpPr>
        <p:spPr>
          <a:xfrm>
            <a:off x="3282696" y="388620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0"/>
          <p:cNvSpPr/>
          <p:nvPr/>
        </p:nvSpPr>
        <p:spPr>
          <a:xfrm>
            <a:off x="5541264" y="3831336"/>
            <a:ext cx="2487168" cy="292608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0"/>
          <p:cNvSpPr/>
          <p:nvPr/>
        </p:nvSpPr>
        <p:spPr>
          <a:xfrm>
            <a:off x="5614416" y="3886200"/>
            <a:ext cx="2350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0"/>
          <p:cNvSpPr/>
          <p:nvPr/>
        </p:nvSpPr>
        <p:spPr>
          <a:xfrm>
            <a:off x="822960" y="3986784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 Qual serviço apresenta maior proporção de readmissões?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0"/>
          <p:cNvSpPr/>
          <p:nvPr/>
        </p:nvSpPr>
        <p:spPr>
          <a:xfrm>
            <a:off x="822960" y="4251960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 Compare média e mediana do tempo de internação em cada serviço.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0"/>
          <p:cNvSpPr/>
          <p:nvPr/>
        </p:nvSpPr>
        <p:spPr>
          <a:xfrm>
            <a:off x="822960" y="4517136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  O paciente com 19 dias deve ser excluído? Que hipótese você investigaria?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1"/>
          <p:cNvSpPr/>
          <p:nvPr/>
        </p:nvSpPr>
        <p:spPr>
          <a:xfrm>
            <a:off x="2083825" y="1565225"/>
            <a:ext cx="4976349" cy="5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00"/>
              <a:buFont typeface="Source Serif 4"/>
              <a:buNone/>
            </a:pPr>
            <a:r>
              <a:rPr b="1" i="0" lang="pt-BR" sz="23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isso volta nas próximas aulas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1"/>
          <p:cNvSpPr/>
          <p:nvPr/>
        </p:nvSpPr>
        <p:spPr>
          <a:xfrm>
            <a:off x="1328261" y="2173263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1"/>
          <p:cNvSpPr/>
          <p:nvPr/>
        </p:nvSpPr>
        <p:spPr>
          <a:xfrm>
            <a:off x="1328261" y="2367930"/>
            <a:ext cx="3258503" cy="2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Escolher o gráfico certo para cada pergunta.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1"/>
          <p:cNvSpPr/>
          <p:nvPr/>
        </p:nvSpPr>
        <p:spPr>
          <a:xfrm>
            <a:off x="4557236" y="2173263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1"/>
          <p:cNvSpPr/>
          <p:nvPr/>
        </p:nvSpPr>
        <p:spPr>
          <a:xfrm>
            <a:off x="4557236" y="2367930"/>
            <a:ext cx="3258503" cy="2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Implementar com matplotlib e seaborn.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1"/>
          <p:cNvSpPr/>
          <p:nvPr/>
        </p:nvSpPr>
        <p:spPr>
          <a:xfrm>
            <a:off x="1328261" y="2776314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1"/>
          <p:cNvSpPr/>
          <p:nvPr/>
        </p:nvSpPr>
        <p:spPr>
          <a:xfrm>
            <a:off x="1328261" y="2970982"/>
            <a:ext cx="3258503" cy="208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Achados e hipóteses viram narrativa analítica.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1"/>
          <p:cNvSpPr/>
          <p:nvPr/>
        </p:nvSpPr>
        <p:spPr>
          <a:xfrm>
            <a:off x="4557236" y="2776314"/>
            <a:ext cx="3258503" cy="1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900"/>
              <a:buFont typeface="Source Serif 4"/>
              <a:buNone/>
            </a:pPr>
            <a:r>
              <a:rPr b="1" i="0" lang="pt-BR" sz="9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AULAS 12 E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1"/>
          <p:cNvSpPr/>
          <p:nvPr/>
        </p:nvSpPr>
        <p:spPr>
          <a:xfrm>
            <a:off x="4660916" y="2970982"/>
            <a:ext cx="3051143" cy="3976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100"/>
              <a:buFont typeface="Source Serif 4"/>
              <a:buNone/>
            </a:pPr>
            <a:r>
              <a:rPr b="0" i="0" lang="pt-BR" sz="1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Correlação, intervalos de confiança e qui-quadrado.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1"/>
          <p:cNvSpPr/>
          <p:nvPr/>
        </p:nvSpPr>
        <p:spPr>
          <a:xfrm>
            <a:off x="0" y="4781550"/>
            <a:ext cx="9144000" cy="36195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59" name="Google Shape;9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1166" y="4873972"/>
            <a:ext cx="367085" cy="17710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61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1" name="Google Shape;961;p61" title="einstein_logo_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7FC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2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0638E"/>
          </a:solidFill>
          <a:ln cap="flat" cmpd="sng" w="12700">
            <a:solidFill>
              <a:srgbClr val="0063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2"/>
          <p:cNvSpPr/>
          <p:nvPr/>
        </p:nvSpPr>
        <p:spPr>
          <a:xfrm>
            <a:off x="402336" y="4901184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2"/>
          <p:cNvSpPr/>
          <p:nvPr/>
        </p:nvSpPr>
        <p:spPr>
          <a:xfrm>
            <a:off x="5321808" y="4901184"/>
            <a:ext cx="32918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Einstein Hospital Israelita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2"/>
          <p:cNvSpPr/>
          <p:nvPr/>
        </p:nvSpPr>
        <p:spPr>
          <a:xfrm>
            <a:off x="9144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Exercício final — investigando padrões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2"/>
          <p:cNvSpPr/>
          <p:nvPr/>
        </p:nvSpPr>
        <p:spPr>
          <a:xfrm>
            <a:off x="941832" y="10789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Considere os dados fictícios de 8 pacientes: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2"/>
          <p:cNvSpPr/>
          <p:nvPr/>
        </p:nvSpPr>
        <p:spPr>
          <a:xfrm>
            <a:off x="941814" y="1369309"/>
            <a:ext cx="2240400" cy="292500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2"/>
          <p:cNvSpPr/>
          <p:nvPr/>
        </p:nvSpPr>
        <p:spPr>
          <a:xfrm>
            <a:off x="1014966" y="1419602"/>
            <a:ext cx="2130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Paciente / serviço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2"/>
          <p:cNvSpPr/>
          <p:nvPr/>
        </p:nvSpPr>
        <p:spPr>
          <a:xfrm>
            <a:off x="3182094" y="1369309"/>
            <a:ext cx="2331600" cy="292500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2"/>
          <p:cNvSpPr/>
          <p:nvPr/>
        </p:nvSpPr>
        <p:spPr>
          <a:xfrm>
            <a:off x="3255246" y="1419602"/>
            <a:ext cx="2222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Internação (dias)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2"/>
          <p:cNvSpPr/>
          <p:nvPr/>
        </p:nvSpPr>
        <p:spPr>
          <a:xfrm>
            <a:off x="5513814" y="1369309"/>
            <a:ext cx="2487300" cy="292500"/>
          </a:xfrm>
          <a:prstGeom prst="rect">
            <a:avLst/>
          </a:prstGeom>
          <a:solidFill>
            <a:srgbClr val="003A56"/>
          </a:solidFill>
          <a:ln cap="flat" cmpd="sng" w="12700">
            <a:solidFill>
              <a:srgbClr val="003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2"/>
          <p:cNvSpPr/>
          <p:nvPr/>
        </p:nvSpPr>
        <p:spPr>
          <a:xfrm>
            <a:off x="5586966" y="1419602"/>
            <a:ext cx="2377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Readmissão em 30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2"/>
          <p:cNvSpPr/>
          <p:nvPr/>
        </p:nvSpPr>
        <p:spPr>
          <a:xfrm>
            <a:off x="941814" y="1661918"/>
            <a:ext cx="22404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2"/>
          <p:cNvSpPr/>
          <p:nvPr/>
        </p:nvSpPr>
        <p:spPr>
          <a:xfrm>
            <a:off x="1014966" y="1716781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P1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2"/>
          <p:cNvSpPr/>
          <p:nvPr/>
        </p:nvSpPr>
        <p:spPr>
          <a:xfrm>
            <a:off x="3182094" y="1661918"/>
            <a:ext cx="23316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2"/>
          <p:cNvSpPr/>
          <p:nvPr/>
        </p:nvSpPr>
        <p:spPr>
          <a:xfrm>
            <a:off x="3255246" y="1716781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2"/>
          <p:cNvSpPr/>
          <p:nvPr/>
        </p:nvSpPr>
        <p:spPr>
          <a:xfrm>
            <a:off x="5513814" y="1661918"/>
            <a:ext cx="24873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2"/>
          <p:cNvSpPr/>
          <p:nvPr/>
        </p:nvSpPr>
        <p:spPr>
          <a:xfrm>
            <a:off x="5586966" y="1716781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2"/>
          <p:cNvSpPr/>
          <p:nvPr/>
        </p:nvSpPr>
        <p:spPr>
          <a:xfrm>
            <a:off x="941814" y="1954526"/>
            <a:ext cx="22404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2"/>
          <p:cNvSpPr/>
          <p:nvPr/>
        </p:nvSpPr>
        <p:spPr>
          <a:xfrm>
            <a:off x="1014966" y="2009390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P2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2"/>
          <p:cNvSpPr/>
          <p:nvPr/>
        </p:nvSpPr>
        <p:spPr>
          <a:xfrm>
            <a:off x="3182094" y="1954526"/>
            <a:ext cx="23316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2"/>
          <p:cNvSpPr/>
          <p:nvPr/>
        </p:nvSpPr>
        <p:spPr>
          <a:xfrm>
            <a:off x="3255246" y="2009390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2"/>
          <p:cNvSpPr/>
          <p:nvPr/>
        </p:nvSpPr>
        <p:spPr>
          <a:xfrm>
            <a:off x="5513814" y="1954526"/>
            <a:ext cx="24873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2"/>
          <p:cNvSpPr/>
          <p:nvPr/>
        </p:nvSpPr>
        <p:spPr>
          <a:xfrm>
            <a:off x="5586966" y="2009390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62"/>
          <p:cNvSpPr/>
          <p:nvPr/>
        </p:nvSpPr>
        <p:spPr>
          <a:xfrm>
            <a:off x="941814" y="2247134"/>
            <a:ext cx="22404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2"/>
          <p:cNvSpPr/>
          <p:nvPr/>
        </p:nvSpPr>
        <p:spPr>
          <a:xfrm>
            <a:off x="1014966" y="230199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P3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62"/>
          <p:cNvSpPr/>
          <p:nvPr/>
        </p:nvSpPr>
        <p:spPr>
          <a:xfrm>
            <a:off x="3182094" y="2247134"/>
            <a:ext cx="23316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2"/>
          <p:cNvSpPr/>
          <p:nvPr/>
        </p:nvSpPr>
        <p:spPr>
          <a:xfrm>
            <a:off x="3255246" y="2301998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62"/>
          <p:cNvSpPr/>
          <p:nvPr/>
        </p:nvSpPr>
        <p:spPr>
          <a:xfrm>
            <a:off x="5513814" y="2247134"/>
            <a:ext cx="24873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2"/>
          <p:cNvSpPr/>
          <p:nvPr/>
        </p:nvSpPr>
        <p:spPr>
          <a:xfrm>
            <a:off x="5586966" y="2301998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62"/>
          <p:cNvSpPr/>
          <p:nvPr/>
        </p:nvSpPr>
        <p:spPr>
          <a:xfrm>
            <a:off x="941814" y="2539742"/>
            <a:ext cx="22404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"/>
          <p:cNvSpPr/>
          <p:nvPr/>
        </p:nvSpPr>
        <p:spPr>
          <a:xfrm>
            <a:off x="1014966" y="2594606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P4 · Cardio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62"/>
          <p:cNvSpPr/>
          <p:nvPr/>
        </p:nvSpPr>
        <p:spPr>
          <a:xfrm>
            <a:off x="3182094" y="2539742"/>
            <a:ext cx="23316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2"/>
          <p:cNvSpPr/>
          <p:nvPr/>
        </p:nvSpPr>
        <p:spPr>
          <a:xfrm>
            <a:off x="3255246" y="2594606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62"/>
          <p:cNvSpPr/>
          <p:nvPr/>
        </p:nvSpPr>
        <p:spPr>
          <a:xfrm>
            <a:off x="5513814" y="2539742"/>
            <a:ext cx="24873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5586966" y="2594606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2"/>
          <p:cNvSpPr/>
          <p:nvPr/>
        </p:nvSpPr>
        <p:spPr>
          <a:xfrm>
            <a:off x="941814" y="2832350"/>
            <a:ext cx="22404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1014966" y="2887214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P5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2"/>
          <p:cNvSpPr/>
          <p:nvPr/>
        </p:nvSpPr>
        <p:spPr>
          <a:xfrm>
            <a:off x="3182094" y="2832350"/>
            <a:ext cx="23316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255246" y="2887214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5513814" y="2832350"/>
            <a:ext cx="24873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5586966" y="2887214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2"/>
          <p:cNvSpPr/>
          <p:nvPr/>
        </p:nvSpPr>
        <p:spPr>
          <a:xfrm>
            <a:off x="941814" y="3124958"/>
            <a:ext cx="22404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2"/>
          <p:cNvSpPr/>
          <p:nvPr/>
        </p:nvSpPr>
        <p:spPr>
          <a:xfrm>
            <a:off x="1014966" y="3179822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P6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2"/>
          <p:cNvSpPr/>
          <p:nvPr/>
        </p:nvSpPr>
        <p:spPr>
          <a:xfrm>
            <a:off x="3182094" y="3124958"/>
            <a:ext cx="23316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3255246" y="3179822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5513814" y="3124958"/>
            <a:ext cx="24873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5586966" y="3179822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2"/>
          <p:cNvSpPr/>
          <p:nvPr/>
        </p:nvSpPr>
        <p:spPr>
          <a:xfrm>
            <a:off x="941814" y="3417566"/>
            <a:ext cx="22404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2"/>
          <p:cNvSpPr/>
          <p:nvPr/>
        </p:nvSpPr>
        <p:spPr>
          <a:xfrm>
            <a:off x="1014966" y="3472430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P7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2"/>
          <p:cNvSpPr/>
          <p:nvPr/>
        </p:nvSpPr>
        <p:spPr>
          <a:xfrm>
            <a:off x="3182094" y="3417566"/>
            <a:ext cx="23316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2"/>
          <p:cNvSpPr/>
          <p:nvPr/>
        </p:nvSpPr>
        <p:spPr>
          <a:xfrm>
            <a:off x="3255246" y="3472430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62"/>
          <p:cNvSpPr/>
          <p:nvPr/>
        </p:nvSpPr>
        <p:spPr>
          <a:xfrm>
            <a:off x="5513814" y="3417566"/>
            <a:ext cx="2487300" cy="2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2"/>
          <p:cNvSpPr/>
          <p:nvPr/>
        </p:nvSpPr>
        <p:spPr>
          <a:xfrm>
            <a:off x="5586966" y="3472430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2"/>
          <p:cNvSpPr/>
          <p:nvPr/>
        </p:nvSpPr>
        <p:spPr>
          <a:xfrm>
            <a:off x="941814" y="3710174"/>
            <a:ext cx="22404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2"/>
          <p:cNvSpPr/>
          <p:nvPr/>
        </p:nvSpPr>
        <p:spPr>
          <a:xfrm>
            <a:off x="1014966" y="376503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P8 · Neuro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2"/>
          <p:cNvSpPr/>
          <p:nvPr/>
        </p:nvSpPr>
        <p:spPr>
          <a:xfrm>
            <a:off x="3182094" y="3710174"/>
            <a:ext cx="23316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2"/>
          <p:cNvSpPr/>
          <p:nvPr/>
        </p:nvSpPr>
        <p:spPr>
          <a:xfrm>
            <a:off x="3255246" y="3765038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62"/>
          <p:cNvSpPr/>
          <p:nvPr/>
        </p:nvSpPr>
        <p:spPr>
          <a:xfrm>
            <a:off x="5513814" y="3710174"/>
            <a:ext cx="2487300" cy="292500"/>
          </a:xfrm>
          <a:prstGeom prst="rect">
            <a:avLst/>
          </a:prstGeom>
          <a:solidFill>
            <a:srgbClr val="F3F8FB"/>
          </a:solidFill>
          <a:ln cap="flat" cmpd="sng" w="9525">
            <a:solidFill>
              <a:srgbClr val="D2E2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2"/>
          <p:cNvSpPr/>
          <p:nvPr/>
        </p:nvSpPr>
        <p:spPr>
          <a:xfrm>
            <a:off x="5586966" y="3765038"/>
            <a:ext cx="234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2"/>
          <p:cNvSpPr/>
          <p:nvPr/>
        </p:nvSpPr>
        <p:spPr>
          <a:xfrm>
            <a:off x="784235" y="4079372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 Qual serviço apresenta maior proporção de readmissões?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2"/>
          <p:cNvSpPr/>
          <p:nvPr/>
        </p:nvSpPr>
        <p:spPr>
          <a:xfrm>
            <a:off x="784235" y="4311660"/>
            <a:ext cx="786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 Compare média e mediana do tempo de internação em cada serviço.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2"/>
          <p:cNvSpPr/>
          <p:nvPr/>
        </p:nvSpPr>
        <p:spPr>
          <a:xfrm>
            <a:off x="784235" y="4543949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0"/>
              <a:buFont typeface="Arial"/>
              <a:buNone/>
            </a:pPr>
            <a:r>
              <a:rPr b="0" i="0" lang="pt-BR" sz="123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  </a:t>
            </a:r>
            <a:r>
              <a:rPr lang="pt-BR" sz="1230">
                <a:solidFill>
                  <a:srgbClr val="222222"/>
                </a:solidFill>
              </a:rPr>
              <a:t>O paciente 4 é um outlier? Descubra usando a regra do IQR. Devemos excluílo?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3"/>
          <p:cNvSpPr/>
          <p:nvPr/>
        </p:nvSpPr>
        <p:spPr>
          <a:xfrm>
            <a:off x="3970854" y="831503"/>
            <a:ext cx="120229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8ABDD4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8ABDD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PRÓXIMA AULA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63"/>
          <p:cNvSpPr/>
          <p:nvPr/>
        </p:nvSpPr>
        <p:spPr>
          <a:xfrm>
            <a:off x="1220403" y="1151483"/>
            <a:ext cx="6703195" cy="108882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785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ource Serif 4"/>
              <a:buNone/>
            </a:pPr>
            <a:r>
              <a:rPr b="1" i="0" lang="pt-BR" sz="3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9: escolhendo a visualização certa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3"/>
          <p:cNvSpPr/>
          <p:nvPr/>
        </p:nvSpPr>
        <p:spPr>
          <a:xfrm>
            <a:off x="4343400" y="2326035"/>
            <a:ext cx="457200" cy="1428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3"/>
          <p:cNvSpPr/>
          <p:nvPr/>
        </p:nvSpPr>
        <p:spPr>
          <a:xfrm>
            <a:off x="2496031" y="2445098"/>
            <a:ext cx="4151864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37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ource Serif 4"/>
              <a:buNone/>
            </a:pPr>
            <a:r>
              <a:rPr b="0" i="0" lang="pt-BR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“Hoje relacionamos variáveis, comparamos grupos, examinamos outliers em contexto e transformamos padrões em hipóteses. Na próxima aula, veremos como escolher gráficos que comuniquem esses achados com clareza, sem distorcer a mensagem analítica.”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3"/>
          <p:cNvSpPr/>
          <p:nvPr/>
        </p:nvSpPr>
        <p:spPr>
          <a:xfrm>
            <a:off x="756685" y="4864423"/>
            <a:ext cx="3239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erif 4"/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9" name="Google Shape;1039;p63" title="einstein_logo_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952" y="4797959"/>
            <a:ext cx="367077" cy="329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