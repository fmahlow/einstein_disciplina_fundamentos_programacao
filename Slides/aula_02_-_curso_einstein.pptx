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  <p:sldId id="306" r:id="rId55"/>
  </p:sldIdLst>
  <p:sldSz cy="10287000" cx="18288000"/>
  <p:notesSz cx="10287000" cy="18288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9" Type="http://schemas.openxmlformats.org/officeDocument/2006/relationships/slide" Target="slides/slide4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11" Type="http://schemas.openxmlformats.org/officeDocument/2006/relationships/slide" Target="slides/slide7.xml"/><Relationship Id="rId55" Type="http://schemas.openxmlformats.org/officeDocument/2006/relationships/slide" Target="slides/slide51.xml"/><Relationship Id="rId10" Type="http://schemas.openxmlformats.org/officeDocument/2006/relationships/slide" Target="slides/slide6.xml"/><Relationship Id="rId54" Type="http://schemas.openxmlformats.org/officeDocument/2006/relationships/slide" Target="slides/slide5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" name="Google Shape;1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Abrir a aula 2 retomando o fechamento da aula anterior.</a:t>
            </a:r>
            <a:endParaRPr/>
          </a:p>
        </p:txBody>
      </p:sp>
      <p:sp>
        <p:nvSpPr>
          <p:cNvPr id="18" name="Google Shape;18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" name="Google Shape;3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Apresentar o percurso da aula em seis blocos.</a:t>
            </a:r>
            <a:endParaRPr/>
          </a:p>
        </p:txBody>
      </p:sp>
      <p:sp>
        <p:nvSpPr>
          <p:cNvPr id="39" name="Google Shape;39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" name="Google Shape;5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Mensagem central. Ler com calma e retomar ao longo da aula.</a:t>
            </a:r>
            <a:endParaRPr/>
          </a:p>
        </p:txBody>
      </p:sp>
      <p:sp>
        <p:nvSpPr>
          <p:cNvPr id="57" name="Google Shape;5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Anunciar o conteúdo da aula.</a:t>
            </a:r>
            <a:endParaRPr/>
          </a:p>
        </p:txBody>
      </p:sp>
      <p:sp>
        <p:nvSpPr>
          <p:cNvPr id="65" name="Google Shape;6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Deixar claro o objetivo: a primeira transição do problema para a representação computacional.</a:t>
            </a:r>
            <a:endParaRPr/>
          </a:p>
        </p:txBody>
      </p:sp>
      <p:sp>
        <p:nvSpPr>
          <p:cNvPr id="96" name="Google Shape;96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Retomar o exemplo do fim da Aula 1 e ler linha por linha.</a:t>
            </a:r>
            <a:endParaRPr/>
          </a:p>
        </p:txBody>
      </p:sp>
      <p:sp>
        <p:nvSpPr>
          <p:cNvPr id="111" name="Google Shape;111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Fazer as quatro perguntas à turma antes de explicar.</a:t>
            </a:r>
            <a:endParaRPr/>
          </a:p>
        </p:txBody>
      </p:sp>
      <p:sp>
        <p:nvSpPr>
          <p:cNvPr id="122" name="Google Shape;122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Daí a importância da clareza na representação e na sequência das operações.</a:t>
            </a:r>
            <a:endParaRPr/>
          </a:p>
        </p:txBody>
      </p:sp>
      <p:sp>
        <p:nvSpPr>
          <p:cNvPr id="141" name="Google Shape;141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Usar o exemplo cotidiano antes de mostrar código.</a:t>
            </a:r>
            <a:endParaRPr/>
          </a:p>
        </p:txBody>
      </p:sp>
      <p:sp>
        <p:nvSpPr>
          <p:cNvPr id="149" name="Google Shape;149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Conduzir a turma até criar o notebook.</a:t>
            </a:r>
            <a:endParaRPr/>
          </a:p>
        </p:txBody>
      </p:sp>
      <p:sp>
        <p:nvSpPr>
          <p:cNvPr id="165" name="Google Shape;165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Mostrar a organização sugerida em nove blocos.</a:t>
            </a:r>
            <a:endParaRPr/>
          </a:p>
        </p:txBody>
      </p:sp>
      <p:sp>
        <p:nvSpPr>
          <p:cNvPr id="183" name="Google Shape;183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6" name="Google Shape;216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3" name="Google Shape;223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Explicar nome, valor, o sinal de atribuição e o print().</a:t>
            </a:r>
            <a:endParaRPr/>
          </a:p>
        </p:txBody>
      </p:sp>
      <p:sp>
        <p:nvSpPr>
          <p:cNvPr id="224" name="Google Shape;224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6" name="Google Shape;236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Quatro elementos da primeira linha de código.</a:t>
            </a:r>
            <a:endParaRPr/>
          </a:p>
        </p:txBody>
      </p:sp>
      <p:sp>
        <p:nvSpPr>
          <p:cNvPr id="237" name="Google Shape;237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5" name="Google Shape;255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segunda atribuição substitui a primeira.</a:t>
            </a:r>
            <a:endParaRPr/>
          </a:p>
        </p:txBody>
      </p:sp>
      <p:sp>
        <p:nvSpPr>
          <p:cNvPr id="256" name="Google Shape;256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5" name="Google Shape;265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Boas práticas de nomeação.</a:t>
            </a:r>
            <a:endParaRPr/>
          </a:p>
        </p:txBody>
      </p:sp>
      <p:sp>
        <p:nvSpPr>
          <p:cNvPr id="266" name="Google Shape;266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4" name="Google Shape;284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Cinco tipos básicos com um exemplo cada.</a:t>
            </a:r>
            <a:endParaRPr/>
          </a:p>
        </p:txBody>
      </p:sp>
      <p:sp>
        <p:nvSpPr>
          <p:cNvPr id="285" name="Google Shape;285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1" name="Google Shape;301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Inspecionar o tipo é prática simples e importante.</a:t>
            </a:r>
            <a:endParaRPr/>
          </a:p>
        </p:txBody>
      </p:sp>
      <p:sp>
        <p:nvSpPr>
          <p:cNvPr id="302" name="Google Shape;302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1" name="Google Shape;311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8" name="Google Shape;318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Exemplo do IMC apenas como demonstração de operação numérica.</a:t>
            </a:r>
            <a:endParaRPr/>
          </a:p>
        </p:txBody>
      </p:sp>
      <p:sp>
        <p:nvSpPr>
          <p:cNvPr id="319" name="Google Shape;319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8" name="Google Shape;328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Os seis operadores aritméticos.</a:t>
            </a:r>
            <a:endParaRPr/>
          </a:p>
        </p:txBody>
      </p:sp>
      <p:sp>
        <p:nvSpPr>
          <p:cNvPr id="329" name="Google Shape;329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6" name="Google Shape;346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Novas variáveis a partir de variáveis existentes.</a:t>
            </a:r>
            <a:endParaRPr/>
          </a:p>
        </p:txBody>
      </p:sp>
      <p:sp>
        <p:nvSpPr>
          <p:cNvPr id="347" name="Google Shape;347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6" name="Google Shape;356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Uma comparação produz um booleano.</a:t>
            </a:r>
            <a:endParaRPr/>
          </a:p>
        </p:txBody>
      </p:sp>
      <p:sp>
        <p:nvSpPr>
          <p:cNvPr id="357" name="Google Shape;357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5" name="Google Shape;365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Os seis operadores de comparação.</a:t>
            </a:r>
            <a:endParaRPr/>
          </a:p>
        </p:txBody>
      </p:sp>
      <p:sp>
        <p:nvSpPr>
          <p:cNvPr id="366" name="Google Shape;366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4" name="Google Shape;384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Diferença central para iniciantes.</a:t>
            </a:r>
            <a:endParaRPr/>
          </a:p>
        </p:txBody>
      </p:sp>
      <p:sp>
        <p:nvSpPr>
          <p:cNvPr id="385" name="Google Shape;385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5" name="Google Shape;395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Combinar condições com and, or e not.</a:t>
            </a:r>
            <a:endParaRPr/>
          </a:p>
        </p:txBody>
      </p:sp>
      <p:sp>
        <p:nvSpPr>
          <p:cNvPr id="396" name="Google Shape;396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4" name="Google Shape;404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Regra de cada operador lógico.</a:t>
            </a:r>
            <a:endParaRPr/>
          </a:p>
        </p:txBody>
      </p:sp>
      <p:sp>
        <p:nvSpPr>
          <p:cNvPr id="405" name="Google Shape;405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7" name="Google Shape;417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Início da postura responsável no uso de dados em saúde.</a:t>
            </a:r>
            <a:endParaRPr/>
          </a:p>
        </p:txBody>
      </p:sp>
      <p:sp>
        <p:nvSpPr>
          <p:cNvPr id="418" name="Google Shape;418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5" name="Google Shape;425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2" name="Google Shape;432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Categorias e descrições também são manipuláveis.</a:t>
            </a:r>
            <a:endParaRPr/>
          </a:p>
        </p:txBody>
      </p:sp>
      <p:sp>
        <p:nvSpPr>
          <p:cNvPr id="433" name="Google Shape;433;p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5" name="Google Shape;445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Listas quando há mais de um valor no mesmo contexto.</a:t>
            </a:r>
            <a:endParaRPr/>
          </a:p>
        </p:txBody>
      </p:sp>
      <p:sp>
        <p:nvSpPr>
          <p:cNvPr id="446" name="Google Shape;446;p3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5" name="Google Shape;455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 dicionário aproxima o código da ideia de registro individual.</a:t>
            </a:r>
            <a:endParaRPr/>
          </a:p>
        </p:txBody>
      </p:sp>
      <p:sp>
        <p:nvSpPr>
          <p:cNvPr id="456" name="Google Shape;456;p3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5" name="Google Shape;465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Acesso por chave e atualização de um atributo.</a:t>
            </a:r>
            <a:endParaRPr/>
          </a:p>
        </p:txBody>
      </p:sp>
      <p:sp>
        <p:nvSpPr>
          <p:cNvPr id="466" name="Google Shape;466;p3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9" name="Google Shape;479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3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6" name="Google Shape;486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Primeiro exemplo de condicional, explicado com calma.</a:t>
            </a:r>
            <a:endParaRPr/>
          </a:p>
        </p:txBody>
      </p:sp>
      <p:sp>
        <p:nvSpPr>
          <p:cNvPr id="487" name="Google Shape;487;p3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5" name="Google Shape;495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Cinco elementos da estrutura condicional.</a:t>
            </a:r>
            <a:endParaRPr/>
          </a:p>
        </p:txBody>
      </p:sp>
      <p:sp>
        <p:nvSpPr>
          <p:cNvPr id="496" name="Google Shape;496;p3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7" name="Google Shape;517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Três possibilidades avaliadas em sequência.</a:t>
            </a:r>
            <a:endParaRPr/>
          </a:p>
        </p:txBody>
      </p:sp>
      <p:sp>
        <p:nvSpPr>
          <p:cNvPr id="518" name="Google Shape;518;p3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6" name="Google Shape;526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Executar o incorreto e ler a mensagem de erro com a turma.</a:t>
            </a:r>
            <a:endParaRPr/>
          </a:p>
        </p:txBody>
      </p:sp>
      <p:sp>
        <p:nvSpPr>
          <p:cNvPr id="527" name="Google Shape;527;p3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0" name="Google Shape;540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Mostrar os três erros de forma controlada.</a:t>
            </a:r>
            <a:endParaRPr/>
          </a:p>
        </p:txBody>
      </p:sp>
      <p:sp>
        <p:nvSpPr>
          <p:cNvPr id="541" name="Google Shape;541;p4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9" name="Google Shape;559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" name="Google Shape;560;p4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6" name="Google Shape;566;p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Ler o código linha por linha com a turma.</a:t>
            </a:r>
            <a:endParaRPr/>
          </a:p>
        </p:txBody>
      </p:sp>
      <p:sp>
        <p:nvSpPr>
          <p:cNvPr id="567" name="Google Shape;567;p4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5" name="Google Shape;575;p4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sequência de cinco passos do exemplo.</a:t>
            </a:r>
            <a:endParaRPr/>
          </a:p>
        </p:txBody>
      </p:sp>
      <p:sp>
        <p:nvSpPr>
          <p:cNvPr id="576" name="Google Shape;576;p4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2" name="Google Shape;592;p4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Programação e lógica são a infraestrutura das análises mais sofisticadas.</a:t>
            </a:r>
            <a:endParaRPr/>
          </a:p>
        </p:txBody>
      </p:sp>
      <p:sp>
        <p:nvSpPr>
          <p:cNvPr id="593" name="Google Shape;593;p4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0" name="Google Shape;600;p4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Pedir as quatro alterações e reexecutar.</a:t>
            </a:r>
            <a:endParaRPr/>
          </a:p>
        </p:txBody>
      </p:sp>
      <p:sp>
        <p:nvSpPr>
          <p:cNvPr id="601" name="Google Shape;601;p4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1" name="Google Shape;611;p4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atividade integra os conceitos da aula.</a:t>
            </a:r>
            <a:endParaRPr/>
          </a:p>
        </p:txBody>
      </p:sp>
      <p:sp>
        <p:nvSpPr>
          <p:cNvPr id="612" name="Google Shape;612;p4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9" name="Google Shape;629;p4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Roteiro da atividade em seis passos.</a:t>
            </a:r>
            <a:endParaRPr/>
          </a:p>
        </p:txBody>
      </p:sp>
      <p:sp>
        <p:nvSpPr>
          <p:cNvPr id="630" name="Google Shape;630;p4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9" name="Google Shape;649;p4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 que deve ser entregue.</a:t>
            </a:r>
            <a:endParaRPr/>
          </a:p>
        </p:txBody>
      </p:sp>
      <p:sp>
        <p:nvSpPr>
          <p:cNvPr id="650" name="Google Shape;650;p4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1" name="Google Shape;671;p5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Mostrar como o conteúdo será reutilizado.</a:t>
            </a:r>
            <a:endParaRPr/>
          </a:p>
        </p:txBody>
      </p:sp>
      <p:sp>
        <p:nvSpPr>
          <p:cNvPr id="672" name="Google Shape;672;p5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p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6" name="Google Shape;686;p5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Sete ideias para levar da aula.</a:t>
            </a:r>
            <a:endParaRPr/>
          </a:p>
        </p:txBody>
      </p:sp>
      <p:sp>
        <p:nvSpPr>
          <p:cNvPr id="687" name="Google Shape;687;p5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4" name="Google Shape;714;p5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Frase de transição para a Aula 3.</a:t>
            </a:r>
            <a:endParaRPr/>
          </a:p>
        </p:txBody>
      </p:sp>
      <p:sp>
        <p:nvSpPr>
          <p:cNvPr id="715" name="Google Shape;715;p5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6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rgbClr val="E3EFF8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0" y="9563154"/>
            <a:ext cx="18288000" cy="723900"/>
          </a:xfrm>
          <a:prstGeom prst="rect">
            <a:avLst/>
          </a:prstGeom>
          <a:solidFill>
            <a:srgbClr val="0060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1282119" y="9784058"/>
            <a:ext cx="64797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Fund. de Programação, Dados e Estatística para IA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13;p2" title="einsteinlogo.png"/>
          <p:cNvPicPr preferRelativeResize="0"/>
          <p:nvPr/>
        </p:nvPicPr>
        <p:blipFill rotWithShape="1">
          <a:blip r:embed="rId2">
            <a:alphaModFix/>
          </a:blip>
          <a:srcRect b="21526" l="0" r="0" t="0"/>
          <a:stretch/>
        </p:blipFill>
        <p:spPr>
          <a:xfrm>
            <a:off x="784975" y="9657075"/>
            <a:ext cx="761848" cy="5360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 personalizado 1">
  <p:cSld name="CUSTOM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13.png"/><Relationship Id="rId5" Type="http://schemas.openxmlformats.org/officeDocument/2006/relationships/image" Target="../media/image3.png"/><Relationship Id="rId6" Type="http://schemas.openxmlformats.org/officeDocument/2006/relationships/image" Target="../media/image4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0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0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0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0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0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0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0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0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0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0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0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0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0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0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0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0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0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10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10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10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10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10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10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10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10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2D46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4632172" y="2880514"/>
            <a:ext cx="9023400" cy="18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97172"/>
              </a:lnSpc>
              <a:spcBef>
                <a:spcPts val="0"/>
              </a:spcBef>
              <a:spcAft>
                <a:spcPts val="0"/>
              </a:spcAft>
              <a:buClr>
                <a:srgbClr val="80B7D0"/>
              </a:buClr>
              <a:buSzPts val="4200"/>
              <a:buFont typeface="Arial"/>
              <a:buNone/>
            </a:pPr>
            <a:r>
              <a:rPr b="1" i="0" lang="en-US" sz="4200" u="none" cap="none" strike="noStrike">
                <a:solidFill>
                  <a:srgbClr val="80B7D0"/>
                </a:solidFill>
                <a:latin typeface="Arial"/>
                <a:ea typeface="Arial"/>
                <a:cs typeface="Arial"/>
                <a:sym typeface="Arial"/>
              </a:rPr>
              <a:t>Fundamentos de programação em Python: dados, operadores e estruturas básicas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4"/>
          <p:cNvSpPr/>
          <p:nvPr/>
        </p:nvSpPr>
        <p:spPr>
          <a:xfrm>
            <a:off x="5300500" y="5280422"/>
            <a:ext cx="2636044" cy="4809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3460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27/08 a 03/12/2026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4"/>
          <p:cNvSpPr/>
          <p:nvPr/>
        </p:nvSpPr>
        <p:spPr>
          <a:xfrm>
            <a:off x="7988065" y="5280422"/>
            <a:ext cx="159138" cy="4809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3460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|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4"/>
          <p:cNvSpPr/>
          <p:nvPr/>
        </p:nvSpPr>
        <p:spPr>
          <a:xfrm>
            <a:off x="8248846" y="5280422"/>
            <a:ext cx="1533376" cy="4809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3460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19h às 21h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4"/>
          <p:cNvSpPr/>
          <p:nvPr/>
        </p:nvSpPr>
        <p:spPr>
          <a:xfrm>
            <a:off x="9883865" y="5280422"/>
            <a:ext cx="159138" cy="4809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3460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|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4"/>
          <p:cNvSpPr/>
          <p:nvPr/>
        </p:nvSpPr>
        <p:spPr>
          <a:xfrm>
            <a:off x="10081684" y="5280422"/>
            <a:ext cx="2918519" cy="4809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3460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Ao vivo — Via Zoom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4"/>
          <p:cNvSpPr/>
          <p:nvPr/>
        </p:nvSpPr>
        <p:spPr>
          <a:xfrm>
            <a:off x="8686827" y="5932695"/>
            <a:ext cx="914346" cy="28548"/>
          </a:xfrm>
          <a:prstGeom prst="rect">
            <a:avLst/>
          </a:prstGeom>
          <a:solidFill>
            <a:srgbClr val="0088B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4"/>
          <p:cNvSpPr/>
          <p:nvPr/>
        </p:nvSpPr>
        <p:spPr>
          <a:xfrm>
            <a:off x="7198972" y="6246858"/>
            <a:ext cx="3889921" cy="39244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80B7D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80B7D0"/>
                </a:solidFill>
                <a:latin typeface="Arial"/>
                <a:ea typeface="Arial"/>
                <a:cs typeface="Arial"/>
                <a:sym typeface="Arial"/>
              </a:rPr>
              <a:t>DOCENTES RESPONSÁVEIS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8" name="Google Shape;2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89366" y="6848799"/>
            <a:ext cx="1257192" cy="1257192"/>
          </a:xfrm>
          <a:prstGeom prst="ellipse">
            <a:avLst/>
          </a:prstGeom>
          <a:noFill/>
          <a:ln>
            <a:noFill/>
          </a:ln>
        </p:spPr>
      </p:pic>
      <p:sp>
        <p:nvSpPr>
          <p:cNvPr id="29" name="Google Shape;29;p4"/>
          <p:cNvSpPr/>
          <p:nvPr/>
        </p:nvSpPr>
        <p:spPr>
          <a:xfrm>
            <a:off x="4474335" y="8258337"/>
            <a:ext cx="2687389" cy="4218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34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Prof. Felipe Fanchini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0" name="Google Shape;30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44507" y="6848799"/>
            <a:ext cx="1257192" cy="1257192"/>
          </a:xfrm>
          <a:prstGeom prst="ellipse">
            <a:avLst/>
          </a:prstGeom>
          <a:noFill/>
          <a:ln>
            <a:noFill/>
          </a:ln>
        </p:spPr>
      </p:pic>
      <p:sp>
        <p:nvSpPr>
          <p:cNvPr id="31" name="Google Shape;31;p4"/>
          <p:cNvSpPr/>
          <p:nvPr/>
        </p:nvSpPr>
        <p:spPr>
          <a:xfrm>
            <a:off x="7779185" y="8258337"/>
            <a:ext cx="2587972" cy="4218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34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Prof. Felipe Mahlow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2" name="Google Shape;32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770411" y="6848799"/>
            <a:ext cx="1257192" cy="1257192"/>
          </a:xfrm>
          <a:prstGeom prst="ellipse">
            <a:avLst/>
          </a:prstGeom>
          <a:noFill/>
          <a:ln>
            <a:noFill/>
          </a:ln>
        </p:spPr>
      </p:pic>
      <p:sp>
        <p:nvSpPr>
          <p:cNvPr id="33" name="Google Shape;33;p4"/>
          <p:cNvSpPr/>
          <p:nvPr/>
        </p:nvSpPr>
        <p:spPr>
          <a:xfrm>
            <a:off x="10977542" y="8258337"/>
            <a:ext cx="2843064" cy="4218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34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Prof. Giovanni Franco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5805072" y="1644950"/>
            <a:ext cx="7687500" cy="7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768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Mestrado e Doutorado Stricto Sensu em Ciências da Saúde</a:t>
            </a:r>
            <a:endParaRPr b="0" i="0" sz="22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" name="Google Shape;35;p4" title="einsteinlogo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795303" y="1472890"/>
            <a:ext cx="832541" cy="7465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6FB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5"/>
          <p:cNvSpPr/>
          <p:nvPr/>
        </p:nvSpPr>
        <p:spPr>
          <a:xfrm>
            <a:off x="4669427" y="1821125"/>
            <a:ext cx="8949000" cy="10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99677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4650"/>
              <a:buFont typeface="Arial"/>
              <a:buNone/>
            </a:pPr>
            <a:r>
              <a:rPr b="1" i="0" lang="en-US" sz="465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Roteiro da aula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5"/>
          <p:cNvSpPr/>
          <p:nvPr/>
        </p:nvSpPr>
        <p:spPr>
          <a:xfrm>
            <a:off x="6781475" y="3210358"/>
            <a:ext cx="318113" cy="39244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5"/>
          <p:cNvSpPr/>
          <p:nvPr/>
        </p:nvSpPr>
        <p:spPr>
          <a:xfrm>
            <a:off x="7101131" y="3086538"/>
            <a:ext cx="4575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36400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Do problema ao código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5"/>
          <p:cNvSpPr/>
          <p:nvPr/>
        </p:nvSpPr>
        <p:spPr>
          <a:xfrm>
            <a:off x="6548356" y="4086550"/>
            <a:ext cx="318113" cy="39244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5"/>
          <p:cNvSpPr/>
          <p:nvPr/>
        </p:nvSpPr>
        <p:spPr>
          <a:xfrm>
            <a:off x="6844693" y="3962730"/>
            <a:ext cx="5088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36400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Variáveis e tipos de dados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5"/>
          <p:cNvSpPr/>
          <p:nvPr/>
        </p:nvSpPr>
        <p:spPr>
          <a:xfrm>
            <a:off x="7810013" y="4962741"/>
            <a:ext cx="318113" cy="39244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5"/>
          <p:cNvSpPr/>
          <p:nvPr/>
        </p:nvSpPr>
        <p:spPr>
          <a:xfrm>
            <a:off x="8232522" y="4838921"/>
            <a:ext cx="23121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36400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Operadores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5"/>
          <p:cNvSpPr/>
          <p:nvPr/>
        </p:nvSpPr>
        <p:spPr>
          <a:xfrm>
            <a:off x="6483954" y="5838933"/>
            <a:ext cx="318113" cy="39244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5"/>
          <p:cNvSpPr/>
          <p:nvPr/>
        </p:nvSpPr>
        <p:spPr>
          <a:xfrm>
            <a:off x="6773851" y="5715113"/>
            <a:ext cx="52296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36400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Textos, listas e dicionários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5"/>
          <p:cNvSpPr/>
          <p:nvPr/>
        </p:nvSpPr>
        <p:spPr>
          <a:xfrm>
            <a:off x="6243394" y="6715125"/>
            <a:ext cx="318113" cy="39244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5"/>
          <p:cNvSpPr/>
          <p:nvPr/>
        </p:nvSpPr>
        <p:spPr>
          <a:xfrm>
            <a:off x="6509235" y="6591305"/>
            <a:ext cx="57588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36400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Condicionais e erros comuns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5"/>
          <p:cNvSpPr/>
          <p:nvPr/>
        </p:nvSpPr>
        <p:spPr>
          <a:xfrm>
            <a:off x="6311990" y="7591316"/>
            <a:ext cx="318113" cy="39244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5"/>
          <p:cNvSpPr/>
          <p:nvPr/>
        </p:nvSpPr>
        <p:spPr>
          <a:xfrm>
            <a:off x="6584691" y="7467496"/>
            <a:ext cx="56079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36400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Exemplo integrado e prática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6FB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6"/>
          <p:cNvSpPr/>
          <p:nvPr/>
        </p:nvSpPr>
        <p:spPr>
          <a:xfrm>
            <a:off x="8904711" y="2931508"/>
            <a:ext cx="478577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7200"/>
              <a:buFont typeface="Arial"/>
              <a:buNone/>
            </a:pPr>
            <a:r>
              <a:rPr b="0" i="0" lang="en-US" sz="72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6"/>
          <p:cNvSpPr/>
          <p:nvPr/>
        </p:nvSpPr>
        <p:spPr>
          <a:xfrm>
            <a:off x="4320706" y="3636277"/>
            <a:ext cx="9646587" cy="25741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0933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3900"/>
              <a:buFont typeface="Arial"/>
              <a:buNone/>
            </a:pPr>
            <a:r>
              <a:rPr i="1" lang="en-US" sz="3900" u="none" cap="none" strike="noStrike">
                <a:solidFill>
                  <a:srgbClr val="201E1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Programar significa representar informações e definir, de forma explícita, as operações que o computador deve executar sobre elas.</a:t>
            </a:r>
            <a:endParaRPr i="1" sz="39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preencoded.png" id="61" name="Google Shape;6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112393" y="9747836"/>
            <a:ext cx="604107" cy="3543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6FB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7"/>
          <p:cNvSpPr/>
          <p:nvPr/>
        </p:nvSpPr>
        <p:spPr>
          <a:xfrm>
            <a:off x="4339500" y="1827875"/>
            <a:ext cx="9609000" cy="10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99677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4650"/>
              <a:buFont typeface="Arial"/>
              <a:buNone/>
            </a:pPr>
            <a:r>
              <a:rPr b="1" i="0" lang="en-US" sz="465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O que será tratado hoje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7"/>
          <p:cNvSpPr/>
          <p:nvPr/>
        </p:nvSpPr>
        <p:spPr>
          <a:xfrm>
            <a:off x="2400462" y="3043941"/>
            <a:ext cx="4343346" cy="1621144"/>
          </a:xfrm>
          <a:prstGeom prst="roundRect">
            <a:avLst>
              <a:gd fmla="val 1175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bl" dir="5400000" dist="9525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7"/>
          <p:cNvSpPr/>
          <p:nvPr/>
        </p:nvSpPr>
        <p:spPr>
          <a:xfrm>
            <a:off x="2705154" y="3327932"/>
            <a:ext cx="318113" cy="39244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7"/>
          <p:cNvSpPr/>
          <p:nvPr/>
        </p:nvSpPr>
        <p:spPr>
          <a:xfrm>
            <a:off x="3137567" y="3310614"/>
            <a:ext cx="3400595" cy="76329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356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Algoritmo, instrução e sequência de execução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7"/>
          <p:cNvSpPr/>
          <p:nvPr/>
        </p:nvSpPr>
        <p:spPr>
          <a:xfrm>
            <a:off x="6972327" y="3043941"/>
            <a:ext cx="4343346" cy="1621144"/>
          </a:xfrm>
          <a:prstGeom prst="roundRect">
            <a:avLst>
              <a:gd fmla="val 1175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bl" dir="5400000" dist="9525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7277019" y="3327932"/>
            <a:ext cx="318113" cy="39244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7"/>
          <p:cNvSpPr/>
          <p:nvPr/>
        </p:nvSpPr>
        <p:spPr>
          <a:xfrm>
            <a:off x="7709432" y="3310614"/>
            <a:ext cx="3400595" cy="112589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356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Variáveis, atribuição e boas práticas de nomeação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7"/>
          <p:cNvSpPr/>
          <p:nvPr/>
        </p:nvSpPr>
        <p:spPr>
          <a:xfrm>
            <a:off x="11544192" y="3043941"/>
            <a:ext cx="4343346" cy="1621144"/>
          </a:xfrm>
          <a:prstGeom prst="roundRect">
            <a:avLst>
              <a:gd fmla="val 1175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bl" dir="5400000" dist="9525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7"/>
          <p:cNvSpPr/>
          <p:nvPr/>
        </p:nvSpPr>
        <p:spPr>
          <a:xfrm>
            <a:off x="11848883" y="3327932"/>
            <a:ext cx="318113" cy="39244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7"/>
          <p:cNvSpPr/>
          <p:nvPr/>
        </p:nvSpPr>
        <p:spPr>
          <a:xfrm>
            <a:off x="12281297" y="3310614"/>
            <a:ext cx="3400595" cy="76329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356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Tipos básicos: int, float, str, bool e None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7"/>
          <p:cNvSpPr/>
          <p:nvPr/>
        </p:nvSpPr>
        <p:spPr>
          <a:xfrm>
            <a:off x="2400462" y="4893604"/>
            <a:ext cx="4343346" cy="1258545"/>
          </a:xfrm>
          <a:prstGeom prst="roundRect">
            <a:avLst>
              <a:gd fmla="val 151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bl" dir="5400000" dist="9525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7"/>
          <p:cNvSpPr/>
          <p:nvPr/>
        </p:nvSpPr>
        <p:spPr>
          <a:xfrm>
            <a:off x="2705154" y="5177595"/>
            <a:ext cx="318113" cy="39244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7"/>
          <p:cNvSpPr/>
          <p:nvPr/>
        </p:nvSpPr>
        <p:spPr>
          <a:xfrm>
            <a:off x="3137567" y="5160277"/>
            <a:ext cx="3400595" cy="76329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356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Operadores aritméticos, de comparação e lógicos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7"/>
          <p:cNvSpPr/>
          <p:nvPr/>
        </p:nvSpPr>
        <p:spPr>
          <a:xfrm>
            <a:off x="6972327" y="4893604"/>
            <a:ext cx="4343346" cy="1258545"/>
          </a:xfrm>
          <a:prstGeom prst="roundRect">
            <a:avLst>
              <a:gd fmla="val 151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bl" dir="5400000" dist="9525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7"/>
          <p:cNvSpPr/>
          <p:nvPr/>
        </p:nvSpPr>
        <p:spPr>
          <a:xfrm>
            <a:off x="7277019" y="5177595"/>
            <a:ext cx="318113" cy="39244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7"/>
          <p:cNvSpPr/>
          <p:nvPr/>
        </p:nvSpPr>
        <p:spPr>
          <a:xfrm>
            <a:off x="7709432" y="5160277"/>
            <a:ext cx="3400595" cy="76329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356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Textos, listas e dicionários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7"/>
          <p:cNvSpPr/>
          <p:nvPr/>
        </p:nvSpPr>
        <p:spPr>
          <a:xfrm>
            <a:off x="11544192" y="4893604"/>
            <a:ext cx="4343346" cy="1258545"/>
          </a:xfrm>
          <a:prstGeom prst="roundRect">
            <a:avLst>
              <a:gd fmla="val 151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bl" dir="5400000" dist="9525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7"/>
          <p:cNvSpPr/>
          <p:nvPr/>
        </p:nvSpPr>
        <p:spPr>
          <a:xfrm>
            <a:off x="11848883" y="5177595"/>
            <a:ext cx="318113" cy="39244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7"/>
          <p:cNvSpPr/>
          <p:nvPr/>
        </p:nvSpPr>
        <p:spPr>
          <a:xfrm>
            <a:off x="12281297" y="5160277"/>
            <a:ext cx="3400595" cy="76329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356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Condicionais com if, elif e else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7"/>
          <p:cNvSpPr/>
          <p:nvPr/>
        </p:nvSpPr>
        <p:spPr>
          <a:xfrm>
            <a:off x="4686327" y="6380668"/>
            <a:ext cx="4343346" cy="1621144"/>
          </a:xfrm>
          <a:prstGeom prst="roundRect">
            <a:avLst>
              <a:gd fmla="val 1175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bl" dir="5400000" dist="9525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7"/>
          <p:cNvSpPr/>
          <p:nvPr/>
        </p:nvSpPr>
        <p:spPr>
          <a:xfrm>
            <a:off x="4991019" y="6664658"/>
            <a:ext cx="318113" cy="39244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7"/>
          <p:cNvSpPr/>
          <p:nvPr/>
        </p:nvSpPr>
        <p:spPr>
          <a:xfrm>
            <a:off x="5423432" y="6647340"/>
            <a:ext cx="3400595" cy="76329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356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Erros comuns e leitura de mensagens de erro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7"/>
          <p:cNvSpPr/>
          <p:nvPr/>
        </p:nvSpPr>
        <p:spPr>
          <a:xfrm>
            <a:off x="9258191" y="6380668"/>
            <a:ext cx="4343346" cy="1621144"/>
          </a:xfrm>
          <a:prstGeom prst="roundRect">
            <a:avLst>
              <a:gd fmla="val 1175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bl" dir="5400000" dist="9525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7"/>
          <p:cNvSpPr/>
          <p:nvPr/>
        </p:nvSpPr>
        <p:spPr>
          <a:xfrm>
            <a:off x="9562883" y="6664658"/>
            <a:ext cx="318113" cy="39244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08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7"/>
          <p:cNvSpPr/>
          <p:nvPr/>
        </p:nvSpPr>
        <p:spPr>
          <a:xfrm>
            <a:off x="9995297" y="6647340"/>
            <a:ext cx="3400595" cy="112589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356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Exemplo integrado do caso-guia e atividade prática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2" name="Google Shape;9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112393" y="9747836"/>
            <a:ext cx="604107" cy="3543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6FB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8"/>
          <p:cNvSpPr/>
          <p:nvPr/>
        </p:nvSpPr>
        <p:spPr>
          <a:xfrm>
            <a:off x="4992125" y="2807025"/>
            <a:ext cx="8303700" cy="10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99677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4650"/>
              <a:buFont typeface="Arial"/>
              <a:buNone/>
            </a:pPr>
            <a:r>
              <a:rPr b="1" i="0" lang="en-US" sz="465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Objetivo da aula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8"/>
          <p:cNvSpPr/>
          <p:nvPr/>
        </p:nvSpPr>
        <p:spPr>
          <a:xfrm>
            <a:off x="4992129" y="4023095"/>
            <a:ext cx="8303741" cy="159227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9680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Fazer a primeira transição entre a formulação de um problema de dados e sua representação computacional.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0" name="Google Shape;10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112393" y="9747836"/>
            <a:ext cx="604107" cy="3543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2D46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9"/>
          <p:cNvSpPr/>
          <p:nvPr/>
        </p:nvSpPr>
        <p:spPr>
          <a:xfrm>
            <a:off x="6599009" y="3516275"/>
            <a:ext cx="5089800" cy="16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871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0"/>
              <a:buFont typeface="Arial"/>
              <a:buNone/>
            </a:pPr>
            <a:r>
              <a:rPr b="1" i="0" lang="en-US" sz="12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2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"/>
          <p:cNvSpPr/>
          <p:nvPr/>
        </p:nvSpPr>
        <p:spPr>
          <a:xfrm>
            <a:off x="5899902" y="5287863"/>
            <a:ext cx="6488194" cy="10636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9967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50"/>
              <a:buFont typeface="Arial"/>
              <a:buNone/>
            </a:pPr>
            <a:r>
              <a:rPr b="1" i="0" lang="en-US" sz="46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Do problema ao código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6FB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0"/>
          <p:cNvSpPr/>
          <p:nvPr/>
        </p:nvSpPr>
        <p:spPr>
          <a:xfrm>
            <a:off x="4014052" y="2630600"/>
            <a:ext cx="10259700" cy="10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99677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4650"/>
              <a:buFont typeface="Arial"/>
              <a:buNone/>
            </a:pPr>
            <a:r>
              <a:rPr b="1" i="0" lang="en-US" sz="465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Retomando o fim da Aula 1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0"/>
          <p:cNvSpPr/>
          <p:nvPr/>
        </p:nvSpPr>
        <p:spPr>
          <a:xfrm>
            <a:off x="7687277" y="3846666"/>
            <a:ext cx="2913310" cy="39244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CÉLULA DE CÓDIGO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0"/>
          <p:cNvSpPr/>
          <p:nvPr/>
        </p:nvSpPr>
        <p:spPr>
          <a:xfrm>
            <a:off x="7059730" y="4334281"/>
            <a:ext cx="4168405" cy="1805826"/>
          </a:xfrm>
          <a:prstGeom prst="roundRect">
            <a:avLst>
              <a:gd fmla="val 1055" name="adj"/>
            </a:avLst>
          </a:prstGeom>
          <a:solidFill>
            <a:srgbClr val="002D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0"/>
          <p:cNvSpPr/>
          <p:nvPr/>
        </p:nvSpPr>
        <p:spPr>
          <a:xfrm>
            <a:off x="7440730" y="4620031"/>
            <a:ext cx="3531457" cy="127242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976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idade = 68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976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tempo_internacao = 7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976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readmissao_30d = False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0"/>
          <p:cNvSpPr/>
          <p:nvPr/>
        </p:nvSpPr>
        <p:spPr>
          <a:xfrm>
            <a:off x="4348578" y="6425857"/>
            <a:ext cx="9590844" cy="8111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4056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F1D"/>
                </a:solidFill>
                <a:latin typeface="Arial"/>
                <a:ea typeface="Arial"/>
                <a:cs typeface="Arial"/>
                <a:sym typeface="Arial"/>
              </a:rPr>
              <a:t>Caso-guia do curso: uma base de pacientes após internação, com interesse na readmissão em até 30 dias após a alta.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8" name="Google Shape;118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112393" y="9747836"/>
            <a:ext cx="604107" cy="3543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6FB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1"/>
          <p:cNvSpPr/>
          <p:nvPr/>
        </p:nvSpPr>
        <p:spPr>
          <a:xfrm>
            <a:off x="4782118" y="2390044"/>
            <a:ext cx="8723763" cy="10636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99677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4650"/>
              <a:buFont typeface="Arial"/>
              <a:buNone/>
            </a:pPr>
            <a:r>
              <a:rPr b="1" i="0" lang="en-US" sz="465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Quatro perguntas para a turma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1"/>
          <p:cNvSpPr/>
          <p:nvPr/>
        </p:nvSpPr>
        <p:spPr>
          <a:xfrm>
            <a:off x="2400462" y="3606105"/>
            <a:ext cx="4343346" cy="1258545"/>
          </a:xfrm>
          <a:prstGeom prst="roundRect">
            <a:avLst>
              <a:gd fmla="val 151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bl" dir="5400000" dist="9525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11"/>
          <p:cNvSpPr/>
          <p:nvPr/>
        </p:nvSpPr>
        <p:spPr>
          <a:xfrm>
            <a:off x="2705154" y="3890097"/>
            <a:ext cx="318113" cy="39244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1"/>
          <p:cNvSpPr/>
          <p:nvPr/>
        </p:nvSpPr>
        <p:spPr>
          <a:xfrm>
            <a:off x="3137567" y="3872778"/>
            <a:ext cx="3400595" cy="76329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356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O que significa cada linha?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1"/>
          <p:cNvSpPr/>
          <p:nvPr/>
        </p:nvSpPr>
        <p:spPr>
          <a:xfrm>
            <a:off x="6972327" y="3606105"/>
            <a:ext cx="4343346" cy="1258545"/>
          </a:xfrm>
          <a:prstGeom prst="roundRect">
            <a:avLst>
              <a:gd fmla="val 151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bl" dir="5400000" dist="9525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1"/>
          <p:cNvSpPr/>
          <p:nvPr/>
        </p:nvSpPr>
        <p:spPr>
          <a:xfrm>
            <a:off x="7277019" y="3890097"/>
            <a:ext cx="318113" cy="39244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1"/>
          <p:cNvSpPr/>
          <p:nvPr/>
        </p:nvSpPr>
        <p:spPr>
          <a:xfrm>
            <a:off x="7709432" y="3872778"/>
            <a:ext cx="3400595" cy="76329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356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Por que 68 aparece sem aspas?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1"/>
          <p:cNvSpPr/>
          <p:nvPr/>
        </p:nvSpPr>
        <p:spPr>
          <a:xfrm>
            <a:off x="11544192" y="3606105"/>
            <a:ext cx="4343346" cy="1258545"/>
          </a:xfrm>
          <a:prstGeom prst="roundRect">
            <a:avLst>
              <a:gd fmla="val 151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bl" dir="5400000" dist="9525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1"/>
          <p:cNvSpPr/>
          <p:nvPr/>
        </p:nvSpPr>
        <p:spPr>
          <a:xfrm>
            <a:off x="11848883" y="3890097"/>
            <a:ext cx="318113" cy="39244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1"/>
          <p:cNvSpPr/>
          <p:nvPr/>
        </p:nvSpPr>
        <p:spPr>
          <a:xfrm>
            <a:off x="12281297" y="3872778"/>
            <a:ext cx="3400595" cy="76329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356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Por que False não é escrito como texto?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1"/>
          <p:cNvSpPr/>
          <p:nvPr/>
        </p:nvSpPr>
        <p:spPr>
          <a:xfrm>
            <a:off x="6439125" y="5231852"/>
            <a:ext cx="5409900" cy="1851000"/>
          </a:xfrm>
          <a:prstGeom prst="roundRect">
            <a:avLst>
              <a:gd fmla="val 812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bl" dir="5400000" dist="9525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1"/>
          <p:cNvSpPr/>
          <p:nvPr/>
        </p:nvSpPr>
        <p:spPr>
          <a:xfrm>
            <a:off x="6743794" y="5550506"/>
            <a:ext cx="3180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1"/>
          <p:cNvSpPr/>
          <p:nvPr/>
        </p:nvSpPr>
        <p:spPr>
          <a:xfrm>
            <a:off x="7176198" y="5533196"/>
            <a:ext cx="4343400" cy="18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356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Como o computador sabe que idade e readmissao_30d representam coisas diferentes?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7" name="Google Shape;137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112393" y="9747836"/>
            <a:ext cx="604107" cy="3543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6FB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2"/>
          <p:cNvSpPr/>
          <p:nvPr/>
        </p:nvSpPr>
        <p:spPr>
          <a:xfrm>
            <a:off x="8904711" y="3248512"/>
            <a:ext cx="478577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7200"/>
              <a:buFont typeface="Arial"/>
              <a:buNone/>
            </a:pPr>
            <a:r>
              <a:rPr b="0" i="0" lang="en-US" sz="72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2"/>
          <p:cNvSpPr/>
          <p:nvPr/>
        </p:nvSpPr>
        <p:spPr>
          <a:xfrm>
            <a:off x="4320706" y="3953281"/>
            <a:ext cx="9646587" cy="194012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0933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3900"/>
              <a:buFont typeface="Arial"/>
              <a:buNone/>
            </a:pPr>
            <a:r>
              <a:rPr i="1" lang="en-US" sz="3900" u="none" cap="none" strike="noStrike">
                <a:solidFill>
                  <a:srgbClr val="201E1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 computador não interpreta intenção. Ele executa exatamente as instruções fornecidas.</a:t>
            </a:r>
            <a:endParaRPr i="0" sz="39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preencoded.png" id="145" name="Google Shape;145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112393" y="9747836"/>
            <a:ext cx="604107" cy="3543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6FB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3"/>
          <p:cNvSpPr/>
          <p:nvPr/>
        </p:nvSpPr>
        <p:spPr>
          <a:xfrm>
            <a:off x="4585549" y="1902825"/>
            <a:ext cx="9116700" cy="1737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99677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4650"/>
              <a:buFont typeface="Arial"/>
              <a:buNone/>
            </a:pPr>
            <a:r>
              <a:rPr b="1" i="0" lang="en-US" sz="465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Um programa é uma sequência de instruções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3"/>
          <p:cNvSpPr/>
          <p:nvPr/>
        </p:nvSpPr>
        <p:spPr>
          <a:xfrm>
            <a:off x="3828942" y="3792141"/>
            <a:ext cx="3238500" cy="1052891"/>
          </a:xfrm>
          <a:prstGeom prst="roundRect">
            <a:avLst>
              <a:gd fmla="val 19902" name="adj"/>
            </a:avLst>
          </a:prstGeom>
          <a:solidFill>
            <a:srgbClr val="E3EF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3"/>
          <p:cNvSpPr/>
          <p:nvPr/>
        </p:nvSpPr>
        <p:spPr>
          <a:xfrm>
            <a:off x="4028014" y="3982641"/>
            <a:ext cx="2840355" cy="709991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7800"/>
              </a:lnSpc>
              <a:spcBef>
                <a:spcPts val="0"/>
              </a:spcBef>
              <a:spcAft>
                <a:spcPts val="0"/>
              </a:spcAft>
              <a:buClr>
                <a:srgbClr val="002D46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02D46"/>
                </a:solidFill>
                <a:latin typeface="Arial"/>
                <a:ea typeface="Arial"/>
                <a:cs typeface="Arial"/>
                <a:sym typeface="Arial"/>
              </a:rPr>
              <a:t>Receber a idade do paciente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3"/>
          <p:cNvSpPr/>
          <p:nvPr/>
        </p:nvSpPr>
        <p:spPr>
          <a:xfrm>
            <a:off x="7524615" y="3792141"/>
            <a:ext cx="3238500" cy="1052891"/>
          </a:xfrm>
          <a:prstGeom prst="roundRect">
            <a:avLst>
              <a:gd fmla="val 19902" name="adj"/>
            </a:avLst>
          </a:prstGeom>
          <a:solidFill>
            <a:srgbClr val="E3EF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3"/>
          <p:cNvSpPr/>
          <p:nvPr/>
        </p:nvSpPr>
        <p:spPr>
          <a:xfrm>
            <a:off x="7723687" y="3982641"/>
            <a:ext cx="2840355" cy="709991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7800"/>
              </a:lnSpc>
              <a:spcBef>
                <a:spcPts val="0"/>
              </a:spcBef>
              <a:spcAft>
                <a:spcPts val="0"/>
              </a:spcAft>
              <a:buClr>
                <a:srgbClr val="002D46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02D46"/>
                </a:solidFill>
                <a:latin typeface="Arial"/>
                <a:ea typeface="Arial"/>
                <a:cs typeface="Arial"/>
                <a:sym typeface="Arial"/>
              </a:rPr>
              <a:t>Verificar se é maior ou igual a 65 anos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3"/>
          <p:cNvSpPr/>
          <p:nvPr/>
        </p:nvSpPr>
        <p:spPr>
          <a:xfrm>
            <a:off x="11220287" y="3792141"/>
            <a:ext cx="3238500" cy="1052891"/>
          </a:xfrm>
          <a:prstGeom prst="roundRect">
            <a:avLst>
              <a:gd fmla="val 19902" name="adj"/>
            </a:avLst>
          </a:prstGeom>
          <a:solidFill>
            <a:srgbClr val="E3EF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3"/>
          <p:cNvSpPr/>
          <p:nvPr/>
        </p:nvSpPr>
        <p:spPr>
          <a:xfrm>
            <a:off x="11419360" y="3982641"/>
            <a:ext cx="2840355" cy="709991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7800"/>
              </a:lnSpc>
              <a:spcBef>
                <a:spcPts val="0"/>
              </a:spcBef>
              <a:spcAft>
                <a:spcPts val="0"/>
              </a:spcAft>
              <a:buClr>
                <a:srgbClr val="002D46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02D46"/>
                </a:solidFill>
                <a:latin typeface="Arial"/>
                <a:ea typeface="Arial"/>
                <a:cs typeface="Arial"/>
                <a:sym typeface="Arial"/>
              </a:rPr>
              <a:t>Registrar o resultado da comparação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3"/>
          <p:cNvSpPr/>
          <p:nvPr/>
        </p:nvSpPr>
        <p:spPr>
          <a:xfrm>
            <a:off x="7524615" y="5092628"/>
            <a:ext cx="3238500" cy="1388837"/>
          </a:xfrm>
          <a:prstGeom prst="roundRect">
            <a:avLst>
              <a:gd fmla="val 15088" name="adj"/>
            </a:avLst>
          </a:prstGeom>
          <a:solidFill>
            <a:srgbClr val="E3EF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3"/>
          <p:cNvSpPr/>
          <p:nvPr/>
        </p:nvSpPr>
        <p:spPr>
          <a:xfrm>
            <a:off x="7723687" y="5283128"/>
            <a:ext cx="2840355" cy="1045937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7800"/>
              </a:lnSpc>
              <a:spcBef>
                <a:spcPts val="0"/>
              </a:spcBef>
              <a:spcAft>
                <a:spcPts val="0"/>
              </a:spcAft>
              <a:buClr>
                <a:srgbClr val="002D46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02D46"/>
                </a:solidFill>
                <a:latin typeface="Arial"/>
                <a:ea typeface="Arial"/>
                <a:cs typeface="Arial"/>
                <a:sym typeface="Arial"/>
              </a:rPr>
              <a:t>Usar o resultado em uma decisão posterior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3"/>
          <p:cNvSpPr/>
          <p:nvPr/>
        </p:nvSpPr>
        <p:spPr>
          <a:xfrm>
            <a:off x="3433875" y="7110125"/>
            <a:ext cx="11420400" cy="11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4056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F1D"/>
                </a:solidFill>
                <a:latin typeface="Arial"/>
                <a:ea typeface="Arial"/>
                <a:cs typeface="Arial"/>
                <a:sym typeface="Arial"/>
              </a:rPr>
              <a:t>Algoritmo, aqui, é uma sequência finita e organizada de passos para resolver uma tarefa. Antes de existir um modelo de IA, já existe uma lógica de processamento dos dados.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61" name="Google Shape;161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982370" y="9747836"/>
            <a:ext cx="734129" cy="3543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6FB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4"/>
          <p:cNvSpPr/>
          <p:nvPr/>
        </p:nvSpPr>
        <p:spPr>
          <a:xfrm>
            <a:off x="4541725" y="2600700"/>
            <a:ext cx="9204600" cy="10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99677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4650"/>
              <a:buFont typeface="Arial"/>
              <a:buNone/>
            </a:pPr>
            <a:r>
              <a:rPr b="1" i="0" lang="en-US" sz="465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O notebook da Aula 2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4"/>
          <p:cNvSpPr/>
          <p:nvPr/>
        </p:nvSpPr>
        <p:spPr>
          <a:xfrm>
            <a:off x="3828942" y="4071740"/>
            <a:ext cx="3238500" cy="1053000"/>
          </a:xfrm>
          <a:prstGeom prst="roundRect">
            <a:avLst>
              <a:gd fmla="val 19902" name="adj"/>
            </a:avLst>
          </a:prstGeom>
          <a:solidFill>
            <a:srgbClr val="E3EF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4"/>
          <p:cNvSpPr/>
          <p:nvPr/>
        </p:nvSpPr>
        <p:spPr>
          <a:xfrm>
            <a:off x="4028014" y="4262240"/>
            <a:ext cx="2840400" cy="71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7800"/>
              </a:lnSpc>
              <a:spcBef>
                <a:spcPts val="0"/>
              </a:spcBef>
              <a:spcAft>
                <a:spcPts val="0"/>
              </a:spcAft>
              <a:buClr>
                <a:srgbClr val="002D46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02D46"/>
                </a:solidFill>
                <a:latin typeface="Arial"/>
                <a:ea typeface="Arial"/>
                <a:cs typeface="Arial"/>
                <a:sym typeface="Arial"/>
              </a:rPr>
              <a:t>Acessar o Google Colab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4"/>
          <p:cNvSpPr/>
          <p:nvPr/>
        </p:nvSpPr>
        <p:spPr>
          <a:xfrm>
            <a:off x="7524615" y="4071740"/>
            <a:ext cx="3238500" cy="1053000"/>
          </a:xfrm>
          <a:prstGeom prst="roundRect">
            <a:avLst>
              <a:gd fmla="val 19902" name="adj"/>
            </a:avLst>
          </a:prstGeom>
          <a:solidFill>
            <a:srgbClr val="E3EF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4"/>
          <p:cNvSpPr/>
          <p:nvPr/>
        </p:nvSpPr>
        <p:spPr>
          <a:xfrm>
            <a:off x="7723687" y="4262240"/>
            <a:ext cx="2840400" cy="71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7800"/>
              </a:lnSpc>
              <a:spcBef>
                <a:spcPts val="0"/>
              </a:spcBef>
              <a:spcAft>
                <a:spcPts val="0"/>
              </a:spcAft>
              <a:buClr>
                <a:srgbClr val="002D46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02D46"/>
                </a:solidFill>
                <a:latin typeface="Arial"/>
                <a:ea typeface="Arial"/>
                <a:cs typeface="Arial"/>
                <a:sym typeface="Arial"/>
              </a:rPr>
              <a:t>Criar um novo notebook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4"/>
          <p:cNvSpPr/>
          <p:nvPr/>
        </p:nvSpPr>
        <p:spPr>
          <a:xfrm>
            <a:off x="11220287" y="4071740"/>
            <a:ext cx="3238500" cy="1053000"/>
          </a:xfrm>
          <a:prstGeom prst="roundRect">
            <a:avLst>
              <a:gd fmla="val 19902" name="adj"/>
            </a:avLst>
          </a:prstGeom>
          <a:solidFill>
            <a:srgbClr val="E3EF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4"/>
          <p:cNvSpPr/>
          <p:nvPr/>
        </p:nvSpPr>
        <p:spPr>
          <a:xfrm>
            <a:off x="11419360" y="4262240"/>
            <a:ext cx="2840400" cy="71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7800"/>
              </a:lnSpc>
              <a:spcBef>
                <a:spcPts val="0"/>
              </a:spcBef>
              <a:spcAft>
                <a:spcPts val="0"/>
              </a:spcAft>
              <a:buClr>
                <a:srgbClr val="002D46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02D46"/>
                </a:solidFill>
                <a:latin typeface="Arial"/>
                <a:ea typeface="Arial"/>
                <a:cs typeface="Arial"/>
                <a:sym typeface="Arial"/>
              </a:rPr>
              <a:t>Renomear como </a:t>
            </a:r>
            <a:r>
              <a:rPr lang="en-US" sz="2100">
                <a:solidFill>
                  <a:srgbClr val="002D46"/>
                </a:solidFill>
              </a:rPr>
              <a:t>notebook_aula_02</a:t>
            </a:r>
            <a:endParaRPr sz="2100">
              <a:solidFill>
                <a:srgbClr val="002D46"/>
              </a:solidFill>
            </a:endParaRPr>
          </a:p>
        </p:txBody>
      </p:sp>
      <p:sp>
        <p:nvSpPr>
          <p:cNvPr id="174" name="Google Shape;174;p14"/>
          <p:cNvSpPr/>
          <p:nvPr/>
        </p:nvSpPr>
        <p:spPr>
          <a:xfrm>
            <a:off x="5676846" y="5372227"/>
            <a:ext cx="3238500" cy="1053000"/>
          </a:xfrm>
          <a:prstGeom prst="roundRect">
            <a:avLst>
              <a:gd fmla="val 19902" name="adj"/>
            </a:avLst>
          </a:prstGeom>
          <a:solidFill>
            <a:srgbClr val="E3EF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4"/>
          <p:cNvSpPr/>
          <p:nvPr/>
        </p:nvSpPr>
        <p:spPr>
          <a:xfrm>
            <a:off x="5875918" y="5562727"/>
            <a:ext cx="2840400" cy="71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7800"/>
              </a:lnSpc>
              <a:spcBef>
                <a:spcPts val="0"/>
              </a:spcBef>
              <a:spcAft>
                <a:spcPts val="0"/>
              </a:spcAft>
              <a:buClr>
                <a:srgbClr val="002D46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02D46"/>
                </a:solidFill>
                <a:latin typeface="Arial"/>
                <a:ea typeface="Arial"/>
                <a:cs typeface="Arial"/>
                <a:sym typeface="Arial"/>
              </a:rPr>
              <a:t>Criar uma célula de texto com o título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4"/>
          <p:cNvSpPr/>
          <p:nvPr/>
        </p:nvSpPr>
        <p:spPr>
          <a:xfrm>
            <a:off x="9372519" y="5372227"/>
            <a:ext cx="3238500" cy="1053000"/>
          </a:xfrm>
          <a:prstGeom prst="roundRect">
            <a:avLst>
              <a:gd fmla="val 19902" name="adj"/>
            </a:avLst>
          </a:prstGeom>
          <a:solidFill>
            <a:srgbClr val="E3EF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4"/>
          <p:cNvSpPr/>
          <p:nvPr/>
        </p:nvSpPr>
        <p:spPr>
          <a:xfrm>
            <a:off x="9571591" y="5562727"/>
            <a:ext cx="2840400" cy="71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7800"/>
              </a:lnSpc>
              <a:spcBef>
                <a:spcPts val="0"/>
              </a:spcBef>
              <a:spcAft>
                <a:spcPts val="0"/>
              </a:spcAft>
              <a:buClr>
                <a:srgbClr val="002D46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02D46"/>
                </a:solidFill>
                <a:latin typeface="Arial"/>
                <a:ea typeface="Arial"/>
                <a:cs typeface="Arial"/>
                <a:sym typeface="Arial"/>
              </a:rPr>
              <a:t>Criar uma célula de código por bloco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4"/>
          <p:cNvSpPr/>
          <p:nvPr/>
        </p:nvSpPr>
        <p:spPr>
          <a:xfrm>
            <a:off x="4348578" y="7071368"/>
            <a:ext cx="9590700" cy="8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4056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F1D"/>
                </a:solidFill>
                <a:latin typeface="Arial"/>
                <a:ea typeface="Arial"/>
                <a:cs typeface="Arial"/>
                <a:sym typeface="Arial"/>
              </a:rPr>
              <a:t>A organização do notebook já é parte da análise: títulos, pequenas explicações e nomes de variáveis com significado.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9" name="Google Shape;17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982370" y="9747836"/>
            <a:ext cx="734129" cy="3543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6FB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5"/>
          <p:cNvSpPr/>
          <p:nvPr/>
        </p:nvSpPr>
        <p:spPr>
          <a:xfrm>
            <a:off x="2862252" y="2030550"/>
            <a:ext cx="12563400" cy="1737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99677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4650"/>
              <a:buFont typeface="Arial"/>
              <a:buNone/>
            </a:pPr>
            <a:r>
              <a:rPr b="1" i="0" lang="en-US" sz="465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Organização sugerida em nove blocos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5"/>
          <p:cNvSpPr/>
          <p:nvPr/>
        </p:nvSpPr>
        <p:spPr>
          <a:xfrm>
            <a:off x="2400462" y="3919862"/>
            <a:ext cx="4343346" cy="1258545"/>
          </a:xfrm>
          <a:prstGeom prst="roundRect">
            <a:avLst>
              <a:gd fmla="val 151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bl" dir="5400000" dist="9525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5"/>
          <p:cNvSpPr/>
          <p:nvPr/>
        </p:nvSpPr>
        <p:spPr>
          <a:xfrm>
            <a:off x="2705154" y="4203853"/>
            <a:ext cx="318113" cy="39244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5"/>
          <p:cNvSpPr/>
          <p:nvPr/>
        </p:nvSpPr>
        <p:spPr>
          <a:xfrm>
            <a:off x="3137567" y="4186535"/>
            <a:ext cx="3561606" cy="40069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356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Variáveis e tipos de dados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5"/>
          <p:cNvSpPr/>
          <p:nvPr/>
        </p:nvSpPr>
        <p:spPr>
          <a:xfrm>
            <a:off x="6972327" y="3919862"/>
            <a:ext cx="4343346" cy="1258545"/>
          </a:xfrm>
          <a:prstGeom prst="roundRect">
            <a:avLst>
              <a:gd fmla="val 151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bl" dir="5400000" dist="9525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5"/>
          <p:cNvSpPr/>
          <p:nvPr/>
        </p:nvSpPr>
        <p:spPr>
          <a:xfrm>
            <a:off x="7277019" y="4203853"/>
            <a:ext cx="318113" cy="39244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5"/>
          <p:cNvSpPr/>
          <p:nvPr/>
        </p:nvSpPr>
        <p:spPr>
          <a:xfrm>
            <a:off x="7709432" y="4186535"/>
            <a:ext cx="3279130" cy="40069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356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Operadores aritméticos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5"/>
          <p:cNvSpPr/>
          <p:nvPr/>
        </p:nvSpPr>
        <p:spPr>
          <a:xfrm>
            <a:off x="11544192" y="3919862"/>
            <a:ext cx="4343346" cy="1258545"/>
          </a:xfrm>
          <a:prstGeom prst="roundRect">
            <a:avLst>
              <a:gd fmla="val 151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bl" dir="5400000" dist="9525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5"/>
          <p:cNvSpPr/>
          <p:nvPr/>
        </p:nvSpPr>
        <p:spPr>
          <a:xfrm>
            <a:off x="11848883" y="4203853"/>
            <a:ext cx="318113" cy="39244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5"/>
          <p:cNvSpPr/>
          <p:nvPr/>
        </p:nvSpPr>
        <p:spPr>
          <a:xfrm>
            <a:off x="12281297" y="4186535"/>
            <a:ext cx="3400595" cy="76329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356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Comparações e lógica booleana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5"/>
          <p:cNvSpPr/>
          <p:nvPr/>
        </p:nvSpPr>
        <p:spPr>
          <a:xfrm>
            <a:off x="2400462" y="5406926"/>
            <a:ext cx="4343346" cy="905010"/>
          </a:xfrm>
          <a:prstGeom prst="roundRect">
            <a:avLst>
              <a:gd fmla="val 2105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bl" dir="5400000" dist="9525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5"/>
          <p:cNvSpPr/>
          <p:nvPr/>
        </p:nvSpPr>
        <p:spPr>
          <a:xfrm>
            <a:off x="2705154" y="5690917"/>
            <a:ext cx="318113" cy="39244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5"/>
          <p:cNvSpPr/>
          <p:nvPr/>
        </p:nvSpPr>
        <p:spPr>
          <a:xfrm>
            <a:off x="3137567" y="5673598"/>
            <a:ext cx="898272" cy="40069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356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Textos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5"/>
          <p:cNvSpPr/>
          <p:nvPr/>
        </p:nvSpPr>
        <p:spPr>
          <a:xfrm>
            <a:off x="6972327" y="5406926"/>
            <a:ext cx="4343346" cy="905010"/>
          </a:xfrm>
          <a:prstGeom prst="roundRect">
            <a:avLst>
              <a:gd fmla="val 2105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bl" dir="5400000" dist="9525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5"/>
          <p:cNvSpPr/>
          <p:nvPr/>
        </p:nvSpPr>
        <p:spPr>
          <a:xfrm>
            <a:off x="7277019" y="5690917"/>
            <a:ext cx="318113" cy="39244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5"/>
          <p:cNvSpPr/>
          <p:nvPr/>
        </p:nvSpPr>
        <p:spPr>
          <a:xfrm>
            <a:off x="7709432" y="5673598"/>
            <a:ext cx="816958" cy="40069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356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Listas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5"/>
          <p:cNvSpPr/>
          <p:nvPr/>
        </p:nvSpPr>
        <p:spPr>
          <a:xfrm>
            <a:off x="11544192" y="5406926"/>
            <a:ext cx="4343346" cy="905010"/>
          </a:xfrm>
          <a:prstGeom prst="roundRect">
            <a:avLst>
              <a:gd fmla="val 2105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bl" dir="5400000" dist="9525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5"/>
          <p:cNvSpPr/>
          <p:nvPr/>
        </p:nvSpPr>
        <p:spPr>
          <a:xfrm>
            <a:off x="11848883" y="5690917"/>
            <a:ext cx="318113" cy="39244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5"/>
          <p:cNvSpPr/>
          <p:nvPr/>
        </p:nvSpPr>
        <p:spPr>
          <a:xfrm>
            <a:off x="12281297" y="5673598"/>
            <a:ext cx="1615678" cy="40069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356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Dicionários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5"/>
          <p:cNvSpPr/>
          <p:nvPr/>
        </p:nvSpPr>
        <p:spPr>
          <a:xfrm>
            <a:off x="2400462" y="6540455"/>
            <a:ext cx="4343346" cy="1258545"/>
          </a:xfrm>
          <a:prstGeom prst="roundRect">
            <a:avLst>
              <a:gd fmla="val 151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bl" dir="5400000" dist="9525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5"/>
          <p:cNvSpPr/>
          <p:nvPr/>
        </p:nvSpPr>
        <p:spPr>
          <a:xfrm>
            <a:off x="2705154" y="6824446"/>
            <a:ext cx="318113" cy="39244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5"/>
          <p:cNvSpPr/>
          <p:nvPr/>
        </p:nvSpPr>
        <p:spPr>
          <a:xfrm>
            <a:off x="3137567" y="6807128"/>
            <a:ext cx="3319016" cy="40069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356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Estruturas condicionais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5"/>
          <p:cNvSpPr/>
          <p:nvPr/>
        </p:nvSpPr>
        <p:spPr>
          <a:xfrm>
            <a:off x="6972327" y="6540455"/>
            <a:ext cx="4343346" cy="1258545"/>
          </a:xfrm>
          <a:prstGeom prst="roundRect">
            <a:avLst>
              <a:gd fmla="val 151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bl" dir="5400000" dist="9525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5"/>
          <p:cNvSpPr/>
          <p:nvPr/>
        </p:nvSpPr>
        <p:spPr>
          <a:xfrm>
            <a:off x="7277019" y="6824446"/>
            <a:ext cx="318113" cy="39244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08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5"/>
          <p:cNvSpPr/>
          <p:nvPr/>
        </p:nvSpPr>
        <p:spPr>
          <a:xfrm>
            <a:off x="7709432" y="6807128"/>
            <a:ext cx="3400595" cy="76329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356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Exemplo integrado do caso-guia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5"/>
          <p:cNvSpPr/>
          <p:nvPr/>
        </p:nvSpPr>
        <p:spPr>
          <a:xfrm>
            <a:off x="11544192" y="6540455"/>
            <a:ext cx="4343346" cy="1258545"/>
          </a:xfrm>
          <a:prstGeom prst="roundRect">
            <a:avLst>
              <a:gd fmla="val 151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bl" dir="5400000" dist="9525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5"/>
          <p:cNvSpPr/>
          <p:nvPr/>
        </p:nvSpPr>
        <p:spPr>
          <a:xfrm>
            <a:off x="11848883" y="6824446"/>
            <a:ext cx="318113" cy="39244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09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5"/>
          <p:cNvSpPr/>
          <p:nvPr/>
        </p:nvSpPr>
        <p:spPr>
          <a:xfrm>
            <a:off x="12281297" y="6807128"/>
            <a:ext cx="2387501" cy="40069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356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Atividade prática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13" name="Google Shape;21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982370" y="9747836"/>
            <a:ext cx="734129" cy="3543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2D46"/>
        </a:soli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6"/>
          <p:cNvSpPr/>
          <p:nvPr/>
        </p:nvSpPr>
        <p:spPr>
          <a:xfrm>
            <a:off x="7042707" y="3516275"/>
            <a:ext cx="4202400" cy="16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871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0"/>
              <a:buFont typeface="Arial"/>
              <a:buNone/>
            </a:pPr>
            <a:r>
              <a:rPr b="1" i="0" lang="en-US" sz="12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2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6"/>
          <p:cNvSpPr/>
          <p:nvPr/>
        </p:nvSpPr>
        <p:spPr>
          <a:xfrm>
            <a:off x="6527499" y="5287875"/>
            <a:ext cx="5232900" cy="10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9967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50"/>
              <a:buFont typeface="Arial"/>
              <a:buNone/>
            </a:pPr>
            <a:r>
              <a:rPr b="1" i="0" lang="en-US" sz="46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Variáveis e tipos de dados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6FB"/>
        </a:solid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7"/>
          <p:cNvSpPr/>
          <p:nvPr/>
        </p:nvSpPr>
        <p:spPr>
          <a:xfrm>
            <a:off x="4148741" y="2132030"/>
            <a:ext cx="9990381" cy="173690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99677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4650"/>
              <a:buFont typeface="Arial"/>
              <a:buNone/>
            </a:pPr>
            <a:r>
              <a:rPr b="1" i="0" lang="en-US" sz="465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Uma variável é um nome associado a um valor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7"/>
          <p:cNvSpPr/>
          <p:nvPr/>
        </p:nvSpPr>
        <p:spPr>
          <a:xfrm>
            <a:off x="7687277" y="4021336"/>
            <a:ext cx="2913310" cy="39244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CÉLULA DE CÓDIGO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7"/>
          <p:cNvSpPr/>
          <p:nvPr/>
        </p:nvSpPr>
        <p:spPr>
          <a:xfrm>
            <a:off x="7833906" y="4508951"/>
            <a:ext cx="2620051" cy="1394384"/>
          </a:xfrm>
          <a:prstGeom prst="roundRect">
            <a:avLst>
              <a:gd fmla="val 1366" name="adj"/>
            </a:avLst>
          </a:prstGeom>
          <a:solidFill>
            <a:srgbClr val="002D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7"/>
          <p:cNvSpPr/>
          <p:nvPr/>
        </p:nvSpPr>
        <p:spPr>
          <a:xfrm>
            <a:off x="8214906" y="4794701"/>
            <a:ext cx="1936653" cy="8609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976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idade = 68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976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print(idade)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7"/>
          <p:cNvSpPr/>
          <p:nvPr/>
        </p:nvSpPr>
        <p:spPr>
          <a:xfrm>
            <a:off x="8695134" y="6227104"/>
            <a:ext cx="897596" cy="39244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SAÍDA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7"/>
          <p:cNvSpPr/>
          <p:nvPr/>
        </p:nvSpPr>
        <p:spPr>
          <a:xfrm>
            <a:off x="8608083" y="6714719"/>
            <a:ext cx="1071698" cy="982942"/>
          </a:xfrm>
          <a:prstGeom prst="roundRect">
            <a:avLst>
              <a:gd fmla="val 1938" name="adj"/>
            </a:avLst>
          </a:prstGeom>
          <a:solidFill>
            <a:srgbClr val="E3EF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7"/>
          <p:cNvSpPr/>
          <p:nvPr/>
        </p:nvSpPr>
        <p:spPr>
          <a:xfrm>
            <a:off x="8989083" y="7000469"/>
            <a:ext cx="385898" cy="4495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9765"/>
              </a:lnSpc>
              <a:spcBef>
                <a:spcPts val="0"/>
              </a:spcBef>
              <a:spcAft>
                <a:spcPts val="0"/>
              </a:spcAft>
              <a:buClr>
                <a:srgbClr val="002D46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002D46"/>
                </a:solidFill>
                <a:latin typeface="Courier New"/>
                <a:ea typeface="Courier New"/>
                <a:cs typeface="Courier New"/>
                <a:sym typeface="Courier New"/>
              </a:rPr>
              <a:t>68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33" name="Google Shape;23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982370" y="9747836"/>
            <a:ext cx="734129" cy="3543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6FB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8"/>
          <p:cNvSpPr/>
          <p:nvPr/>
        </p:nvSpPr>
        <p:spPr>
          <a:xfrm>
            <a:off x="3600828" y="2933950"/>
            <a:ext cx="11086200" cy="10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99677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4650"/>
              <a:buFont typeface="Arial"/>
              <a:buNone/>
            </a:pPr>
            <a:r>
              <a:rPr b="1" i="0" lang="en-US" sz="465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O que há na linha idade = 68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8"/>
          <p:cNvSpPr/>
          <p:nvPr/>
        </p:nvSpPr>
        <p:spPr>
          <a:xfrm>
            <a:off x="2400462" y="4150005"/>
            <a:ext cx="4343346" cy="1258545"/>
          </a:xfrm>
          <a:prstGeom prst="roundRect">
            <a:avLst>
              <a:gd fmla="val 151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bl" dir="5400000" dist="9525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8"/>
          <p:cNvSpPr/>
          <p:nvPr/>
        </p:nvSpPr>
        <p:spPr>
          <a:xfrm>
            <a:off x="2705154" y="4433996"/>
            <a:ext cx="318113" cy="39244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8"/>
          <p:cNvSpPr/>
          <p:nvPr/>
        </p:nvSpPr>
        <p:spPr>
          <a:xfrm>
            <a:off x="3137567" y="4416678"/>
            <a:ext cx="3400595" cy="76329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356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idade é o nome escolhido para a informação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8"/>
          <p:cNvSpPr/>
          <p:nvPr/>
        </p:nvSpPr>
        <p:spPr>
          <a:xfrm>
            <a:off x="6972327" y="4150005"/>
            <a:ext cx="4343346" cy="1258545"/>
          </a:xfrm>
          <a:prstGeom prst="roundRect">
            <a:avLst>
              <a:gd fmla="val 151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bl" dir="5400000" dist="9525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8"/>
          <p:cNvSpPr/>
          <p:nvPr/>
        </p:nvSpPr>
        <p:spPr>
          <a:xfrm>
            <a:off x="7277019" y="4433996"/>
            <a:ext cx="318113" cy="39244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8"/>
          <p:cNvSpPr/>
          <p:nvPr/>
        </p:nvSpPr>
        <p:spPr>
          <a:xfrm>
            <a:off x="7709432" y="4416678"/>
            <a:ext cx="3400595" cy="76329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356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68 é o valor atribuído à variável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8"/>
          <p:cNvSpPr/>
          <p:nvPr/>
        </p:nvSpPr>
        <p:spPr>
          <a:xfrm>
            <a:off x="11544192" y="4150005"/>
            <a:ext cx="4343346" cy="1258545"/>
          </a:xfrm>
          <a:prstGeom prst="roundRect">
            <a:avLst>
              <a:gd fmla="val 151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bl" dir="5400000" dist="9525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8"/>
          <p:cNvSpPr/>
          <p:nvPr/>
        </p:nvSpPr>
        <p:spPr>
          <a:xfrm>
            <a:off x="11848883" y="4433996"/>
            <a:ext cx="318113" cy="39244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8"/>
          <p:cNvSpPr/>
          <p:nvPr/>
        </p:nvSpPr>
        <p:spPr>
          <a:xfrm>
            <a:off x="12281297" y="4416678"/>
            <a:ext cx="3400595" cy="76329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356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= significa atribuição, não igualdade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8"/>
          <p:cNvSpPr/>
          <p:nvPr/>
        </p:nvSpPr>
        <p:spPr>
          <a:xfrm>
            <a:off x="6972327" y="5637068"/>
            <a:ext cx="4343346" cy="1258545"/>
          </a:xfrm>
          <a:prstGeom prst="roundRect">
            <a:avLst>
              <a:gd fmla="val 151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bl" dir="5400000" dist="9525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8"/>
          <p:cNvSpPr/>
          <p:nvPr/>
        </p:nvSpPr>
        <p:spPr>
          <a:xfrm>
            <a:off x="7277019" y="5921059"/>
            <a:ext cx="318113" cy="39244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8"/>
          <p:cNvSpPr/>
          <p:nvPr/>
        </p:nvSpPr>
        <p:spPr>
          <a:xfrm>
            <a:off x="7709432" y="5903741"/>
            <a:ext cx="3400595" cy="76329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356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print() mostra o valor na saída do notebook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52" name="Google Shape;25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982370" y="9747836"/>
            <a:ext cx="734129" cy="3543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6FB"/>
        </a:solid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9"/>
          <p:cNvSpPr/>
          <p:nvPr/>
        </p:nvSpPr>
        <p:spPr>
          <a:xfrm>
            <a:off x="3266826" y="2462975"/>
            <a:ext cx="11754300" cy="10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99677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4650"/>
              <a:buFont typeface="Arial"/>
              <a:buNone/>
            </a:pPr>
            <a:r>
              <a:rPr b="1" i="0" lang="en-US" sz="465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O valor pode ser atualizado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9"/>
          <p:cNvSpPr/>
          <p:nvPr/>
        </p:nvSpPr>
        <p:spPr>
          <a:xfrm>
            <a:off x="7833906" y="3679031"/>
            <a:ext cx="2620051" cy="2628710"/>
          </a:xfrm>
          <a:prstGeom prst="roundRect">
            <a:avLst>
              <a:gd fmla="val 727" name="adj"/>
            </a:avLst>
          </a:prstGeom>
          <a:solidFill>
            <a:srgbClr val="002D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9"/>
          <p:cNvSpPr/>
          <p:nvPr/>
        </p:nvSpPr>
        <p:spPr>
          <a:xfrm>
            <a:off x="8214906" y="3964781"/>
            <a:ext cx="1936653" cy="209531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976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idade = 68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976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print(idade)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976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25"/>
              <a:buFont typeface="Calibri"/>
              <a:buNone/>
            </a:pPr>
            <a:r>
              <a:t/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976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idade = 69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976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print(idade)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9"/>
          <p:cNvSpPr/>
          <p:nvPr/>
        </p:nvSpPr>
        <p:spPr>
          <a:xfrm>
            <a:off x="4348578" y="6593492"/>
            <a:ext cx="9590844" cy="8111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4056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F1D"/>
                </a:solidFill>
                <a:latin typeface="Arial"/>
                <a:ea typeface="Arial"/>
                <a:cs typeface="Arial"/>
                <a:sym typeface="Arial"/>
              </a:rPr>
              <a:t>A segunda atribuição substitui o valor anterior. Essa ideia volta quando os dados forem transformados durante uma análise.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62" name="Google Shape;26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982370" y="9747836"/>
            <a:ext cx="734129" cy="3543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6FB"/>
        </a:solidFill>
      </p:bgPr>
    </p:bg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0"/>
          <p:cNvSpPr/>
          <p:nvPr/>
        </p:nvSpPr>
        <p:spPr>
          <a:xfrm>
            <a:off x="3850848" y="2752650"/>
            <a:ext cx="10586400" cy="10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99677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4650"/>
              <a:buFont typeface="Arial"/>
              <a:buNone/>
            </a:pPr>
            <a:r>
              <a:rPr b="1" i="0" lang="en-US" sz="465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Boas práticas de nomeação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0"/>
          <p:cNvSpPr/>
          <p:nvPr/>
        </p:nvSpPr>
        <p:spPr>
          <a:xfrm>
            <a:off x="2400462" y="3968705"/>
            <a:ext cx="4343346" cy="1621144"/>
          </a:xfrm>
          <a:prstGeom prst="roundRect">
            <a:avLst>
              <a:gd fmla="val 1175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bl" dir="5400000" dist="9525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20"/>
          <p:cNvSpPr/>
          <p:nvPr/>
        </p:nvSpPr>
        <p:spPr>
          <a:xfrm>
            <a:off x="2705154" y="4252696"/>
            <a:ext cx="318113" cy="39244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0"/>
          <p:cNvSpPr/>
          <p:nvPr/>
        </p:nvSpPr>
        <p:spPr>
          <a:xfrm>
            <a:off x="3137567" y="4235378"/>
            <a:ext cx="3400595" cy="112589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356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Nomes descritivos: tempo_internacao é melhor que x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0"/>
          <p:cNvSpPr/>
          <p:nvPr/>
        </p:nvSpPr>
        <p:spPr>
          <a:xfrm>
            <a:off x="6972327" y="3968705"/>
            <a:ext cx="4343346" cy="1621144"/>
          </a:xfrm>
          <a:prstGeom prst="roundRect">
            <a:avLst>
              <a:gd fmla="val 1175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bl" dir="5400000" dist="9525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20"/>
          <p:cNvSpPr/>
          <p:nvPr/>
        </p:nvSpPr>
        <p:spPr>
          <a:xfrm>
            <a:off x="7277019" y="4252696"/>
            <a:ext cx="318113" cy="39244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0"/>
          <p:cNvSpPr/>
          <p:nvPr/>
        </p:nvSpPr>
        <p:spPr>
          <a:xfrm>
            <a:off x="7709432" y="4235378"/>
            <a:ext cx="3319611" cy="40069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356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Sem espaços nos nomes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0"/>
          <p:cNvSpPr/>
          <p:nvPr/>
        </p:nvSpPr>
        <p:spPr>
          <a:xfrm>
            <a:off x="11544192" y="3968705"/>
            <a:ext cx="4343346" cy="1621144"/>
          </a:xfrm>
          <a:prstGeom prst="roundRect">
            <a:avLst>
              <a:gd fmla="val 1175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bl" dir="5400000" dist="9525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20"/>
          <p:cNvSpPr/>
          <p:nvPr/>
        </p:nvSpPr>
        <p:spPr>
          <a:xfrm>
            <a:off x="11848883" y="4252696"/>
            <a:ext cx="318113" cy="39244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0"/>
          <p:cNvSpPr/>
          <p:nvPr/>
        </p:nvSpPr>
        <p:spPr>
          <a:xfrm>
            <a:off x="12281297" y="4235378"/>
            <a:ext cx="3400595" cy="112589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356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Letras, números e underscore, nunca iniciando por número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0"/>
          <p:cNvSpPr/>
          <p:nvPr/>
        </p:nvSpPr>
        <p:spPr>
          <a:xfrm>
            <a:off x="6972327" y="5818368"/>
            <a:ext cx="4343346" cy="1258545"/>
          </a:xfrm>
          <a:prstGeom prst="roundRect">
            <a:avLst>
              <a:gd fmla="val 151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bl" dir="5400000" dist="9525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0"/>
          <p:cNvSpPr/>
          <p:nvPr/>
        </p:nvSpPr>
        <p:spPr>
          <a:xfrm>
            <a:off x="7277019" y="6102359"/>
            <a:ext cx="318113" cy="39244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0"/>
          <p:cNvSpPr/>
          <p:nvPr/>
        </p:nvSpPr>
        <p:spPr>
          <a:xfrm>
            <a:off x="7709432" y="6085041"/>
            <a:ext cx="3400595" cy="76329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356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Um padrão consistente ao longo do notebook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81" name="Google Shape;28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982370" y="9747836"/>
            <a:ext cx="734129" cy="3543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6FB"/>
        </a:solidFill>
      </p:bgPr>
    </p:bg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21"/>
          <p:cNvSpPr/>
          <p:nvPr/>
        </p:nvSpPr>
        <p:spPr>
          <a:xfrm>
            <a:off x="2994153" y="2184250"/>
            <a:ext cx="12299700" cy="10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99677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4650"/>
              <a:buFont typeface="Arial"/>
              <a:buNone/>
            </a:pPr>
            <a:r>
              <a:rPr b="1" i="0" lang="en-US" sz="465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Cinco tipos de dados básicos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1"/>
          <p:cNvSpPr/>
          <p:nvPr/>
        </p:nvSpPr>
        <p:spPr>
          <a:xfrm>
            <a:off x="2262242" y="3892692"/>
            <a:ext cx="4505400" cy="2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95381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INT — INTEIRO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21"/>
          <p:cNvSpPr/>
          <p:nvPr/>
        </p:nvSpPr>
        <p:spPr>
          <a:xfrm>
            <a:off x="2405593" y="4281945"/>
            <a:ext cx="4218600" cy="15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1489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Contagens e valores inteiros: idade em anos, internações anteriores. </a:t>
            </a:r>
            <a:r>
              <a:rPr b="0" i="0" lang="en-US" sz="1800" u="none" cap="none" strike="noStrike">
                <a:solidFill>
                  <a:srgbClr val="002D46"/>
                </a:solidFill>
                <a:highlight>
                  <a:srgbClr val="E3EFF8"/>
                </a:highlight>
                <a:latin typeface="Courier New"/>
                <a:ea typeface="Courier New"/>
                <a:cs typeface="Courier New"/>
                <a:sym typeface="Courier New"/>
              </a:rPr>
              <a:t>idade = 68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21"/>
          <p:cNvSpPr/>
          <p:nvPr/>
        </p:nvSpPr>
        <p:spPr>
          <a:xfrm>
            <a:off x="6891338" y="3892692"/>
            <a:ext cx="4505400" cy="2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95381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FLOAT — CONTÍNUO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21"/>
          <p:cNvSpPr/>
          <p:nvPr/>
        </p:nvSpPr>
        <p:spPr>
          <a:xfrm>
            <a:off x="7034689" y="4281945"/>
            <a:ext cx="4218600" cy="15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1489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Medidas com casas decimais: temperatura, peso, concentração. </a:t>
            </a:r>
            <a:r>
              <a:rPr b="0" i="0" lang="en-US" sz="1800" u="none" cap="none" strike="noStrike">
                <a:solidFill>
                  <a:srgbClr val="002D46"/>
                </a:solidFill>
                <a:highlight>
                  <a:srgbClr val="E3EFF8"/>
                </a:highlight>
                <a:latin typeface="Courier New"/>
                <a:ea typeface="Courier New"/>
                <a:cs typeface="Courier New"/>
                <a:sym typeface="Courier New"/>
              </a:rPr>
              <a:t>temperatura = 37.2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1"/>
          <p:cNvSpPr/>
          <p:nvPr/>
        </p:nvSpPr>
        <p:spPr>
          <a:xfrm>
            <a:off x="11520433" y="3892692"/>
            <a:ext cx="4505400" cy="2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95381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STR — TEXTO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1"/>
          <p:cNvSpPr/>
          <p:nvPr/>
        </p:nvSpPr>
        <p:spPr>
          <a:xfrm>
            <a:off x="11663784" y="4281945"/>
            <a:ext cx="4218600" cy="11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1489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Delimitado por aspas. Muitas categorias chegam como texto. </a:t>
            </a:r>
            <a:r>
              <a:rPr b="0" i="0" lang="en-US" sz="1800" u="none" cap="none" strike="noStrike">
                <a:solidFill>
                  <a:srgbClr val="002D46"/>
                </a:solidFill>
                <a:highlight>
                  <a:srgbClr val="E3EFF8"/>
                </a:highlight>
                <a:latin typeface="Courier New"/>
                <a:ea typeface="Courier New"/>
                <a:cs typeface="Courier New"/>
                <a:sym typeface="Courier New"/>
              </a:rPr>
              <a:t>unidade = "Cardiologia"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21"/>
          <p:cNvSpPr/>
          <p:nvPr/>
        </p:nvSpPr>
        <p:spPr>
          <a:xfrm>
            <a:off x="4576790" y="6234299"/>
            <a:ext cx="4505400" cy="2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95381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BOOL — LÓGICO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21"/>
          <p:cNvSpPr/>
          <p:nvPr/>
        </p:nvSpPr>
        <p:spPr>
          <a:xfrm>
            <a:off x="4720141" y="6623553"/>
            <a:ext cx="4218600" cy="15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1489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Duas possibilidades: True ou False. Comum em filtros e desfechos. </a:t>
            </a:r>
            <a:r>
              <a:rPr b="0" i="0" lang="en-US" sz="1800" u="none" cap="none" strike="noStrike">
                <a:solidFill>
                  <a:srgbClr val="002D46"/>
                </a:solidFill>
                <a:highlight>
                  <a:srgbClr val="E3EFF8"/>
                </a:highlight>
                <a:latin typeface="Courier New"/>
                <a:ea typeface="Courier New"/>
                <a:cs typeface="Courier New"/>
                <a:sym typeface="Courier New"/>
              </a:rPr>
              <a:t>readmissao_30d = False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21"/>
          <p:cNvSpPr/>
          <p:nvPr/>
        </p:nvSpPr>
        <p:spPr>
          <a:xfrm>
            <a:off x="9205885" y="6234299"/>
            <a:ext cx="4505400" cy="2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95381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NONE — AUSÊNCIA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21"/>
          <p:cNvSpPr/>
          <p:nvPr/>
        </p:nvSpPr>
        <p:spPr>
          <a:xfrm>
            <a:off x="9349236" y="6623553"/>
            <a:ext cx="4218600" cy="11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1489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Ausência de valor naquele momento. </a:t>
            </a:r>
            <a:r>
              <a:rPr b="0" i="0" lang="en-US" sz="1800" u="none" cap="none" strike="noStrike">
                <a:solidFill>
                  <a:srgbClr val="002D46"/>
                </a:solidFill>
                <a:highlight>
                  <a:srgbClr val="E3EFF8"/>
                </a:highlight>
                <a:latin typeface="Courier New"/>
                <a:ea typeface="Courier New"/>
                <a:cs typeface="Courier New"/>
                <a:sym typeface="Courier New"/>
              </a:rPr>
              <a:t>resultado_exame = None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98" name="Google Shape;29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982370" y="9747836"/>
            <a:ext cx="734129" cy="3543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6FB"/>
        </a:solidFill>
      </p:bgPr>
    </p:bg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2"/>
          <p:cNvSpPr/>
          <p:nvPr/>
        </p:nvSpPr>
        <p:spPr>
          <a:xfrm>
            <a:off x="2097450" y="2229125"/>
            <a:ext cx="14093100" cy="10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99677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4650"/>
              <a:buFont typeface="Arial"/>
              <a:buNone/>
            </a:pPr>
            <a:r>
              <a:rPr b="1" i="0" lang="en-US" sz="465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Inspecionando o tipo com type()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22"/>
          <p:cNvSpPr/>
          <p:nvPr/>
        </p:nvSpPr>
        <p:spPr>
          <a:xfrm>
            <a:off x="6672641" y="3884820"/>
            <a:ext cx="4942582" cy="2217268"/>
          </a:xfrm>
          <a:prstGeom prst="roundRect">
            <a:avLst>
              <a:gd fmla="val 859" name="adj"/>
            </a:avLst>
          </a:prstGeom>
          <a:solidFill>
            <a:srgbClr val="002D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22"/>
          <p:cNvSpPr/>
          <p:nvPr/>
        </p:nvSpPr>
        <p:spPr>
          <a:xfrm>
            <a:off x="7053641" y="4170570"/>
            <a:ext cx="4328859" cy="168386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976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print(type(idade))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976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print(type(temperatura))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976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print(type(unidade))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976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print(type(readmissao_30d))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22"/>
          <p:cNvSpPr/>
          <p:nvPr/>
        </p:nvSpPr>
        <p:spPr>
          <a:xfrm>
            <a:off x="4348578" y="7100013"/>
            <a:ext cx="9590700" cy="8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4056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F1D"/>
                </a:solidFill>
                <a:latin typeface="Arial"/>
                <a:ea typeface="Arial"/>
                <a:cs typeface="Arial"/>
                <a:sym typeface="Arial"/>
              </a:rPr>
              <a:t>Muitos erros aparecem quando uma coluna numérica foi lida como texto. O tema volta na Aula 4, ao inspecionar colunas com pandas.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08" name="Google Shape;30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982370" y="9747836"/>
            <a:ext cx="734129" cy="3543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2D46"/>
        </a:solidFill>
      </p:bgPr>
    </p:bg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23"/>
          <p:cNvSpPr/>
          <p:nvPr/>
        </p:nvSpPr>
        <p:spPr>
          <a:xfrm>
            <a:off x="6519859" y="3516275"/>
            <a:ext cx="5248200" cy="16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871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0"/>
              <a:buFont typeface="Arial"/>
              <a:buNone/>
            </a:pPr>
            <a:r>
              <a:rPr b="1" i="0" lang="en-US" sz="12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2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23"/>
          <p:cNvSpPr/>
          <p:nvPr/>
        </p:nvSpPr>
        <p:spPr>
          <a:xfrm>
            <a:off x="6563950" y="5287875"/>
            <a:ext cx="5160000" cy="10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9967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50"/>
              <a:buFont typeface="Arial"/>
              <a:buNone/>
            </a:pPr>
            <a:r>
              <a:rPr b="1" i="0" lang="en-US" sz="46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Operadores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6FB"/>
        </a:solidFill>
      </p:bgPr>
    </p:bg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24"/>
          <p:cNvSpPr/>
          <p:nvPr/>
        </p:nvSpPr>
        <p:spPr>
          <a:xfrm>
            <a:off x="2862255" y="2668750"/>
            <a:ext cx="12563400" cy="10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99677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4650"/>
              <a:buFont typeface="Arial"/>
              <a:buNone/>
            </a:pPr>
            <a:r>
              <a:rPr b="1" i="0" lang="en-US" sz="465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Operadores aritméticos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24"/>
          <p:cNvSpPr/>
          <p:nvPr/>
        </p:nvSpPr>
        <p:spPr>
          <a:xfrm>
            <a:off x="6363078" y="3884820"/>
            <a:ext cx="5561842" cy="2217268"/>
          </a:xfrm>
          <a:prstGeom prst="roundRect">
            <a:avLst>
              <a:gd fmla="val 859" name="adj"/>
            </a:avLst>
          </a:prstGeom>
          <a:solidFill>
            <a:srgbClr val="002D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24"/>
          <p:cNvSpPr/>
          <p:nvPr/>
        </p:nvSpPr>
        <p:spPr>
          <a:xfrm>
            <a:off x="6744078" y="4170570"/>
            <a:ext cx="4966697" cy="168386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976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peso_kg = 72.0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976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altura_m = 1.75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976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imc = peso_kg / (altura_m ** 2)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976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print(imc)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24"/>
          <p:cNvSpPr/>
          <p:nvPr/>
        </p:nvSpPr>
        <p:spPr>
          <a:xfrm>
            <a:off x="4348578" y="6757138"/>
            <a:ext cx="9590700" cy="8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4056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F1D"/>
                </a:solidFill>
                <a:latin typeface="Arial"/>
                <a:ea typeface="Arial"/>
                <a:cs typeface="Arial"/>
                <a:sym typeface="Arial"/>
              </a:rPr>
              <a:t>O IMC aqui é apenas demonstração de operação numérica — não é regra clínica nem conclusão sobre um paciente.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25" name="Google Shape;325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982370" y="9747836"/>
            <a:ext cx="734129" cy="3543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6FB"/>
        </a:solidFill>
      </p:bgPr>
    </p:bg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25"/>
          <p:cNvSpPr/>
          <p:nvPr/>
        </p:nvSpPr>
        <p:spPr>
          <a:xfrm>
            <a:off x="4348127" y="2006075"/>
            <a:ext cx="9591600" cy="10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99677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4650"/>
              <a:buFont typeface="Arial"/>
              <a:buNone/>
            </a:pPr>
            <a:r>
              <a:rPr b="1" i="0" lang="en-US" sz="465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Os seis operadores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25"/>
          <p:cNvSpPr/>
          <p:nvPr/>
        </p:nvSpPr>
        <p:spPr>
          <a:xfrm>
            <a:off x="4304704" y="4101026"/>
            <a:ext cx="420399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4500"/>
              <a:buFont typeface="Courier New"/>
              <a:buNone/>
            </a:pPr>
            <a:r>
              <a:rPr b="1" i="0" lang="en-US" sz="4500" u="none" cap="none" strike="noStrike">
                <a:solidFill>
                  <a:srgbClr val="007BBA"/>
                </a:solidFill>
                <a:latin typeface="Courier New"/>
                <a:ea typeface="Courier New"/>
                <a:cs typeface="Courier New"/>
                <a:sym typeface="Courier New"/>
              </a:rPr>
              <a:t>+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25"/>
          <p:cNvSpPr/>
          <p:nvPr/>
        </p:nvSpPr>
        <p:spPr>
          <a:xfrm>
            <a:off x="4065497" y="4843949"/>
            <a:ext cx="898814" cy="49797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3507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soma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25"/>
          <p:cNvSpPr/>
          <p:nvPr/>
        </p:nvSpPr>
        <p:spPr>
          <a:xfrm>
            <a:off x="8933800" y="4101026"/>
            <a:ext cx="420399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4500"/>
              <a:buFont typeface="Courier New"/>
              <a:buNone/>
            </a:pPr>
            <a:r>
              <a:rPr b="1" i="0" lang="en-US" sz="4500" u="none" cap="none" strike="noStrike">
                <a:solidFill>
                  <a:srgbClr val="007BBA"/>
                </a:solidFill>
                <a:latin typeface="Courier New"/>
                <a:ea typeface="Courier New"/>
                <a:cs typeface="Courier New"/>
                <a:sym typeface="Courier New"/>
              </a:rPr>
              <a:t>−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25"/>
          <p:cNvSpPr/>
          <p:nvPr/>
        </p:nvSpPr>
        <p:spPr>
          <a:xfrm>
            <a:off x="8308032" y="4843949"/>
            <a:ext cx="1671935" cy="49797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3507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subtração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25"/>
          <p:cNvSpPr/>
          <p:nvPr/>
        </p:nvSpPr>
        <p:spPr>
          <a:xfrm>
            <a:off x="13562895" y="4101026"/>
            <a:ext cx="420399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4500"/>
              <a:buFont typeface="Courier New"/>
              <a:buNone/>
            </a:pPr>
            <a:r>
              <a:rPr b="1" i="0" lang="en-US" sz="4500" u="none" cap="none" strike="noStrike">
                <a:solidFill>
                  <a:srgbClr val="007BBA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25"/>
          <p:cNvSpPr/>
          <p:nvPr/>
        </p:nvSpPr>
        <p:spPr>
          <a:xfrm>
            <a:off x="12606141" y="4843949"/>
            <a:ext cx="2333774" cy="49797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3507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multiplicação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25"/>
          <p:cNvSpPr/>
          <p:nvPr/>
        </p:nvSpPr>
        <p:spPr>
          <a:xfrm>
            <a:off x="4304704" y="6682699"/>
            <a:ext cx="4203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4500"/>
              <a:buFont typeface="Courier New"/>
              <a:buNone/>
            </a:pPr>
            <a:r>
              <a:rPr b="1" i="0" lang="en-US" sz="4500" u="none" cap="none" strike="noStrike">
                <a:solidFill>
                  <a:srgbClr val="007BBA"/>
                </a:solidFill>
                <a:latin typeface="Courier New"/>
                <a:ea typeface="Courier New"/>
                <a:cs typeface="Courier New"/>
                <a:sym typeface="Courier New"/>
              </a:rPr>
              <a:t>/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25"/>
          <p:cNvSpPr/>
          <p:nvPr/>
        </p:nvSpPr>
        <p:spPr>
          <a:xfrm>
            <a:off x="3924787" y="7425622"/>
            <a:ext cx="1180200" cy="4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3507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divisão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25"/>
          <p:cNvSpPr/>
          <p:nvPr/>
        </p:nvSpPr>
        <p:spPr>
          <a:xfrm>
            <a:off x="8761701" y="6682699"/>
            <a:ext cx="7644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4500"/>
              <a:buFont typeface="Courier New"/>
              <a:buNone/>
            </a:pPr>
            <a:r>
              <a:rPr b="1" i="0" lang="en-US" sz="4500" u="none" cap="none" strike="noStrike">
                <a:solidFill>
                  <a:srgbClr val="007BBA"/>
                </a:solidFill>
                <a:latin typeface="Courier New"/>
                <a:ea typeface="Courier New"/>
                <a:cs typeface="Courier New"/>
                <a:sym typeface="Courier New"/>
              </a:rPr>
              <a:t>**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25"/>
          <p:cNvSpPr/>
          <p:nvPr/>
        </p:nvSpPr>
        <p:spPr>
          <a:xfrm>
            <a:off x="8409837" y="7425622"/>
            <a:ext cx="1468200" cy="4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3507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potência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25"/>
          <p:cNvSpPr/>
          <p:nvPr/>
        </p:nvSpPr>
        <p:spPr>
          <a:xfrm>
            <a:off x="13562895" y="6682699"/>
            <a:ext cx="4203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4500"/>
              <a:buFont typeface="Courier New"/>
              <a:buNone/>
            </a:pPr>
            <a:r>
              <a:rPr b="1" i="0" lang="en-US" sz="4500" u="none" cap="none" strike="noStrike">
                <a:solidFill>
                  <a:srgbClr val="007BBA"/>
                </a:solidFill>
                <a:latin typeface="Courier New"/>
                <a:ea typeface="Courier New"/>
                <a:cs typeface="Courier New"/>
                <a:sym typeface="Courier New"/>
              </a:rPr>
              <a:t>%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25"/>
          <p:cNvSpPr/>
          <p:nvPr/>
        </p:nvSpPr>
        <p:spPr>
          <a:xfrm>
            <a:off x="11845473" y="7425622"/>
            <a:ext cx="3855300" cy="4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3507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resto da divisão inteira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6FB"/>
        </a:solidFill>
      </p:bgPr>
    </p:bg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26"/>
          <p:cNvSpPr/>
          <p:nvPr/>
        </p:nvSpPr>
        <p:spPr>
          <a:xfrm>
            <a:off x="2991250" y="2668750"/>
            <a:ext cx="12305400" cy="10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99677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4650"/>
              <a:buFont typeface="Arial"/>
              <a:buNone/>
            </a:pPr>
            <a:r>
              <a:rPr b="1" i="0" lang="en-US" sz="465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Variáveis derivadas de outras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26"/>
          <p:cNvSpPr/>
          <p:nvPr/>
        </p:nvSpPr>
        <p:spPr>
          <a:xfrm>
            <a:off x="5356595" y="3884820"/>
            <a:ext cx="7574675" cy="2217268"/>
          </a:xfrm>
          <a:prstGeom prst="roundRect">
            <a:avLst>
              <a:gd fmla="val 859" name="adj"/>
            </a:avLst>
          </a:prstGeom>
          <a:solidFill>
            <a:srgbClr val="002D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26"/>
          <p:cNvSpPr/>
          <p:nvPr/>
        </p:nvSpPr>
        <p:spPr>
          <a:xfrm>
            <a:off x="5737595" y="4170570"/>
            <a:ext cx="7039915" cy="168386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976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dias_internacao = 7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976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dias_uti = 2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976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dias_enfermaria = dias_internacao - dias_uti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976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print(dias_enfermaria)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26"/>
          <p:cNvSpPr/>
          <p:nvPr/>
        </p:nvSpPr>
        <p:spPr>
          <a:xfrm>
            <a:off x="5623976" y="6753125"/>
            <a:ext cx="7039800" cy="8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4056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F1D"/>
                </a:solidFill>
                <a:latin typeface="Arial"/>
                <a:ea typeface="Arial"/>
                <a:cs typeface="Arial"/>
                <a:sym typeface="Arial"/>
              </a:rPr>
              <a:t>Na Aula 6 a mesma ideia será aplicada de forma vetorizada a colunas inteiras de uma base.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53" name="Google Shape;353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982370" y="9747836"/>
            <a:ext cx="734129" cy="3543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6FB"/>
        </a:solidFill>
      </p:bgPr>
    </p:bg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27"/>
          <p:cNvSpPr/>
          <p:nvPr/>
        </p:nvSpPr>
        <p:spPr>
          <a:xfrm>
            <a:off x="3346526" y="2655775"/>
            <a:ext cx="11594700" cy="1737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99677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4650"/>
              <a:buFont typeface="Arial"/>
              <a:buNone/>
            </a:pPr>
            <a:r>
              <a:rPr b="1" i="0" lang="en-US" sz="465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Comparações produzem True ou False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27"/>
          <p:cNvSpPr/>
          <p:nvPr/>
        </p:nvSpPr>
        <p:spPr>
          <a:xfrm>
            <a:off x="7369428" y="4545075"/>
            <a:ext cx="3549010" cy="2628710"/>
          </a:xfrm>
          <a:prstGeom prst="roundRect">
            <a:avLst>
              <a:gd fmla="val 725" name="adj"/>
            </a:avLst>
          </a:prstGeom>
          <a:solidFill>
            <a:srgbClr val="002D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27"/>
          <p:cNvSpPr/>
          <p:nvPr/>
        </p:nvSpPr>
        <p:spPr>
          <a:xfrm>
            <a:off x="7750428" y="4830825"/>
            <a:ext cx="2893480" cy="209531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976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idade = 68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976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print(idade &gt;= 65)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976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print(idade &lt; 18)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976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print(idade == 68)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976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print(idade != 68)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62" name="Google Shape;362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982370" y="9747836"/>
            <a:ext cx="734129" cy="3543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6FB"/>
        </a:solidFill>
      </p:bgPr>
    </p:bg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28"/>
          <p:cNvSpPr/>
          <p:nvPr/>
        </p:nvSpPr>
        <p:spPr>
          <a:xfrm>
            <a:off x="2566629" y="2055700"/>
            <a:ext cx="13154700" cy="10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99677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4650"/>
              <a:buFont typeface="Arial"/>
              <a:buNone/>
            </a:pPr>
            <a:r>
              <a:rPr b="1" i="0" lang="en-US" sz="465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Operadores de comparação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28"/>
          <p:cNvSpPr/>
          <p:nvPr/>
        </p:nvSpPr>
        <p:spPr>
          <a:xfrm>
            <a:off x="4304704" y="4525526"/>
            <a:ext cx="4203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4500"/>
              <a:buFont typeface="Courier New"/>
              <a:buNone/>
            </a:pPr>
            <a:r>
              <a:rPr b="1" i="0" lang="en-US" sz="4500" u="none" cap="none" strike="noStrike">
                <a:solidFill>
                  <a:srgbClr val="007BBA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28"/>
          <p:cNvSpPr/>
          <p:nvPr/>
        </p:nvSpPr>
        <p:spPr>
          <a:xfrm>
            <a:off x="3651112" y="5268449"/>
            <a:ext cx="1727400" cy="4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3507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maior que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28"/>
          <p:cNvSpPr/>
          <p:nvPr/>
        </p:nvSpPr>
        <p:spPr>
          <a:xfrm>
            <a:off x="8933800" y="4525526"/>
            <a:ext cx="4203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4500"/>
              <a:buFont typeface="Courier New"/>
              <a:buNone/>
            </a:pPr>
            <a:r>
              <a:rPr b="1" i="0" lang="en-US" sz="4500" u="none" cap="none" strike="noStrike">
                <a:solidFill>
                  <a:srgbClr val="007BBA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28"/>
          <p:cNvSpPr/>
          <p:nvPr/>
        </p:nvSpPr>
        <p:spPr>
          <a:xfrm>
            <a:off x="8225730" y="5268449"/>
            <a:ext cx="1836600" cy="4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3507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menor que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28"/>
          <p:cNvSpPr/>
          <p:nvPr/>
        </p:nvSpPr>
        <p:spPr>
          <a:xfrm>
            <a:off x="13390797" y="4525526"/>
            <a:ext cx="7644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4500"/>
              <a:buFont typeface="Courier New"/>
              <a:buNone/>
            </a:pPr>
            <a:r>
              <a:rPr b="1" i="0" lang="en-US" sz="4500" u="none" cap="none" strike="noStrike">
                <a:solidFill>
                  <a:srgbClr val="007BBA"/>
                </a:solidFill>
                <a:latin typeface="Courier New"/>
                <a:ea typeface="Courier New"/>
                <a:cs typeface="Courier New"/>
                <a:sym typeface="Courier New"/>
              </a:rPr>
              <a:t>&gt;=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28"/>
          <p:cNvSpPr/>
          <p:nvPr/>
        </p:nvSpPr>
        <p:spPr>
          <a:xfrm>
            <a:off x="12540500" y="5268449"/>
            <a:ext cx="2465100" cy="4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3507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maior ou igual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28"/>
          <p:cNvSpPr/>
          <p:nvPr/>
        </p:nvSpPr>
        <p:spPr>
          <a:xfrm>
            <a:off x="4132605" y="6166424"/>
            <a:ext cx="7644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4500"/>
              <a:buFont typeface="Courier New"/>
              <a:buNone/>
            </a:pPr>
            <a:r>
              <a:rPr b="1" i="0" lang="en-US" sz="4500" u="none" cap="none" strike="noStrike">
                <a:solidFill>
                  <a:srgbClr val="007BBA"/>
                </a:solidFill>
                <a:latin typeface="Courier New"/>
                <a:ea typeface="Courier New"/>
                <a:cs typeface="Courier New"/>
                <a:sym typeface="Courier New"/>
              </a:rPr>
              <a:t>&lt;=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28"/>
          <p:cNvSpPr/>
          <p:nvPr/>
        </p:nvSpPr>
        <p:spPr>
          <a:xfrm>
            <a:off x="3227696" y="6909347"/>
            <a:ext cx="2574300" cy="4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3507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menor ou igual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28"/>
          <p:cNvSpPr/>
          <p:nvPr/>
        </p:nvSpPr>
        <p:spPr>
          <a:xfrm>
            <a:off x="8761701" y="6166424"/>
            <a:ext cx="7644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4500"/>
              <a:buFont typeface="Courier New"/>
              <a:buNone/>
            </a:pPr>
            <a:r>
              <a:rPr b="1" i="0" lang="en-US" sz="4500" u="none" cap="none" strike="noStrike">
                <a:solidFill>
                  <a:srgbClr val="007BBA"/>
                </a:solidFill>
                <a:latin typeface="Courier New"/>
                <a:ea typeface="Courier New"/>
                <a:cs typeface="Courier New"/>
                <a:sym typeface="Courier New"/>
              </a:rPr>
              <a:t>==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28"/>
          <p:cNvSpPr/>
          <p:nvPr/>
        </p:nvSpPr>
        <p:spPr>
          <a:xfrm>
            <a:off x="8311015" y="6909347"/>
            <a:ext cx="1665900" cy="4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3507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igualdade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28"/>
          <p:cNvSpPr/>
          <p:nvPr/>
        </p:nvSpPr>
        <p:spPr>
          <a:xfrm>
            <a:off x="13390797" y="6166424"/>
            <a:ext cx="7644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4500"/>
              <a:buFont typeface="Courier New"/>
              <a:buNone/>
            </a:pPr>
            <a:r>
              <a:rPr b="1" i="0" lang="en-US" sz="4500" u="none" cap="none" strike="noStrike">
                <a:solidFill>
                  <a:srgbClr val="007BBA"/>
                </a:solidFill>
                <a:latin typeface="Courier New"/>
                <a:ea typeface="Courier New"/>
                <a:cs typeface="Courier New"/>
                <a:sym typeface="Courier New"/>
              </a:rPr>
              <a:t>!=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28"/>
          <p:cNvSpPr/>
          <p:nvPr/>
        </p:nvSpPr>
        <p:spPr>
          <a:xfrm>
            <a:off x="12968680" y="6909347"/>
            <a:ext cx="1608900" cy="4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3507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diferença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81" name="Google Shape;381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982370" y="9747836"/>
            <a:ext cx="734129" cy="3543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6FB"/>
        </a:solidFill>
      </p:bgPr>
    </p:bg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29"/>
          <p:cNvSpPr/>
          <p:nvPr/>
        </p:nvSpPr>
        <p:spPr>
          <a:xfrm>
            <a:off x="3484755" y="2924025"/>
            <a:ext cx="11318400" cy="10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99677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4650"/>
              <a:buFont typeface="Arial"/>
              <a:buNone/>
            </a:pPr>
            <a:r>
              <a:rPr b="1" i="0" lang="en-US" sz="465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Um sinal e dois sinais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29"/>
          <p:cNvSpPr/>
          <p:nvPr/>
        </p:nvSpPr>
        <p:spPr>
          <a:xfrm>
            <a:off x="2656521" y="4949618"/>
            <a:ext cx="6517034" cy="2940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95381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= ATRIBUI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29"/>
          <p:cNvSpPr/>
          <p:nvPr/>
        </p:nvSpPr>
        <p:spPr>
          <a:xfrm>
            <a:off x="2863881" y="5338871"/>
            <a:ext cx="6102314" cy="79522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1489"/>
              </a:lnSpc>
              <a:spcBef>
                <a:spcPts val="0"/>
              </a:spcBef>
              <a:spcAft>
                <a:spcPts val="0"/>
              </a:spcAft>
              <a:buClr>
                <a:srgbClr val="002D46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2D46"/>
                </a:solidFill>
                <a:highlight>
                  <a:srgbClr val="E3EFF8"/>
                </a:highlight>
                <a:latin typeface="Courier New"/>
                <a:ea typeface="Courier New"/>
                <a:cs typeface="Courier New"/>
                <a:sym typeface="Courier New"/>
              </a:rPr>
              <a:t>idade = 68 </a:t>
            </a:r>
            <a:endParaRPr b="0" i="0" sz="1800" u="none" cap="none" strike="noStrike">
              <a:solidFill>
                <a:srgbClr val="002D46"/>
              </a:solidFill>
              <a:highlight>
                <a:srgbClr val="E3EF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ctr">
              <a:lnSpc>
                <a:spcPct val="121489"/>
              </a:lnSpc>
              <a:spcBef>
                <a:spcPts val="0"/>
              </a:spcBef>
              <a:spcAft>
                <a:spcPts val="0"/>
              </a:spcAft>
              <a:buClr>
                <a:srgbClr val="002D46"/>
              </a:buClr>
              <a:buSzPts val="1800"/>
              <a:buFont typeface="Courier New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Associa o valor 68 ao nome idade.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29"/>
          <p:cNvSpPr/>
          <p:nvPr/>
        </p:nvSpPr>
        <p:spPr>
          <a:xfrm>
            <a:off x="9114444" y="4949618"/>
            <a:ext cx="6517034" cy="2940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95381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== COMPARA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29"/>
          <p:cNvSpPr/>
          <p:nvPr/>
        </p:nvSpPr>
        <p:spPr>
          <a:xfrm>
            <a:off x="9321804" y="5338871"/>
            <a:ext cx="6102314" cy="79522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1489"/>
              </a:lnSpc>
              <a:spcBef>
                <a:spcPts val="0"/>
              </a:spcBef>
              <a:spcAft>
                <a:spcPts val="0"/>
              </a:spcAft>
              <a:buClr>
                <a:srgbClr val="002D46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2D46"/>
                </a:solidFill>
                <a:highlight>
                  <a:srgbClr val="E3EFF8"/>
                </a:highlight>
                <a:latin typeface="Courier New"/>
                <a:ea typeface="Courier New"/>
                <a:cs typeface="Courier New"/>
                <a:sym typeface="Courier New"/>
              </a:rPr>
              <a:t>idade == 68 </a:t>
            </a:r>
            <a:endParaRPr b="0" i="0" sz="1800" u="none" cap="none" strike="noStrike">
              <a:solidFill>
                <a:srgbClr val="002D46"/>
              </a:solidFill>
              <a:highlight>
                <a:srgbClr val="E3EFF8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ctr">
              <a:lnSpc>
                <a:spcPct val="121489"/>
              </a:lnSpc>
              <a:spcBef>
                <a:spcPts val="0"/>
              </a:spcBef>
              <a:spcAft>
                <a:spcPts val="0"/>
              </a:spcAft>
              <a:buClr>
                <a:srgbClr val="002D46"/>
              </a:buClr>
              <a:buSzPts val="1800"/>
              <a:buFont typeface="Courier New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Devolve True ou False.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92" name="Google Shape;392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982370" y="9747836"/>
            <a:ext cx="734129" cy="3543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6FB"/>
        </a:solidFill>
      </p:bgPr>
    </p:bg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30"/>
          <p:cNvSpPr/>
          <p:nvPr/>
        </p:nvSpPr>
        <p:spPr>
          <a:xfrm>
            <a:off x="2714705" y="2786750"/>
            <a:ext cx="12858600" cy="10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99677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4650"/>
              <a:buFont typeface="Arial"/>
              <a:buNone/>
            </a:pPr>
            <a:r>
              <a:rPr b="1" i="0" lang="en-US" sz="465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Combinando condições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30"/>
          <p:cNvSpPr/>
          <p:nvPr/>
        </p:nvSpPr>
        <p:spPr>
          <a:xfrm>
            <a:off x="5666293" y="4002800"/>
            <a:ext cx="6955414" cy="3040153"/>
          </a:xfrm>
          <a:prstGeom prst="roundRect">
            <a:avLst>
              <a:gd fmla="val 627" name="adj"/>
            </a:avLst>
          </a:prstGeom>
          <a:solidFill>
            <a:srgbClr val="002D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30"/>
          <p:cNvSpPr/>
          <p:nvPr/>
        </p:nvSpPr>
        <p:spPr>
          <a:xfrm>
            <a:off x="6047293" y="4288550"/>
            <a:ext cx="6402077" cy="250675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976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condicao_1 = idade &gt;= 65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976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condicao_2 = internacoes_anteriores &gt;= 2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976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25"/>
              <a:buFont typeface="Calibri"/>
              <a:buNone/>
            </a:pPr>
            <a:r>
              <a:t/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976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print(condicao_1 and condicao_2)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976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print(condicao_1 or condicao_2)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976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print(not condicao_1)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01" name="Google Shape;401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982370" y="9747836"/>
            <a:ext cx="734129" cy="3543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6FB"/>
        </a:solidFill>
      </p:bgPr>
    </p:bg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31"/>
          <p:cNvSpPr/>
          <p:nvPr/>
        </p:nvSpPr>
        <p:spPr>
          <a:xfrm>
            <a:off x="4926251" y="2568625"/>
            <a:ext cx="8435400" cy="10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99677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4650"/>
              <a:buFont typeface="Arial"/>
              <a:buNone/>
            </a:pPr>
            <a:r>
              <a:rPr b="1" i="0" lang="en-US" sz="465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and, or e not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31"/>
          <p:cNvSpPr/>
          <p:nvPr/>
        </p:nvSpPr>
        <p:spPr>
          <a:xfrm>
            <a:off x="2262242" y="4949618"/>
            <a:ext cx="4505325" cy="2940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95381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AND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31"/>
          <p:cNvSpPr/>
          <p:nvPr/>
        </p:nvSpPr>
        <p:spPr>
          <a:xfrm>
            <a:off x="2746526" y="5338875"/>
            <a:ext cx="3536700" cy="7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1489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As duas condições precisam ser verdadeiras.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31"/>
          <p:cNvSpPr/>
          <p:nvPr/>
        </p:nvSpPr>
        <p:spPr>
          <a:xfrm>
            <a:off x="6891338" y="4949618"/>
            <a:ext cx="4505325" cy="2940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95381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OR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31"/>
          <p:cNvSpPr/>
          <p:nvPr/>
        </p:nvSpPr>
        <p:spPr>
          <a:xfrm>
            <a:off x="7344975" y="5338875"/>
            <a:ext cx="3598200" cy="7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1489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Basta que uma das condições seja verdadeira.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31"/>
          <p:cNvSpPr/>
          <p:nvPr/>
        </p:nvSpPr>
        <p:spPr>
          <a:xfrm>
            <a:off x="11520433" y="4949618"/>
            <a:ext cx="4505325" cy="2940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95381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NOT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31"/>
          <p:cNvSpPr/>
          <p:nvPr/>
        </p:nvSpPr>
        <p:spPr>
          <a:xfrm>
            <a:off x="11520433" y="5338871"/>
            <a:ext cx="4505325" cy="41666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1489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Inverte o valor lógico.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14" name="Google Shape;414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982370" y="9747836"/>
            <a:ext cx="734129" cy="3543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6FB"/>
        </a:solidFill>
      </p:bgPr>
    </p:bg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32"/>
          <p:cNvSpPr/>
          <p:nvPr/>
        </p:nvSpPr>
        <p:spPr>
          <a:xfrm>
            <a:off x="8904711" y="2931508"/>
            <a:ext cx="478577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7200"/>
              <a:buFont typeface="Arial"/>
              <a:buNone/>
            </a:pPr>
            <a:r>
              <a:rPr b="0" i="0" lang="en-US" sz="72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32"/>
          <p:cNvSpPr/>
          <p:nvPr/>
        </p:nvSpPr>
        <p:spPr>
          <a:xfrm>
            <a:off x="4320706" y="3636277"/>
            <a:ext cx="9646587" cy="25741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0933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3900"/>
              <a:buFont typeface="Arial"/>
              <a:buNone/>
            </a:pPr>
            <a:r>
              <a:rPr i="1" lang="en-US" sz="3900" u="none" cap="none" strike="noStrike">
                <a:solidFill>
                  <a:srgbClr val="201E1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Essas regras são exemplos didáticos de lógica de programação. Não representam um sistema clínico de estratificação de risco.</a:t>
            </a:r>
            <a:endParaRPr i="0" sz="39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preencoded.png" id="422" name="Google Shape;422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982370" y="9747836"/>
            <a:ext cx="734129" cy="3543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2D46"/>
        </a:solidFill>
      </p:bgPr>
    </p:bg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33"/>
          <p:cNvSpPr/>
          <p:nvPr/>
        </p:nvSpPr>
        <p:spPr>
          <a:xfrm>
            <a:off x="5452528" y="3516275"/>
            <a:ext cx="7383000" cy="16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871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0"/>
              <a:buFont typeface="Arial"/>
              <a:buNone/>
            </a:pPr>
            <a:r>
              <a:rPr b="1" i="0" lang="en-US" sz="12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2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33"/>
          <p:cNvSpPr/>
          <p:nvPr/>
        </p:nvSpPr>
        <p:spPr>
          <a:xfrm>
            <a:off x="5452566" y="5287863"/>
            <a:ext cx="7382868" cy="10636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9967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50"/>
              <a:buFont typeface="Arial"/>
              <a:buNone/>
            </a:pPr>
            <a:r>
              <a:rPr b="1" i="0" lang="en-US" sz="46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Textos, listas e dicionários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6FB"/>
        </a:solidFill>
      </p:bgPr>
    </p:bg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34"/>
          <p:cNvSpPr/>
          <p:nvPr/>
        </p:nvSpPr>
        <p:spPr>
          <a:xfrm>
            <a:off x="3869225" y="2262875"/>
            <a:ext cx="10549500" cy="10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99677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4650"/>
              <a:buFont typeface="Arial"/>
              <a:buNone/>
            </a:pPr>
            <a:r>
              <a:rPr b="1" i="0" lang="en-US" sz="465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Trabalhando com textos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34"/>
          <p:cNvSpPr/>
          <p:nvPr/>
        </p:nvSpPr>
        <p:spPr>
          <a:xfrm>
            <a:off x="7252990" y="3478925"/>
            <a:ext cx="3782020" cy="39244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CONCATENAÇÃO SIMPLES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34"/>
          <p:cNvSpPr/>
          <p:nvPr/>
        </p:nvSpPr>
        <p:spPr>
          <a:xfrm>
            <a:off x="5898600" y="3966540"/>
            <a:ext cx="6490800" cy="1805826"/>
          </a:xfrm>
          <a:prstGeom prst="roundRect">
            <a:avLst>
              <a:gd fmla="val 1055" name="adj"/>
            </a:avLst>
          </a:prstGeom>
          <a:solidFill>
            <a:srgbClr val="002D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34"/>
          <p:cNvSpPr/>
          <p:nvPr/>
        </p:nvSpPr>
        <p:spPr>
          <a:xfrm>
            <a:off x="6279600" y="4252290"/>
            <a:ext cx="5923524" cy="127242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976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nome_servico = "Cardiologia"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976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mensagem = "Serviço: " + nome_servico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976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print(mensagem)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34"/>
          <p:cNvSpPr/>
          <p:nvPr/>
        </p:nvSpPr>
        <p:spPr>
          <a:xfrm>
            <a:off x="8444812" y="6096135"/>
            <a:ext cx="1398240" cy="39244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F-STRING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34"/>
          <p:cNvSpPr/>
          <p:nvPr/>
        </p:nvSpPr>
        <p:spPr>
          <a:xfrm>
            <a:off x="3808241" y="6583750"/>
            <a:ext cx="10671382" cy="982942"/>
          </a:xfrm>
          <a:prstGeom prst="roundRect">
            <a:avLst>
              <a:gd fmla="val 1938" name="adj"/>
            </a:avLst>
          </a:prstGeom>
          <a:solidFill>
            <a:srgbClr val="002D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34"/>
          <p:cNvSpPr/>
          <p:nvPr/>
        </p:nvSpPr>
        <p:spPr>
          <a:xfrm>
            <a:off x="4189241" y="6869500"/>
            <a:ext cx="10229524" cy="4495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976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print(f"Paciente com {idade} anos, atendido em {nome_servico}.")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42" name="Google Shape;442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982370" y="9747836"/>
            <a:ext cx="734129" cy="3543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6FB"/>
        </a:solidFill>
      </p:bgPr>
    </p:bg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35"/>
          <p:cNvSpPr/>
          <p:nvPr/>
        </p:nvSpPr>
        <p:spPr>
          <a:xfrm>
            <a:off x="3711826" y="2269775"/>
            <a:ext cx="10864200" cy="10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99677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4650"/>
              <a:buFont typeface="Arial"/>
              <a:buNone/>
            </a:pPr>
            <a:r>
              <a:rPr b="1" i="0" lang="en-US" sz="465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Listas guardam vários valores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35"/>
          <p:cNvSpPr/>
          <p:nvPr/>
        </p:nvSpPr>
        <p:spPr>
          <a:xfrm>
            <a:off x="6208162" y="3485825"/>
            <a:ext cx="5871540" cy="2628710"/>
          </a:xfrm>
          <a:prstGeom prst="roundRect">
            <a:avLst>
              <a:gd fmla="val 725" name="adj"/>
            </a:avLst>
          </a:prstGeom>
          <a:solidFill>
            <a:srgbClr val="002D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35"/>
          <p:cNvSpPr/>
          <p:nvPr/>
        </p:nvSpPr>
        <p:spPr>
          <a:xfrm>
            <a:off x="6589162" y="3771575"/>
            <a:ext cx="5285686" cy="209531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976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creatinina = [0.9, 1.0, 1.2, 1.1]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976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print(creatinina)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976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25"/>
              <a:buFont typeface="Calibri"/>
              <a:buNone/>
            </a:pPr>
            <a:r>
              <a:t/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976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print(creatinina[0])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976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print(len(creatinina))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35"/>
          <p:cNvSpPr/>
          <p:nvPr/>
        </p:nvSpPr>
        <p:spPr>
          <a:xfrm>
            <a:off x="4348578" y="6400285"/>
            <a:ext cx="9590844" cy="11977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4056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F1D"/>
                </a:solidFill>
                <a:latin typeface="Arial"/>
                <a:ea typeface="Arial"/>
                <a:cs typeface="Arial"/>
                <a:sym typeface="Arial"/>
              </a:rPr>
              <a:t>Valores entre colchetes, separados por vírgula, em sequência e acessados por posição. A contagem começa em zero: o primeiro elemento é o índice 0.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52" name="Google Shape;452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982370" y="9747836"/>
            <a:ext cx="734129" cy="3543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6FB"/>
        </a:solidFill>
      </p:bgPr>
    </p:bg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36"/>
          <p:cNvSpPr/>
          <p:nvPr/>
        </p:nvSpPr>
        <p:spPr>
          <a:xfrm>
            <a:off x="4213264" y="2051528"/>
            <a:ext cx="9861336" cy="10636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99677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4650"/>
              <a:buFont typeface="Arial"/>
              <a:buNone/>
            </a:pPr>
            <a:r>
              <a:rPr b="1" i="0" lang="en-US" sz="465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Dicionários organizam um registro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36"/>
          <p:cNvSpPr/>
          <p:nvPr/>
        </p:nvSpPr>
        <p:spPr>
          <a:xfrm>
            <a:off x="6285553" y="3267589"/>
            <a:ext cx="5716759" cy="3451595"/>
          </a:xfrm>
          <a:prstGeom prst="roundRect">
            <a:avLst>
              <a:gd fmla="val 552" name="adj"/>
            </a:avLst>
          </a:prstGeom>
          <a:solidFill>
            <a:srgbClr val="002D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36"/>
          <p:cNvSpPr/>
          <p:nvPr/>
        </p:nvSpPr>
        <p:spPr>
          <a:xfrm>
            <a:off x="6666553" y="3553339"/>
            <a:ext cx="5126261" cy="291819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976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paciente = {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976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"idade": 68,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976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"tempo_internacao": 7,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976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"internacoes_anteriores": 2,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976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"servico": "Cardiologia",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976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"readmissao_30d": False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976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36"/>
          <p:cNvSpPr/>
          <p:nvPr/>
        </p:nvSpPr>
        <p:spPr>
          <a:xfrm>
            <a:off x="4348578" y="7004933"/>
            <a:ext cx="9590844" cy="8111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4056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F1D"/>
                </a:solidFill>
                <a:latin typeface="Arial"/>
                <a:ea typeface="Arial"/>
                <a:cs typeface="Arial"/>
                <a:sym typeface="Arial"/>
              </a:rPr>
              <a:t>Cada informação é uma chave e um valor. A chave descreve o atributo; valores de tipos diferentes convivem no mesmo dicionário.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62" name="Google Shape;462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982370" y="9747836"/>
            <a:ext cx="734129" cy="3543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6FB"/>
        </a:solidFill>
      </p:bgPr>
    </p:bg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37"/>
          <p:cNvSpPr/>
          <p:nvPr/>
        </p:nvSpPr>
        <p:spPr>
          <a:xfrm>
            <a:off x="3089975" y="1939225"/>
            <a:ext cx="12108000" cy="10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99677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4650"/>
              <a:buFont typeface="Arial"/>
              <a:buNone/>
            </a:pPr>
            <a:r>
              <a:rPr b="1" i="0" lang="en-US" sz="465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Acessando e atualizando atributos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37"/>
          <p:cNvSpPr/>
          <p:nvPr/>
        </p:nvSpPr>
        <p:spPr>
          <a:xfrm>
            <a:off x="8482905" y="3155291"/>
            <a:ext cx="1322189" cy="39244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ACESSAR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37"/>
          <p:cNvSpPr/>
          <p:nvPr/>
        </p:nvSpPr>
        <p:spPr>
          <a:xfrm>
            <a:off x="6750167" y="3642906"/>
            <a:ext cx="4787665" cy="1394384"/>
          </a:xfrm>
          <a:prstGeom prst="roundRect">
            <a:avLst>
              <a:gd fmla="val 1366" name="adj"/>
            </a:avLst>
          </a:prstGeom>
          <a:solidFill>
            <a:srgbClr val="002D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37"/>
          <p:cNvSpPr/>
          <p:nvPr/>
        </p:nvSpPr>
        <p:spPr>
          <a:xfrm>
            <a:off x="7131167" y="3928656"/>
            <a:ext cx="4169295" cy="8609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976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print(paciente["idade"])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976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print(paciente["servico"])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37"/>
          <p:cNvSpPr/>
          <p:nvPr/>
        </p:nvSpPr>
        <p:spPr>
          <a:xfrm>
            <a:off x="8302532" y="5361059"/>
            <a:ext cx="1682800" cy="39244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ATUALIZAR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37"/>
          <p:cNvSpPr/>
          <p:nvPr/>
        </p:nvSpPr>
        <p:spPr>
          <a:xfrm>
            <a:off x="6208162" y="5848674"/>
            <a:ext cx="5871540" cy="982942"/>
          </a:xfrm>
          <a:prstGeom prst="roundRect">
            <a:avLst>
              <a:gd fmla="val 1938" name="adj"/>
            </a:avLst>
          </a:prstGeom>
          <a:solidFill>
            <a:srgbClr val="002D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37"/>
          <p:cNvSpPr/>
          <p:nvPr/>
        </p:nvSpPr>
        <p:spPr>
          <a:xfrm>
            <a:off x="6589162" y="6134424"/>
            <a:ext cx="5285686" cy="4495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976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paciente["readmissao_30d"] = True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37"/>
          <p:cNvSpPr/>
          <p:nvPr/>
        </p:nvSpPr>
        <p:spPr>
          <a:xfrm>
            <a:off x="4348578" y="7117367"/>
            <a:ext cx="9590844" cy="8111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4056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F1D"/>
                </a:solidFill>
                <a:latin typeface="Arial"/>
                <a:ea typeface="Arial"/>
                <a:cs typeface="Arial"/>
                <a:sym typeface="Arial"/>
              </a:rPr>
              <a:t>Um dicionário representa um registro individual. Tabelas com muitos registros vêm com pandas, a partir da Aula 4.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76" name="Google Shape;476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982370" y="9747836"/>
            <a:ext cx="734129" cy="3543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2D46"/>
        </a:solidFill>
      </p:bgPr>
    </p:bg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38"/>
          <p:cNvSpPr/>
          <p:nvPr/>
        </p:nvSpPr>
        <p:spPr>
          <a:xfrm>
            <a:off x="6357610" y="3516275"/>
            <a:ext cx="5572800" cy="16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871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0"/>
              <a:buFont typeface="Arial"/>
              <a:buNone/>
            </a:pPr>
            <a:r>
              <a:rPr b="1" i="0" lang="en-US" sz="12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b="0" i="0" sz="12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38"/>
          <p:cNvSpPr/>
          <p:nvPr/>
        </p:nvSpPr>
        <p:spPr>
          <a:xfrm>
            <a:off x="5067103" y="5287863"/>
            <a:ext cx="8153792" cy="10636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9967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50"/>
              <a:buFont typeface="Arial"/>
              <a:buNone/>
            </a:pPr>
            <a:r>
              <a:rPr b="1" i="0" lang="en-US" sz="46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Condicionais e erros comuns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6FB"/>
        </a:solidFill>
      </p:bgPr>
    </p:bg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39"/>
          <p:cNvSpPr/>
          <p:nvPr/>
        </p:nvSpPr>
        <p:spPr>
          <a:xfrm>
            <a:off x="4353527" y="2786750"/>
            <a:ext cx="9580800" cy="10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99677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4650"/>
              <a:buFont typeface="Arial"/>
              <a:buNone/>
            </a:pPr>
            <a:r>
              <a:rPr b="1" i="0" lang="en-US" sz="465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O fluxo depende do dado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39"/>
          <p:cNvSpPr/>
          <p:nvPr/>
        </p:nvSpPr>
        <p:spPr>
          <a:xfrm>
            <a:off x="5433985" y="4002800"/>
            <a:ext cx="7419894" cy="3040153"/>
          </a:xfrm>
          <a:prstGeom prst="roundRect">
            <a:avLst>
              <a:gd fmla="val 627" name="adj"/>
            </a:avLst>
          </a:prstGeom>
          <a:solidFill>
            <a:srgbClr val="002D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39"/>
          <p:cNvSpPr/>
          <p:nvPr/>
        </p:nvSpPr>
        <p:spPr>
          <a:xfrm>
            <a:off x="5814985" y="4288550"/>
            <a:ext cx="6880490" cy="250675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976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idade = 68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976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25"/>
              <a:buFont typeface="Calibri"/>
              <a:buNone/>
            </a:pPr>
            <a:r>
              <a:t/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976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if idade &gt;= 65: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976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print("Faixa etária: 65 anos ou mais")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976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else: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976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print("Faixa etária: menos de 65 anos")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92" name="Google Shape;492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982370" y="9747836"/>
            <a:ext cx="734129" cy="3543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6FB"/>
        </a:solidFill>
      </p:bgPr>
    </p:bg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40"/>
          <p:cNvSpPr/>
          <p:nvPr/>
        </p:nvSpPr>
        <p:spPr>
          <a:xfrm>
            <a:off x="4911999" y="2752644"/>
            <a:ext cx="8464001" cy="10636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99677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4650"/>
              <a:buFont typeface="Arial"/>
              <a:buNone/>
            </a:pPr>
            <a:r>
              <a:rPr b="1" i="0" lang="en-US" sz="465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Anatomia de uma condicional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40"/>
          <p:cNvSpPr/>
          <p:nvPr/>
        </p:nvSpPr>
        <p:spPr>
          <a:xfrm>
            <a:off x="2400462" y="3968705"/>
            <a:ext cx="4343346" cy="1258545"/>
          </a:xfrm>
          <a:prstGeom prst="roundRect">
            <a:avLst>
              <a:gd fmla="val 151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bl" dir="5400000" dist="9525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40"/>
          <p:cNvSpPr/>
          <p:nvPr/>
        </p:nvSpPr>
        <p:spPr>
          <a:xfrm>
            <a:off x="2705154" y="4252696"/>
            <a:ext cx="318113" cy="39244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40"/>
          <p:cNvSpPr/>
          <p:nvPr/>
        </p:nvSpPr>
        <p:spPr>
          <a:xfrm>
            <a:off x="3137567" y="4235378"/>
            <a:ext cx="3094881" cy="40069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356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if inicia uma condição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40"/>
          <p:cNvSpPr/>
          <p:nvPr/>
        </p:nvSpPr>
        <p:spPr>
          <a:xfrm>
            <a:off x="6972327" y="3968705"/>
            <a:ext cx="4343346" cy="1258545"/>
          </a:xfrm>
          <a:prstGeom prst="roundRect">
            <a:avLst>
              <a:gd fmla="val 151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bl" dir="5400000" dist="9525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40"/>
          <p:cNvSpPr/>
          <p:nvPr/>
        </p:nvSpPr>
        <p:spPr>
          <a:xfrm>
            <a:off x="7277019" y="4252696"/>
            <a:ext cx="318113" cy="39244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40"/>
          <p:cNvSpPr/>
          <p:nvPr/>
        </p:nvSpPr>
        <p:spPr>
          <a:xfrm>
            <a:off x="7709432" y="4235378"/>
            <a:ext cx="3400595" cy="76329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356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A condição deve resultar em True ou False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40"/>
          <p:cNvSpPr/>
          <p:nvPr/>
        </p:nvSpPr>
        <p:spPr>
          <a:xfrm>
            <a:off x="11544192" y="3968705"/>
            <a:ext cx="4343346" cy="1258545"/>
          </a:xfrm>
          <a:prstGeom prst="roundRect">
            <a:avLst>
              <a:gd fmla="val 151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bl" dir="5400000" dist="9525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40"/>
          <p:cNvSpPr/>
          <p:nvPr/>
        </p:nvSpPr>
        <p:spPr>
          <a:xfrm>
            <a:off x="11848883" y="4252696"/>
            <a:ext cx="318113" cy="39244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40"/>
          <p:cNvSpPr/>
          <p:nvPr/>
        </p:nvSpPr>
        <p:spPr>
          <a:xfrm>
            <a:off x="12281297" y="4235378"/>
            <a:ext cx="3400595" cy="76329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356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Os dois pontos indicam o início do bloco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40"/>
          <p:cNvSpPr/>
          <p:nvPr/>
        </p:nvSpPr>
        <p:spPr>
          <a:xfrm>
            <a:off x="4686327" y="5455768"/>
            <a:ext cx="4343346" cy="1621144"/>
          </a:xfrm>
          <a:prstGeom prst="roundRect">
            <a:avLst>
              <a:gd fmla="val 1175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bl" dir="5400000" dist="9525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40"/>
          <p:cNvSpPr/>
          <p:nvPr/>
        </p:nvSpPr>
        <p:spPr>
          <a:xfrm>
            <a:off x="4991019" y="5739760"/>
            <a:ext cx="318113" cy="39244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40"/>
          <p:cNvSpPr/>
          <p:nvPr/>
        </p:nvSpPr>
        <p:spPr>
          <a:xfrm>
            <a:off x="5423432" y="5722441"/>
            <a:ext cx="3400595" cy="76329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356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A indentação mostra o que pertence ao bloco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40"/>
          <p:cNvSpPr/>
          <p:nvPr/>
        </p:nvSpPr>
        <p:spPr>
          <a:xfrm>
            <a:off x="9258191" y="5455768"/>
            <a:ext cx="4343346" cy="1621144"/>
          </a:xfrm>
          <a:prstGeom prst="roundRect">
            <a:avLst>
              <a:gd fmla="val 1175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bl" dir="5400000" dist="9525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40"/>
          <p:cNvSpPr/>
          <p:nvPr/>
        </p:nvSpPr>
        <p:spPr>
          <a:xfrm>
            <a:off x="9562883" y="5739760"/>
            <a:ext cx="318113" cy="39244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40"/>
          <p:cNvSpPr/>
          <p:nvPr/>
        </p:nvSpPr>
        <p:spPr>
          <a:xfrm>
            <a:off x="9995297" y="5722441"/>
            <a:ext cx="3400595" cy="112589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356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else define o caso em que a condição não é satisfeita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14" name="Google Shape;514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982370" y="9747836"/>
            <a:ext cx="734129" cy="3543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6FB"/>
        </a:solidFill>
      </p:bgPr>
    </p:bg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41"/>
          <p:cNvSpPr/>
          <p:nvPr/>
        </p:nvSpPr>
        <p:spPr>
          <a:xfrm>
            <a:off x="3702075" y="1434425"/>
            <a:ext cx="10884000" cy="10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99677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4650"/>
              <a:buFont typeface="Arial"/>
              <a:buNone/>
            </a:pPr>
            <a:r>
              <a:rPr b="1" i="0" lang="en-US" sz="465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Três possibilidades com elif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41"/>
          <p:cNvSpPr/>
          <p:nvPr/>
        </p:nvSpPr>
        <p:spPr>
          <a:xfrm>
            <a:off x="6362944" y="2996043"/>
            <a:ext cx="5562000" cy="4686000"/>
          </a:xfrm>
          <a:prstGeom prst="roundRect">
            <a:avLst>
              <a:gd fmla="val 407" name="adj"/>
            </a:avLst>
          </a:prstGeom>
          <a:solidFill>
            <a:srgbClr val="002D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41"/>
          <p:cNvSpPr/>
          <p:nvPr/>
        </p:nvSpPr>
        <p:spPr>
          <a:xfrm>
            <a:off x="6743944" y="3281793"/>
            <a:ext cx="4966800" cy="41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976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tempo_internacao = 7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976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25"/>
              <a:buFont typeface="Calibri"/>
              <a:buNone/>
            </a:pPr>
            <a:r>
              <a:t/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976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if tempo_internacao &lt;= 2: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976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categoria = "curta"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976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elif tempo_internacao &lt;= 7: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976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categoria = "intermediaria"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976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else: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976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categoria = "longa"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976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25"/>
              <a:buFont typeface="Calibri"/>
              <a:buNone/>
            </a:pPr>
            <a:r>
              <a:t/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976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print(categoria)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23" name="Google Shape;523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982370" y="9747836"/>
            <a:ext cx="734129" cy="3543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6FB"/>
        </a:solidFill>
      </p:bgPr>
    </p:bg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42"/>
          <p:cNvSpPr/>
          <p:nvPr/>
        </p:nvSpPr>
        <p:spPr>
          <a:xfrm>
            <a:off x="5439600" y="2067825"/>
            <a:ext cx="7408800" cy="10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99677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4650"/>
              <a:buFont typeface="Arial"/>
              <a:buNone/>
            </a:pPr>
            <a:r>
              <a:rPr b="1" i="0" lang="en-US" sz="465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Atenção à indentação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42"/>
          <p:cNvSpPr/>
          <p:nvPr/>
        </p:nvSpPr>
        <p:spPr>
          <a:xfrm>
            <a:off x="3782074" y="4063819"/>
            <a:ext cx="1748433" cy="39244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AA0B56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AA0B56"/>
                </a:solidFill>
                <a:latin typeface="Arial"/>
                <a:ea typeface="Arial"/>
                <a:cs typeface="Arial"/>
                <a:sym typeface="Arial"/>
              </a:rPr>
              <a:t>INCORRETO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42"/>
          <p:cNvSpPr/>
          <p:nvPr/>
        </p:nvSpPr>
        <p:spPr>
          <a:xfrm>
            <a:off x="3861549" y="4532357"/>
            <a:ext cx="4776435" cy="1390596"/>
          </a:xfrm>
          <a:prstGeom prst="roundRect">
            <a:avLst>
              <a:gd fmla="val 1370" name="adj"/>
            </a:avLst>
          </a:prstGeom>
          <a:solidFill>
            <a:srgbClr val="002D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p42"/>
          <p:cNvSpPr/>
          <p:nvPr/>
        </p:nvSpPr>
        <p:spPr>
          <a:xfrm>
            <a:off x="4185399" y="4799057"/>
            <a:ext cx="4272029" cy="8952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378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if idade &gt;= 65: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78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print("65 anos ou mais")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42"/>
          <p:cNvSpPr/>
          <p:nvPr/>
        </p:nvSpPr>
        <p:spPr>
          <a:xfrm>
            <a:off x="8897811" y="4063819"/>
            <a:ext cx="1406723" cy="39244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CORRETO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42"/>
          <p:cNvSpPr/>
          <p:nvPr/>
        </p:nvSpPr>
        <p:spPr>
          <a:xfrm>
            <a:off x="8961753" y="4532357"/>
            <a:ext cx="5464698" cy="1390596"/>
          </a:xfrm>
          <a:prstGeom prst="roundRect">
            <a:avLst>
              <a:gd fmla="val 1370" name="adj"/>
            </a:avLst>
          </a:prstGeom>
          <a:solidFill>
            <a:srgbClr val="002D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p42"/>
          <p:cNvSpPr/>
          <p:nvPr/>
        </p:nvSpPr>
        <p:spPr>
          <a:xfrm>
            <a:off x="9285603" y="4799057"/>
            <a:ext cx="4980939" cy="8952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378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if idade &gt;= 65: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78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print("65 anos ou mais")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42"/>
          <p:cNvSpPr/>
          <p:nvPr/>
        </p:nvSpPr>
        <p:spPr>
          <a:xfrm>
            <a:off x="5331000" y="6504875"/>
            <a:ext cx="7626000" cy="8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4056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F1D"/>
                </a:solidFill>
                <a:latin typeface="Arial"/>
                <a:ea typeface="Arial"/>
                <a:cs typeface="Arial"/>
                <a:sym typeface="Arial"/>
              </a:rPr>
              <a:t>Mensagens de erro não são só falhas: leia a última linha da mensagem e a linha indicada pelo notebook.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37" name="Google Shape;537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982370" y="9747836"/>
            <a:ext cx="734129" cy="3543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6FB"/>
        </a:solidFill>
      </p:bgPr>
    </p:bg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43"/>
          <p:cNvSpPr/>
          <p:nvPr/>
        </p:nvSpPr>
        <p:spPr>
          <a:xfrm>
            <a:off x="2319803" y="3240800"/>
            <a:ext cx="13648200" cy="10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99677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4650"/>
              <a:buFont typeface="Arial"/>
              <a:buNone/>
            </a:pPr>
            <a:r>
              <a:rPr b="1" i="0" lang="en-US" sz="465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Três erros </a:t>
            </a:r>
            <a:r>
              <a:rPr b="1" lang="en-US" sz="4650">
                <a:solidFill>
                  <a:srgbClr val="201E1D"/>
                </a:solidFill>
              </a:rPr>
              <a:t>comuns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43"/>
          <p:cNvSpPr/>
          <p:nvPr/>
        </p:nvSpPr>
        <p:spPr>
          <a:xfrm>
            <a:off x="2262242" y="4456861"/>
            <a:ext cx="4505325" cy="2940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95381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VARIÁVEL INEXISTENTE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43"/>
          <p:cNvSpPr/>
          <p:nvPr/>
        </p:nvSpPr>
        <p:spPr>
          <a:xfrm>
            <a:off x="2993610" y="4887786"/>
            <a:ext cx="3042588" cy="306315"/>
          </a:xfrm>
          <a:prstGeom prst="roundRect">
            <a:avLst>
              <a:gd fmla="val 18657" name="adj"/>
            </a:avLst>
          </a:prstGeom>
          <a:solidFill>
            <a:srgbClr val="E3EF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" name="Google Shape;546;p43"/>
          <p:cNvSpPr/>
          <p:nvPr/>
        </p:nvSpPr>
        <p:spPr>
          <a:xfrm>
            <a:off x="2917681" y="4906836"/>
            <a:ext cx="3194447" cy="30631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4960"/>
              </a:lnSpc>
              <a:spcBef>
                <a:spcPts val="0"/>
              </a:spcBef>
              <a:spcAft>
                <a:spcPts val="0"/>
              </a:spcAft>
              <a:buClr>
                <a:srgbClr val="002D46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2D46"/>
                </a:solidFill>
                <a:latin typeface="Courier New"/>
                <a:ea typeface="Courier New"/>
                <a:cs typeface="Courier New"/>
                <a:sym typeface="Courier New"/>
              </a:rPr>
              <a:t>print(idade_paciente)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43"/>
          <p:cNvSpPr/>
          <p:nvPr/>
        </p:nvSpPr>
        <p:spPr>
          <a:xfrm>
            <a:off x="2405593" y="5453197"/>
            <a:ext cx="4218622" cy="79522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1489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O notebook precisa ser executado em ordem coerente.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43"/>
          <p:cNvSpPr/>
          <p:nvPr/>
        </p:nvSpPr>
        <p:spPr>
          <a:xfrm>
            <a:off x="6891338" y="4456861"/>
            <a:ext cx="4505325" cy="2940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95381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MISTURA DE TIPOS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43"/>
          <p:cNvSpPr/>
          <p:nvPr/>
        </p:nvSpPr>
        <p:spPr>
          <a:xfrm>
            <a:off x="7416240" y="4887786"/>
            <a:ext cx="3455518" cy="306315"/>
          </a:xfrm>
          <a:prstGeom prst="roundRect">
            <a:avLst>
              <a:gd fmla="val 18657" name="adj"/>
            </a:avLst>
          </a:prstGeom>
          <a:solidFill>
            <a:srgbClr val="E3EF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43"/>
          <p:cNvSpPr/>
          <p:nvPr/>
        </p:nvSpPr>
        <p:spPr>
          <a:xfrm>
            <a:off x="7319664" y="4906836"/>
            <a:ext cx="3648670" cy="30631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4960"/>
              </a:lnSpc>
              <a:spcBef>
                <a:spcPts val="0"/>
              </a:spcBef>
              <a:spcAft>
                <a:spcPts val="0"/>
              </a:spcAft>
              <a:buClr>
                <a:srgbClr val="002D46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2D46"/>
                </a:solidFill>
                <a:latin typeface="Courier New"/>
                <a:ea typeface="Courier New"/>
                <a:cs typeface="Courier New"/>
                <a:sym typeface="Courier New"/>
              </a:rPr>
              <a:t>print("Idade: " + idade)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43"/>
          <p:cNvSpPr/>
          <p:nvPr/>
        </p:nvSpPr>
        <p:spPr>
          <a:xfrm>
            <a:off x="7034689" y="5453197"/>
            <a:ext cx="4218622" cy="11737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1489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Texto e número não se concatenam. Corrigir com </a:t>
            </a:r>
            <a:r>
              <a:rPr b="0" i="0" lang="en-US" sz="1800" u="none" cap="none" strike="noStrike">
                <a:solidFill>
                  <a:srgbClr val="002D46"/>
                </a:solidFill>
                <a:highlight>
                  <a:srgbClr val="E3EFF8"/>
                </a:highlight>
                <a:latin typeface="Courier New"/>
                <a:ea typeface="Courier New"/>
                <a:cs typeface="Courier New"/>
                <a:sym typeface="Courier New"/>
              </a:rPr>
              <a:t>f"Idade: {idade}"</a:t>
            </a: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43"/>
          <p:cNvSpPr/>
          <p:nvPr/>
        </p:nvSpPr>
        <p:spPr>
          <a:xfrm>
            <a:off x="11663784" y="4456861"/>
            <a:ext cx="4218622" cy="55006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95381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TEXTO COMPARADO A NÚMERO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43"/>
          <p:cNvSpPr/>
          <p:nvPr/>
        </p:nvSpPr>
        <p:spPr>
          <a:xfrm>
            <a:off x="13008661" y="5143770"/>
            <a:ext cx="1528735" cy="306315"/>
          </a:xfrm>
          <a:prstGeom prst="roundRect">
            <a:avLst>
              <a:gd fmla="val 18657" name="adj"/>
            </a:avLst>
          </a:prstGeom>
          <a:solidFill>
            <a:srgbClr val="E3EF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p43"/>
          <p:cNvSpPr/>
          <p:nvPr/>
        </p:nvSpPr>
        <p:spPr>
          <a:xfrm>
            <a:off x="13008424" y="5162820"/>
            <a:ext cx="1529209" cy="30631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4960"/>
              </a:lnSpc>
              <a:spcBef>
                <a:spcPts val="0"/>
              </a:spcBef>
              <a:spcAft>
                <a:spcPts val="0"/>
              </a:spcAft>
              <a:buClr>
                <a:srgbClr val="002D46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2D46"/>
                </a:solidFill>
                <a:latin typeface="Courier New"/>
                <a:ea typeface="Courier New"/>
                <a:cs typeface="Courier New"/>
                <a:sym typeface="Courier New"/>
              </a:rPr>
              <a:t>"68" == 68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43"/>
          <p:cNvSpPr/>
          <p:nvPr/>
        </p:nvSpPr>
        <p:spPr>
          <a:xfrm>
            <a:off x="12045325" y="5709175"/>
            <a:ext cx="3455400" cy="7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1489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Devolve False: o tipo altera a interpretação do dado.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56" name="Google Shape;556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982370" y="9747836"/>
            <a:ext cx="734129" cy="3543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2D46"/>
        </a:solidFill>
      </p:bgPr>
    </p:bg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44"/>
          <p:cNvSpPr/>
          <p:nvPr/>
        </p:nvSpPr>
        <p:spPr>
          <a:xfrm>
            <a:off x="6703708" y="3516275"/>
            <a:ext cx="4880400" cy="16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871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0"/>
              <a:buFont typeface="Arial"/>
              <a:buNone/>
            </a:pPr>
            <a:r>
              <a:rPr b="1" i="0" lang="en-US" sz="12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 b="0" i="0" sz="12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44"/>
          <p:cNvSpPr/>
          <p:nvPr/>
        </p:nvSpPr>
        <p:spPr>
          <a:xfrm>
            <a:off x="6241274" y="5287875"/>
            <a:ext cx="5805300" cy="10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9967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50"/>
              <a:buFont typeface="Arial"/>
              <a:buNone/>
            </a:pPr>
            <a:r>
              <a:rPr b="1" i="0" lang="en-US" sz="46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Exemplo integrado e prática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6FB"/>
        </a:solidFill>
      </p:bgPr>
    </p:bg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45"/>
          <p:cNvSpPr/>
          <p:nvPr/>
        </p:nvSpPr>
        <p:spPr>
          <a:xfrm>
            <a:off x="2606104" y="1201725"/>
            <a:ext cx="13075800" cy="10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99677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4650"/>
              <a:buFont typeface="Arial"/>
              <a:buNone/>
            </a:pPr>
            <a:r>
              <a:rPr b="1" i="0" lang="en-US" sz="465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Representando o caso-guia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45"/>
          <p:cNvSpPr/>
          <p:nvPr/>
        </p:nvSpPr>
        <p:spPr>
          <a:xfrm>
            <a:off x="4447525" y="2265525"/>
            <a:ext cx="9392700" cy="6663900"/>
          </a:xfrm>
          <a:prstGeom prst="roundRect">
            <a:avLst>
              <a:gd fmla="val 307" name="adj"/>
            </a:avLst>
          </a:prstGeom>
          <a:solidFill>
            <a:srgbClr val="002D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1" name="Google Shape;571;p45"/>
          <p:cNvSpPr/>
          <p:nvPr/>
        </p:nvSpPr>
        <p:spPr>
          <a:xfrm>
            <a:off x="4771375" y="2513175"/>
            <a:ext cx="9027000" cy="61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306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paciente = {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6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"idade": 68, "tempo_internacao": 7,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6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"internacoes_anteriores": 2,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6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"servico": "Cardiologia", "readmissao_30d": False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6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6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75"/>
              <a:buFont typeface="Calibri"/>
              <a:buNone/>
            </a:pPr>
            <a:r>
              <a:t/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6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idade = paciente["idade"]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6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internacoes = paciente["internacoes_anteriores"]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6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75"/>
              <a:buFont typeface="Calibri"/>
              <a:buNone/>
            </a:pPr>
            <a:r>
              <a:t/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6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criterio_a = idade &gt;= 65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6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criterio_b = internacoes &gt;= 2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6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75"/>
              <a:buFont typeface="Calibri"/>
              <a:buNone/>
            </a:pPr>
            <a:r>
              <a:t/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6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if criterio_a and criterio_b: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6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print("Registro atende aos dois critérios didáticos")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6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else: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6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print("Registro não atende aos dois critérios didáticos")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72" name="Google Shape;572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982370" y="9747836"/>
            <a:ext cx="734129" cy="3543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6FB"/>
        </a:solidFill>
      </p:bgPr>
    </p:bg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46"/>
          <p:cNvSpPr/>
          <p:nvPr/>
        </p:nvSpPr>
        <p:spPr>
          <a:xfrm>
            <a:off x="2764077" y="2126875"/>
            <a:ext cx="12759600" cy="10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99677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4650"/>
              <a:buFont typeface="Arial"/>
              <a:buNone/>
            </a:pPr>
            <a:r>
              <a:rPr b="1" i="0" lang="en-US" sz="465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O que o código faz, em cinco passos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46"/>
          <p:cNvSpPr/>
          <p:nvPr/>
        </p:nvSpPr>
        <p:spPr>
          <a:xfrm>
            <a:off x="3311876" y="3905650"/>
            <a:ext cx="977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86429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3300"/>
              <a:buFont typeface="Arial"/>
              <a:buNone/>
            </a:pPr>
            <a:r>
              <a:rPr b="0" i="0" lang="en-US" sz="33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46"/>
          <p:cNvSpPr/>
          <p:nvPr/>
        </p:nvSpPr>
        <p:spPr>
          <a:xfrm>
            <a:off x="2181755" y="4439002"/>
            <a:ext cx="3237548" cy="75274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4644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Os dados do paciente são organizados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46"/>
          <p:cNvSpPr/>
          <p:nvPr/>
        </p:nvSpPr>
        <p:spPr>
          <a:xfrm>
            <a:off x="7098073" y="3905656"/>
            <a:ext cx="529314" cy="45725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86429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3300"/>
              <a:buFont typeface="Arial"/>
              <a:buNone/>
            </a:pPr>
            <a:r>
              <a:rPr b="0" i="0" lang="en-US" sz="33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46"/>
          <p:cNvSpPr/>
          <p:nvPr/>
        </p:nvSpPr>
        <p:spPr>
          <a:xfrm>
            <a:off x="5744024" y="4439002"/>
            <a:ext cx="3237548" cy="75274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4644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Duas informações são recuperadas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46"/>
          <p:cNvSpPr/>
          <p:nvPr/>
        </p:nvSpPr>
        <p:spPr>
          <a:xfrm>
            <a:off x="10658447" y="3905656"/>
            <a:ext cx="533102" cy="45725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86429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3300"/>
              <a:buFont typeface="Arial"/>
              <a:buNone/>
            </a:pPr>
            <a:r>
              <a:rPr b="0" i="0" lang="en-US" sz="33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46"/>
          <p:cNvSpPr/>
          <p:nvPr/>
        </p:nvSpPr>
        <p:spPr>
          <a:xfrm>
            <a:off x="9306293" y="4439002"/>
            <a:ext cx="3237548" cy="75274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4644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São feitas duas comparações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46"/>
          <p:cNvSpPr/>
          <p:nvPr/>
        </p:nvSpPr>
        <p:spPr>
          <a:xfrm>
            <a:off x="14223692" y="3905656"/>
            <a:ext cx="527284" cy="45725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86429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3300"/>
              <a:buFont typeface="Arial"/>
              <a:buNone/>
            </a:pPr>
            <a:r>
              <a:rPr b="0" i="0" lang="en-US" sz="33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46"/>
          <p:cNvSpPr/>
          <p:nvPr/>
        </p:nvSpPr>
        <p:spPr>
          <a:xfrm>
            <a:off x="12868562" y="4439002"/>
            <a:ext cx="3237548" cy="111006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4644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Os resultados são combinados logicamente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46"/>
          <p:cNvSpPr/>
          <p:nvPr/>
        </p:nvSpPr>
        <p:spPr>
          <a:xfrm>
            <a:off x="8879275" y="5891970"/>
            <a:ext cx="529314" cy="45725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86429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3300"/>
              <a:buFont typeface="Arial"/>
              <a:buNone/>
            </a:pPr>
            <a:r>
              <a:rPr b="0" i="0" lang="en-US" sz="33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46"/>
          <p:cNvSpPr/>
          <p:nvPr/>
        </p:nvSpPr>
        <p:spPr>
          <a:xfrm>
            <a:off x="7525226" y="6425316"/>
            <a:ext cx="3237548" cy="75274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4644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Uma condição decide a mensagem exibida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89" name="Google Shape;589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982370" y="9747836"/>
            <a:ext cx="734129" cy="3543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6FB"/>
        </a:solidFill>
      </p:bgPr>
    </p:bg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47"/>
          <p:cNvSpPr/>
          <p:nvPr/>
        </p:nvSpPr>
        <p:spPr>
          <a:xfrm>
            <a:off x="8904711" y="3248512"/>
            <a:ext cx="478577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7200"/>
              <a:buFont typeface="Arial"/>
              <a:buNone/>
            </a:pPr>
            <a:r>
              <a:rPr b="0" i="0" lang="en-US" sz="72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47"/>
          <p:cNvSpPr/>
          <p:nvPr/>
        </p:nvSpPr>
        <p:spPr>
          <a:xfrm>
            <a:off x="4320706" y="3953281"/>
            <a:ext cx="9646587" cy="194012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0933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3900"/>
              <a:buFont typeface="Arial"/>
              <a:buNone/>
            </a:pPr>
            <a:r>
              <a:rPr i="1" lang="en-US" sz="3900" u="none" cap="none" strike="noStrike">
                <a:solidFill>
                  <a:srgbClr val="201E1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Isso ainda não é um modelo de inteligência artificial. É uma regra determinística construída manualmente.</a:t>
            </a:r>
            <a:endParaRPr i="0" sz="39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preencoded.png" id="597" name="Google Shape;597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982370" y="9747836"/>
            <a:ext cx="734129" cy="3543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6FB"/>
        </a:solidFill>
      </p:bgPr>
    </p:bg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48"/>
          <p:cNvSpPr/>
          <p:nvPr/>
        </p:nvSpPr>
        <p:spPr>
          <a:xfrm>
            <a:off x="2073125" y="3355000"/>
            <a:ext cx="14141700" cy="10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99677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4650"/>
              <a:buFont typeface="Arial"/>
              <a:buNone/>
            </a:pPr>
            <a:r>
              <a:rPr b="1" i="0" lang="en-US" sz="465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Exercício guiado: altere e execute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48"/>
          <p:cNvSpPr/>
          <p:nvPr/>
        </p:nvSpPr>
        <p:spPr>
          <a:xfrm>
            <a:off x="2656521" y="5281878"/>
            <a:ext cx="6516900" cy="2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95381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O QUE ALTERAR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48"/>
          <p:cNvSpPr/>
          <p:nvPr/>
        </p:nvSpPr>
        <p:spPr>
          <a:xfrm>
            <a:off x="2863881" y="5671131"/>
            <a:ext cx="6102300" cy="15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1489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idade para 45 internacoes_anteriores para 0 servico para "Clínica Médica" readmissao_30d para True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48"/>
          <p:cNvSpPr/>
          <p:nvPr/>
        </p:nvSpPr>
        <p:spPr>
          <a:xfrm>
            <a:off x="9114444" y="5281878"/>
            <a:ext cx="6516900" cy="2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95381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A PERGUNTA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48"/>
          <p:cNvSpPr/>
          <p:nvPr/>
        </p:nvSpPr>
        <p:spPr>
          <a:xfrm>
            <a:off x="9321804" y="5671131"/>
            <a:ext cx="6102300" cy="7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1489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Qual parte do código representa o dado e qual parte representa a regra aplicada ao dado?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08" name="Google Shape;608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982370" y="9747836"/>
            <a:ext cx="734129" cy="3543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6FB"/>
        </a:solidFill>
      </p:bgPr>
    </p:bg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49"/>
          <p:cNvSpPr/>
          <p:nvPr/>
        </p:nvSpPr>
        <p:spPr>
          <a:xfrm>
            <a:off x="2053252" y="2029350"/>
            <a:ext cx="14181300" cy="10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99677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4650"/>
              <a:buFont typeface="Arial"/>
              <a:buNone/>
            </a:pPr>
            <a:r>
              <a:rPr b="1" i="0" lang="en-US" sz="465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Atividade: o notebook deve conter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49"/>
          <p:cNvSpPr/>
          <p:nvPr/>
        </p:nvSpPr>
        <p:spPr>
          <a:xfrm>
            <a:off x="2262242" y="3798250"/>
            <a:ext cx="4505400" cy="2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95381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VARIÁVEIS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49"/>
          <p:cNvSpPr/>
          <p:nvPr/>
        </p:nvSpPr>
        <p:spPr>
          <a:xfrm>
            <a:off x="2405593" y="4187503"/>
            <a:ext cx="4218600" cy="7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1489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Uma int, uma float, uma str e uma bool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49"/>
          <p:cNvSpPr/>
          <p:nvPr/>
        </p:nvSpPr>
        <p:spPr>
          <a:xfrm>
            <a:off x="6891338" y="3798250"/>
            <a:ext cx="4505400" cy="2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95381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ESTRUTURAS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49"/>
          <p:cNvSpPr/>
          <p:nvPr/>
        </p:nvSpPr>
        <p:spPr>
          <a:xfrm>
            <a:off x="7034689" y="4187503"/>
            <a:ext cx="4218600" cy="11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1489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Uma lista com quatro valores numéricos e um dicionário representando um paciente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49"/>
          <p:cNvSpPr/>
          <p:nvPr/>
        </p:nvSpPr>
        <p:spPr>
          <a:xfrm>
            <a:off x="11520433" y="3798250"/>
            <a:ext cx="4505400" cy="2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95381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OPERAÇÕES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49"/>
          <p:cNvSpPr/>
          <p:nvPr/>
        </p:nvSpPr>
        <p:spPr>
          <a:xfrm>
            <a:off x="11663784" y="4187503"/>
            <a:ext cx="4218600" cy="11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1489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Uma operação aritmética, duas comparações e uma combinação com and ou or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p49"/>
          <p:cNvSpPr/>
          <p:nvPr/>
        </p:nvSpPr>
        <p:spPr>
          <a:xfrm>
            <a:off x="4576790" y="5761293"/>
            <a:ext cx="4505400" cy="2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95381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DECISÃO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49"/>
          <p:cNvSpPr/>
          <p:nvPr/>
        </p:nvSpPr>
        <p:spPr>
          <a:xfrm>
            <a:off x="4576790" y="6150546"/>
            <a:ext cx="4505400" cy="4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1489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Uma estrutura if / elif / else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p49"/>
          <p:cNvSpPr/>
          <p:nvPr/>
        </p:nvSpPr>
        <p:spPr>
          <a:xfrm>
            <a:off x="9205885" y="5761293"/>
            <a:ext cx="4505400" cy="2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95381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SAÍDA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4" name="Google Shape;624;p49"/>
          <p:cNvSpPr/>
          <p:nvPr/>
        </p:nvSpPr>
        <p:spPr>
          <a:xfrm>
            <a:off x="9349236" y="6150546"/>
            <a:ext cx="4218600" cy="7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1489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Uma saída final com print() ou f-string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p49"/>
          <p:cNvSpPr/>
          <p:nvPr/>
        </p:nvSpPr>
        <p:spPr>
          <a:xfrm>
            <a:off x="4348578" y="7735000"/>
            <a:ext cx="9590700" cy="11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4056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F1D"/>
                </a:solidFill>
                <a:latin typeface="Arial"/>
                <a:ea typeface="Arial"/>
                <a:cs typeface="Arial"/>
                <a:sym typeface="Arial"/>
              </a:rPr>
              <a:t>Cenário sugerido: um paciente hipotético com idade, peso, temperatura, serviço, internações anteriores e readmissão. Valores fictícios, apenas didáticos.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26" name="Google Shape;626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982370" y="9747836"/>
            <a:ext cx="734129" cy="3543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6FB"/>
        </a:solidFill>
      </p:bgPr>
    </p:bg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p50"/>
          <p:cNvSpPr/>
          <p:nvPr/>
        </p:nvSpPr>
        <p:spPr>
          <a:xfrm>
            <a:off x="3455128" y="2239450"/>
            <a:ext cx="11377500" cy="10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99677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4650"/>
              <a:buFont typeface="Arial"/>
              <a:buNone/>
            </a:pPr>
            <a:r>
              <a:rPr b="1" i="0" lang="en-US" sz="465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Passo a passo da atividade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p50"/>
          <p:cNvSpPr/>
          <p:nvPr/>
        </p:nvSpPr>
        <p:spPr>
          <a:xfrm>
            <a:off x="3828942" y="3633218"/>
            <a:ext cx="3238500" cy="1053000"/>
          </a:xfrm>
          <a:prstGeom prst="roundRect">
            <a:avLst>
              <a:gd fmla="val 19902" name="adj"/>
            </a:avLst>
          </a:prstGeom>
          <a:solidFill>
            <a:srgbClr val="E3EF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50"/>
          <p:cNvSpPr/>
          <p:nvPr/>
        </p:nvSpPr>
        <p:spPr>
          <a:xfrm>
            <a:off x="4028014" y="3823718"/>
            <a:ext cx="2840400" cy="71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7800"/>
              </a:lnSpc>
              <a:spcBef>
                <a:spcPts val="0"/>
              </a:spcBef>
              <a:spcAft>
                <a:spcPts val="0"/>
              </a:spcAft>
              <a:buClr>
                <a:srgbClr val="002D46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02D46"/>
                </a:solidFill>
                <a:latin typeface="Arial"/>
                <a:ea typeface="Arial"/>
                <a:cs typeface="Arial"/>
                <a:sym typeface="Arial"/>
              </a:rPr>
              <a:t>Definir as variáveis básicas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" name="Google Shape;635;p50"/>
          <p:cNvSpPr/>
          <p:nvPr/>
        </p:nvSpPr>
        <p:spPr>
          <a:xfrm>
            <a:off x="7524615" y="3633218"/>
            <a:ext cx="3238500" cy="1053000"/>
          </a:xfrm>
          <a:prstGeom prst="roundRect">
            <a:avLst>
              <a:gd fmla="val 19902" name="adj"/>
            </a:avLst>
          </a:prstGeom>
          <a:solidFill>
            <a:srgbClr val="E3EF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6" name="Google Shape;636;p50"/>
          <p:cNvSpPr/>
          <p:nvPr/>
        </p:nvSpPr>
        <p:spPr>
          <a:xfrm>
            <a:off x="7723687" y="3823718"/>
            <a:ext cx="2840400" cy="71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7800"/>
              </a:lnSpc>
              <a:spcBef>
                <a:spcPts val="0"/>
              </a:spcBef>
              <a:spcAft>
                <a:spcPts val="0"/>
              </a:spcAft>
              <a:buClr>
                <a:srgbClr val="002D46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02D46"/>
                </a:solidFill>
                <a:latin typeface="Arial"/>
                <a:ea typeface="Arial"/>
                <a:cs typeface="Arial"/>
                <a:sym typeface="Arial"/>
              </a:rPr>
              <a:t>Verificar três tipos com type()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p50"/>
          <p:cNvSpPr/>
          <p:nvPr/>
        </p:nvSpPr>
        <p:spPr>
          <a:xfrm>
            <a:off x="11220287" y="3633218"/>
            <a:ext cx="3238500" cy="1053000"/>
          </a:xfrm>
          <a:prstGeom prst="roundRect">
            <a:avLst>
              <a:gd fmla="val 19902" name="adj"/>
            </a:avLst>
          </a:prstGeom>
          <a:solidFill>
            <a:srgbClr val="E3EF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p50"/>
          <p:cNvSpPr/>
          <p:nvPr/>
        </p:nvSpPr>
        <p:spPr>
          <a:xfrm>
            <a:off x="11419360" y="3823718"/>
            <a:ext cx="2840400" cy="71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7800"/>
              </a:lnSpc>
              <a:spcBef>
                <a:spcPts val="0"/>
              </a:spcBef>
              <a:spcAft>
                <a:spcPts val="0"/>
              </a:spcAft>
              <a:buClr>
                <a:srgbClr val="002D46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02D46"/>
                </a:solidFill>
                <a:latin typeface="Arial"/>
                <a:ea typeface="Arial"/>
                <a:cs typeface="Arial"/>
                <a:sym typeface="Arial"/>
              </a:rPr>
              <a:t>Criar a lista e acessar o primeiro elemento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9" name="Google Shape;639;p50"/>
          <p:cNvSpPr/>
          <p:nvPr/>
        </p:nvSpPr>
        <p:spPr>
          <a:xfrm>
            <a:off x="3828942" y="4933706"/>
            <a:ext cx="3238500" cy="1388700"/>
          </a:xfrm>
          <a:prstGeom prst="roundRect">
            <a:avLst>
              <a:gd fmla="val 15088" name="adj"/>
            </a:avLst>
          </a:prstGeom>
          <a:solidFill>
            <a:srgbClr val="E3EF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0" name="Google Shape;640;p50"/>
          <p:cNvSpPr/>
          <p:nvPr/>
        </p:nvSpPr>
        <p:spPr>
          <a:xfrm>
            <a:off x="4028014" y="5124206"/>
            <a:ext cx="2840400" cy="104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7800"/>
              </a:lnSpc>
              <a:spcBef>
                <a:spcPts val="0"/>
              </a:spcBef>
              <a:spcAft>
                <a:spcPts val="0"/>
              </a:spcAft>
              <a:buClr>
                <a:srgbClr val="002D46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02D46"/>
                </a:solidFill>
                <a:latin typeface="Arial"/>
                <a:ea typeface="Arial"/>
                <a:cs typeface="Arial"/>
                <a:sym typeface="Arial"/>
              </a:rPr>
              <a:t>Criar o dicionário paciente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1" name="Google Shape;641;p50"/>
          <p:cNvSpPr/>
          <p:nvPr/>
        </p:nvSpPr>
        <p:spPr>
          <a:xfrm>
            <a:off x="7524615" y="4933706"/>
            <a:ext cx="3238500" cy="1388700"/>
          </a:xfrm>
          <a:prstGeom prst="roundRect">
            <a:avLst>
              <a:gd fmla="val 15088" name="adj"/>
            </a:avLst>
          </a:prstGeom>
          <a:solidFill>
            <a:srgbClr val="E3EF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2" name="Google Shape;642;p50"/>
          <p:cNvSpPr/>
          <p:nvPr/>
        </p:nvSpPr>
        <p:spPr>
          <a:xfrm>
            <a:off x="7723687" y="5124206"/>
            <a:ext cx="2840400" cy="104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7800"/>
              </a:lnSpc>
              <a:spcBef>
                <a:spcPts val="0"/>
              </a:spcBef>
              <a:spcAft>
                <a:spcPts val="0"/>
              </a:spcAft>
              <a:buClr>
                <a:srgbClr val="002D46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02D46"/>
                </a:solidFill>
                <a:latin typeface="Arial"/>
                <a:ea typeface="Arial"/>
                <a:cs typeface="Arial"/>
                <a:sym typeface="Arial"/>
              </a:rPr>
              <a:t>Criar duas condições e combiná-las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3" name="Google Shape;643;p50"/>
          <p:cNvSpPr/>
          <p:nvPr/>
        </p:nvSpPr>
        <p:spPr>
          <a:xfrm>
            <a:off x="11220287" y="4933706"/>
            <a:ext cx="3238500" cy="1388700"/>
          </a:xfrm>
          <a:prstGeom prst="roundRect">
            <a:avLst>
              <a:gd fmla="val 15088" name="adj"/>
            </a:avLst>
          </a:prstGeom>
          <a:solidFill>
            <a:srgbClr val="E3EF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4" name="Google Shape;644;p50"/>
          <p:cNvSpPr/>
          <p:nvPr/>
        </p:nvSpPr>
        <p:spPr>
          <a:xfrm>
            <a:off x="11419360" y="5124206"/>
            <a:ext cx="2840400" cy="104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7800"/>
              </a:lnSpc>
              <a:spcBef>
                <a:spcPts val="0"/>
              </a:spcBef>
              <a:spcAft>
                <a:spcPts val="0"/>
              </a:spcAft>
              <a:buClr>
                <a:srgbClr val="002D46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02D46"/>
                </a:solidFill>
                <a:latin typeface="Arial"/>
                <a:ea typeface="Arial"/>
                <a:cs typeface="Arial"/>
                <a:sym typeface="Arial"/>
              </a:rPr>
              <a:t>Produzir a mensagem com if / elif / else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5" name="Google Shape;645;p50"/>
          <p:cNvSpPr/>
          <p:nvPr/>
        </p:nvSpPr>
        <p:spPr>
          <a:xfrm>
            <a:off x="4348578" y="6934092"/>
            <a:ext cx="9590700" cy="11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4056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F1D"/>
                </a:solidFill>
                <a:latin typeface="Arial"/>
                <a:ea typeface="Arial"/>
                <a:cs typeface="Arial"/>
                <a:sym typeface="Arial"/>
              </a:rPr>
              <a:t>Executar todas as células em ordem e verificar se o notebook pode ser bem compreendido. Alterar nomes, valores e ao menos uma regra.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46" name="Google Shape;646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982370" y="9747836"/>
            <a:ext cx="734129" cy="3543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6FB"/>
        </a:solidFill>
      </p:bgPr>
    </p:bg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51"/>
          <p:cNvSpPr/>
          <p:nvPr/>
        </p:nvSpPr>
        <p:spPr>
          <a:xfrm>
            <a:off x="3524375" y="2752650"/>
            <a:ext cx="11239200" cy="10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99677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4650"/>
              <a:buFont typeface="Arial"/>
              <a:buNone/>
            </a:pPr>
            <a:r>
              <a:rPr b="1" i="0" lang="en-US" sz="465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O que deve ser </a:t>
            </a:r>
            <a:r>
              <a:rPr b="1" lang="en-US" sz="4650">
                <a:solidFill>
                  <a:srgbClr val="201E1D"/>
                </a:solidFill>
              </a:rPr>
              <a:t>obtido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3" name="Google Shape;653;p51"/>
          <p:cNvSpPr/>
          <p:nvPr/>
        </p:nvSpPr>
        <p:spPr>
          <a:xfrm>
            <a:off x="2400462" y="3968705"/>
            <a:ext cx="4343346" cy="1621144"/>
          </a:xfrm>
          <a:prstGeom prst="roundRect">
            <a:avLst>
              <a:gd fmla="val 1175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bl" dir="5400000" dist="9525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4" name="Google Shape;654;p51"/>
          <p:cNvSpPr/>
          <p:nvPr/>
        </p:nvSpPr>
        <p:spPr>
          <a:xfrm>
            <a:off x="2705154" y="4252696"/>
            <a:ext cx="318113" cy="39244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5" name="Google Shape;655;p51"/>
          <p:cNvSpPr/>
          <p:nvPr/>
        </p:nvSpPr>
        <p:spPr>
          <a:xfrm>
            <a:off x="3137567" y="4235378"/>
            <a:ext cx="3400595" cy="76329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356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O notebook com o código executável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6" name="Google Shape;656;p51"/>
          <p:cNvSpPr/>
          <p:nvPr/>
        </p:nvSpPr>
        <p:spPr>
          <a:xfrm>
            <a:off x="6972327" y="3968705"/>
            <a:ext cx="4343346" cy="1621144"/>
          </a:xfrm>
          <a:prstGeom prst="roundRect">
            <a:avLst>
              <a:gd fmla="val 1175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bl" dir="5400000" dist="9525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7" name="Google Shape;657;p51"/>
          <p:cNvSpPr/>
          <p:nvPr/>
        </p:nvSpPr>
        <p:spPr>
          <a:xfrm>
            <a:off x="7277019" y="4252696"/>
            <a:ext cx="318113" cy="39244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8" name="Google Shape;658;p51"/>
          <p:cNvSpPr/>
          <p:nvPr/>
        </p:nvSpPr>
        <p:spPr>
          <a:xfrm>
            <a:off x="7709432" y="4235378"/>
            <a:ext cx="3400595" cy="112589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356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Uma célula de texto descrevendo o registro criado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9" name="Google Shape;659;p51"/>
          <p:cNvSpPr/>
          <p:nvPr/>
        </p:nvSpPr>
        <p:spPr>
          <a:xfrm>
            <a:off x="11544192" y="3968705"/>
            <a:ext cx="4343346" cy="1621144"/>
          </a:xfrm>
          <a:prstGeom prst="roundRect">
            <a:avLst>
              <a:gd fmla="val 1175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bl" dir="5400000" dist="9525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p51"/>
          <p:cNvSpPr/>
          <p:nvPr/>
        </p:nvSpPr>
        <p:spPr>
          <a:xfrm>
            <a:off x="11848883" y="4252696"/>
            <a:ext cx="318113" cy="39244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1" name="Google Shape;661;p51"/>
          <p:cNvSpPr/>
          <p:nvPr/>
        </p:nvSpPr>
        <p:spPr>
          <a:xfrm>
            <a:off x="12281297" y="4235378"/>
            <a:ext cx="3400595" cy="76329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356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Os resultados das inspeções com type()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2" name="Google Shape;662;p51"/>
          <p:cNvSpPr/>
          <p:nvPr/>
        </p:nvSpPr>
        <p:spPr>
          <a:xfrm>
            <a:off x="4686327" y="5818368"/>
            <a:ext cx="4343346" cy="1258545"/>
          </a:xfrm>
          <a:prstGeom prst="roundRect">
            <a:avLst>
              <a:gd fmla="val 151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bl" dir="5400000" dist="9525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51"/>
          <p:cNvSpPr/>
          <p:nvPr/>
        </p:nvSpPr>
        <p:spPr>
          <a:xfrm>
            <a:off x="4991019" y="6102359"/>
            <a:ext cx="318113" cy="39244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4" name="Google Shape;664;p51"/>
          <p:cNvSpPr/>
          <p:nvPr/>
        </p:nvSpPr>
        <p:spPr>
          <a:xfrm>
            <a:off x="5423432" y="6085041"/>
            <a:ext cx="3400595" cy="76329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356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A estrutura condicional funcionando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5" name="Google Shape;665;p51"/>
          <p:cNvSpPr/>
          <p:nvPr/>
        </p:nvSpPr>
        <p:spPr>
          <a:xfrm>
            <a:off x="9258191" y="5818368"/>
            <a:ext cx="4343346" cy="1258545"/>
          </a:xfrm>
          <a:prstGeom prst="roundRect">
            <a:avLst>
              <a:gd fmla="val 151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bl" dir="5400000" dist="9525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6" name="Google Shape;666;p51"/>
          <p:cNvSpPr/>
          <p:nvPr/>
        </p:nvSpPr>
        <p:spPr>
          <a:xfrm>
            <a:off x="9562883" y="6102359"/>
            <a:ext cx="318113" cy="39244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7" name="Google Shape;667;p51"/>
          <p:cNvSpPr/>
          <p:nvPr/>
        </p:nvSpPr>
        <p:spPr>
          <a:xfrm>
            <a:off x="9995297" y="6085041"/>
            <a:ext cx="3400595" cy="76329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356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Uma frase explicando o que a condição verifica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68" name="Google Shape;668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982370" y="9747836"/>
            <a:ext cx="734129" cy="3543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6FB"/>
        </a:solidFill>
      </p:bgPr>
    </p:bg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52"/>
          <p:cNvSpPr/>
          <p:nvPr/>
        </p:nvSpPr>
        <p:spPr>
          <a:xfrm>
            <a:off x="720625" y="2941375"/>
            <a:ext cx="16846800" cy="10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99677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4650"/>
              <a:buFont typeface="Arial"/>
              <a:buNone/>
            </a:pPr>
            <a:r>
              <a:rPr b="1" i="0" lang="en-US" sz="465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Como isso volta nas próximas aulas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5" name="Google Shape;675;p52"/>
          <p:cNvSpPr/>
          <p:nvPr/>
        </p:nvSpPr>
        <p:spPr>
          <a:xfrm>
            <a:off x="2656521" y="4157446"/>
            <a:ext cx="6517034" cy="2940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95381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AULA 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6" name="Google Shape;676;p52"/>
          <p:cNvSpPr/>
          <p:nvPr/>
        </p:nvSpPr>
        <p:spPr>
          <a:xfrm>
            <a:off x="2863881" y="4546699"/>
            <a:ext cx="6102314" cy="79522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1489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A mesma lógica aplicada a vários valores, com laços de repetição e funções.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7" name="Google Shape;677;p52"/>
          <p:cNvSpPr/>
          <p:nvPr/>
        </p:nvSpPr>
        <p:spPr>
          <a:xfrm>
            <a:off x="9114444" y="4157446"/>
            <a:ext cx="6517034" cy="2940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95381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AULA 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8" name="Google Shape;678;p52"/>
          <p:cNvSpPr/>
          <p:nvPr/>
        </p:nvSpPr>
        <p:spPr>
          <a:xfrm>
            <a:off x="9321804" y="4546699"/>
            <a:ext cx="6102314" cy="79522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1489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O dicionário de hoje vira tabela: leitura de CSV e Excel com pandas.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9" name="Google Shape;679;p52"/>
          <p:cNvSpPr/>
          <p:nvPr/>
        </p:nvSpPr>
        <p:spPr>
          <a:xfrm>
            <a:off x="2656521" y="5741924"/>
            <a:ext cx="6517034" cy="2940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95381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AULAS 5 E 6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0" name="Google Shape;680;p52"/>
          <p:cNvSpPr/>
          <p:nvPr/>
        </p:nvSpPr>
        <p:spPr>
          <a:xfrm>
            <a:off x="2863881" y="6131178"/>
            <a:ext cx="6102314" cy="79522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1489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Limpeza, padronização, variáveis derivadas e operações vetorizadas.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1" name="Google Shape;681;p52"/>
          <p:cNvSpPr/>
          <p:nvPr/>
        </p:nvSpPr>
        <p:spPr>
          <a:xfrm>
            <a:off x="9114444" y="5741924"/>
            <a:ext cx="6517034" cy="2940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95381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AULA 7 EM DIANTE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2" name="Google Shape;682;p52"/>
          <p:cNvSpPr/>
          <p:nvPr/>
        </p:nvSpPr>
        <p:spPr>
          <a:xfrm>
            <a:off x="9321804" y="6131178"/>
            <a:ext cx="6102314" cy="79522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1489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Exploração, visualização, estatística e métricas dependem dessa representação.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83" name="Google Shape;683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982370" y="9747836"/>
            <a:ext cx="734129" cy="3543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6FB"/>
        </a:solidFill>
      </p:bgPr>
    </p:bg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p53"/>
          <p:cNvSpPr/>
          <p:nvPr/>
        </p:nvSpPr>
        <p:spPr>
          <a:xfrm>
            <a:off x="7199688" y="1646580"/>
            <a:ext cx="3888624" cy="10636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99677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4650"/>
              <a:buFont typeface="Arial"/>
              <a:buNone/>
            </a:pPr>
            <a:r>
              <a:rPr b="1" i="0" lang="en-US" sz="465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Para encerrar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0" name="Google Shape;690;p53"/>
          <p:cNvSpPr/>
          <p:nvPr/>
        </p:nvSpPr>
        <p:spPr>
          <a:xfrm>
            <a:off x="2400462" y="2862641"/>
            <a:ext cx="4343346" cy="1621144"/>
          </a:xfrm>
          <a:prstGeom prst="roundRect">
            <a:avLst>
              <a:gd fmla="val 1175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bl" dir="5400000" dist="9525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1" name="Google Shape;691;p53"/>
          <p:cNvSpPr/>
          <p:nvPr/>
        </p:nvSpPr>
        <p:spPr>
          <a:xfrm>
            <a:off x="2705154" y="3146632"/>
            <a:ext cx="318113" cy="39244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2" name="Google Shape;692;p53"/>
          <p:cNvSpPr/>
          <p:nvPr/>
        </p:nvSpPr>
        <p:spPr>
          <a:xfrm>
            <a:off x="3137567" y="3129314"/>
            <a:ext cx="3400595" cy="112589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356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Programar começa por representar informações de forma explícita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3" name="Google Shape;693;p53"/>
          <p:cNvSpPr/>
          <p:nvPr/>
        </p:nvSpPr>
        <p:spPr>
          <a:xfrm>
            <a:off x="6972327" y="2862641"/>
            <a:ext cx="4343346" cy="1621144"/>
          </a:xfrm>
          <a:prstGeom prst="roundRect">
            <a:avLst>
              <a:gd fmla="val 1175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bl" dir="5400000" dist="9525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4" name="Google Shape;694;p53"/>
          <p:cNvSpPr/>
          <p:nvPr/>
        </p:nvSpPr>
        <p:spPr>
          <a:xfrm>
            <a:off x="7277019" y="3146632"/>
            <a:ext cx="318113" cy="39244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5" name="Google Shape;695;p53"/>
          <p:cNvSpPr/>
          <p:nvPr/>
        </p:nvSpPr>
        <p:spPr>
          <a:xfrm>
            <a:off x="7709432" y="3129314"/>
            <a:ext cx="3400595" cy="76329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356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Variáveis associam nomes a valores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6" name="Google Shape;696;p53"/>
          <p:cNvSpPr/>
          <p:nvPr/>
        </p:nvSpPr>
        <p:spPr>
          <a:xfrm>
            <a:off x="11544192" y="2862641"/>
            <a:ext cx="4343346" cy="1621144"/>
          </a:xfrm>
          <a:prstGeom prst="roundRect">
            <a:avLst>
              <a:gd fmla="val 1175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bl" dir="5400000" dist="9525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7" name="Google Shape;697;p53"/>
          <p:cNvSpPr/>
          <p:nvPr/>
        </p:nvSpPr>
        <p:spPr>
          <a:xfrm>
            <a:off x="11848883" y="3146632"/>
            <a:ext cx="318113" cy="39244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8" name="Google Shape;698;p53"/>
          <p:cNvSpPr/>
          <p:nvPr/>
        </p:nvSpPr>
        <p:spPr>
          <a:xfrm>
            <a:off x="12281297" y="3129314"/>
            <a:ext cx="3400595" cy="112589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356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O tipo do dado determina como o Python o interpreta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9" name="Google Shape;699;p53"/>
          <p:cNvSpPr/>
          <p:nvPr/>
        </p:nvSpPr>
        <p:spPr>
          <a:xfrm>
            <a:off x="2400462" y="4712304"/>
            <a:ext cx="4343346" cy="1621144"/>
          </a:xfrm>
          <a:prstGeom prst="roundRect">
            <a:avLst>
              <a:gd fmla="val 1175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bl" dir="5400000" dist="9525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0" name="Google Shape;700;p53"/>
          <p:cNvSpPr/>
          <p:nvPr/>
        </p:nvSpPr>
        <p:spPr>
          <a:xfrm>
            <a:off x="2705154" y="4996295"/>
            <a:ext cx="318113" cy="39244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1" name="Google Shape;701;p53"/>
          <p:cNvSpPr/>
          <p:nvPr/>
        </p:nvSpPr>
        <p:spPr>
          <a:xfrm>
            <a:off x="3137567" y="4978977"/>
            <a:ext cx="3400595" cy="76329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356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Operadores transformam e comparam informações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2" name="Google Shape;702;p53"/>
          <p:cNvSpPr/>
          <p:nvPr/>
        </p:nvSpPr>
        <p:spPr>
          <a:xfrm>
            <a:off x="6972327" y="4712304"/>
            <a:ext cx="4343346" cy="1621144"/>
          </a:xfrm>
          <a:prstGeom prst="roundRect">
            <a:avLst>
              <a:gd fmla="val 1175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bl" dir="5400000" dist="9525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53"/>
          <p:cNvSpPr/>
          <p:nvPr/>
        </p:nvSpPr>
        <p:spPr>
          <a:xfrm>
            <a:off x="7277019" y="4996295"/>
            <a:ext cx="318113" cy="39244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4" name="Google Shape;704;p53"/>
          <p:cNvSpPr/>
          <p:nvPr/>
        </p:nvSpPr>
        <p:spPr>
          <a:xfrm>
            <a:off x="7709432" y="4978977"/>
            <a:ext cx="3400595" cy="112589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356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Listas agrupam valores; dicionários organizam atributos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5" name="Google Shape;705;p53"/>
          <p:cNvSpPr/>
          <p:nvPr/>
        </p:nvSpPr>
        <p:spPr>
          <a:xfrm>
            <a:off x="11544192" y="4712304"/>
            <a:ext cx="4343346" cy="1621144"/>
          </a:xfrm>
          <a:prstGeom prst="roundRect">
            <a:avLst>
              <a:gd fmla="val 1175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bl" dir="5400000" dist="9525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6" name="Google Shape;706;p53"/>
          <p:cNvSpPr/>
          <p:nvPr/>
        </p:nvSpPr>
        <p:spPr>
          <a:xfrm>
            <a:off x="11848883" y="4996295"/>
            <a:ext cx="318113" cy="39244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7" name="Google Shape;707;p53"/>
          <p:cNvSpPr/>
          <p:nvPr/>
        </p:nvSpPr>
        <p:spPr>
          <a:xfrm>
            <a:off x="12281297" y="4978977"/>
            <a:ext cx="3400595" cy="76329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356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Condicionais fazem o fluxo depender dos dados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8" name="Google Shape;708;p53"/>
          <p:cNvSpPr/>
          <p:nvPr/>
        </p:nvSpPr>
        <p:spPr>
          <a:xfrm>
            <a:off x="6972327" y="6561967"/>
            <a:ext cx="4343346" cy="1621144"/>
          </a:xfrm>
          <a:prstGeom prst="roundRect">
            <a:avLst>
              <a:gd fmla="val 1175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bl" dir="5400000" dist="9525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9" name="Google Shape;709;p53"/>
          <p:cNvSpPr/>
          <p:nvPr/>
        </p:nvSpPr>
        <p:spPr>
          <a:xfrm>
            <a:off x="7277019" y="6845958"/>
            <a:ext cx="318113" cy="39244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0" name="Google Shape;710;p53"/>
          <p:cNvSpPr/>
          <p:nvPr/>
        </p:nvSpPr>
        <p:spPr>
          <a:xfrm>
            <a:off x="7709432" y="6828640"/>
            <a:ext cx="3400595" cy="112589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356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Uma regra programada à mão não é um modelo de IA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11" name="Google Shape;711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982370" y="9747836"/>
            <a:ext cx="734129" cy="3543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2D46"/>
        </a:solidFill>
      </p:bgPr>
    </p:bg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54"/>
          <p:cNvSpPr/>
          <p:nvPr/>
        </p:nvSpPr>
        <p:spPr>
          <a:xfrm>
            <a:off x="7941766" y="1664845"/>
            <a:ext cx="2404467" cy="39244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8ABDD4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8ABDD4"/>
                </a:solidFill>
                <a:latin typeface="Arial"/>
                <a:ea typeface="Arial"/>
                <a:cs typeface="Arial"/>
                <a:sym typeface="Arial"/>
              </a:rPr>
              <a:t>PRÓXIMA AULA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8" name="Google Shape;718;p54"/>
          <p:cNvSpPr/>
          <p:nvPr/>
        </p:nvSpPr>
        <p:spPr>
          <a:xfrm>
            <a:off x="2264569" y="2304806"/>
            <a:ext cx="13758862" cy="110790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936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00"/>
              <a:buFont typeface="Arial"/>
              <a:buNone/>
            </a:pPr>
            <a:r>
              <a:rPr b="1" i="0" lang="en-US" sz="7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Aula 3: repetições e funções</a:t>
            </a:r>
            <a:endParaRPr b="0" i="0" sz="7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9" name="Google Shape;719;p54"/>
          <p:cNvSpPr/>
          <p:nvPr/>
        </p:nvSpPr>
        <p:spPr>
          <a:xfrm>
            <a:off x="8686827" y="3584052"/>
            <a:ext cx="914346" cy="28548"/>
          </a:xfrm>
          <a:prstGeom prst="rect">
            <a:avLst/>
          </a:prstGeom>
          <a:solidFill>
            <a:srgbClr val="0088B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0" name="Google Shape;720;p54"/>
          <p:cNvSpPr/>
          <p:nvPr/>
        </p:nvSpPr>
        <p:spPr>
          <a:xfrm>
            <a:off x="4422700" y="4552600"/>
            <a:ext cx="9442500" cy="48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32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r>
              <a:rPr i="0" lang="en-US" sz="30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“Hoje aprendemos a representar um registro e a tomar decisões simples sobre ele com Python. Na próxima aula, vamos deixar de escrever instruções apenas para um caso isolado e aprender como fazer o computador repetir operações, organizar a lógica em funções e construir códigos que possam ser reutilizados em uma análise de dados.”</a:t>
            </a:r>
            <a:endParaRPr i="0" sz="3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